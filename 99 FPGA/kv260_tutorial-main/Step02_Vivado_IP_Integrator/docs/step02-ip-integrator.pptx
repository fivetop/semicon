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8" d="100"/>
          <a:sy n="148" d="100"/>
        </p:scale>
        <p:origin x="120" y="1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0F4F21ED-CD12-1BC3-E9FC-7090A159788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7062B85-C588-96ED-7018-DBE3857F758C}"/>
              </a:ext>
            </a:extLst>
          </p:cNvPr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rotWithShape="1">
            <a:gsLst>
              <a:gs pos="0">
                <a:srgbClr val="001A40"/>
              </a:gs>
              <a:gs pos="100000">
                <a:srgbClr val="003366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45088" y="1249250"/>
            <a:ext cx="66970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dirty="0" err="1"/>
              <a:t>Vivado</a:t>
            </a:r>
            <a:r>
              <a:rPr dirty="0"/>
              <a:t> IP Integrator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258" y="3821720"/>
            <a:ext cx="6091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AACCEE"/>
                </a:solidFill>
              </a:defRPr>
            </a:pPr>
            <a:r>
              <a:rPr dirty="0"/>
              <a:t>PS-PL </a:t>
            </a:r>
            <a:r>
              <a:rPr dirty="0" err="1"/>
              <a:t>인터페이스와</a:t>
            </a:r>
            <a:r>
              <a:rPr dirty="0"/>
              <a:t> </a:t>
            </a:r>
            <a:r>
              <a:rPr dirty="0" err="1"/>
              <a:t>블록</a:t>
            </a:r>
            <a:r>
              <a:rPr dirty="0"/>
              <a:t> </a:t>
            </a:r>
            <a:r>
              <a:rPr dirty="0" err="1"/>
              <a:t>자동화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36F6B-A090-9516-A601-F9817D6E87FA}"/>
              </a:ext>
            </a:extLst>
          </p:cNvPr>
          <p:cNvSpPr txBox="1"/>
          <p:nvPr/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dirty="0">
                <a:solidFill>
                  <a:srgbClr val="5588BB"/>
                </a:solidFill>
                <a:latin typeface="Calibri"/>
              </a:rPr>
              <a:t>KV260 FPGA Training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E191348-6057-392B-CE24-E3515808694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020E968-7D4D-2104-9FB7-20BA1021A2F3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C46DA-C53A-E39B-5289-80FA26D6DD99}"/>
              </a:ext>
            </a:extLst>
          </p:cNvPr>
          <p:cNvSpPr txBox="1"/>
          <p:nvPr/>
        </p:nvSpPr>
        <p:spPr>
          <a:xfrm>
            <a:off x="457200" y="228600"/>
            <a:ext cx="11277295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E587C-2892-0A43-1613-3D119DA91DEB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F2B77248-6C92-FC36-CE6E-8E5E2EB24B27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8653C-FCAA-747A-20ED-7FC4D8BCD43A}"/>
              </a:ext>
            </a:extLst>
          </p:cNvPr>
          <p:cNvSpPr txBox="1"/>
          <p:nvPr/>
        </p:nvSpPr>
        <p:spPr>
          <a:xfrm>
            <a:off x="457200" y="6492240"/>
            <a:ext cx="36022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2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 err="1">
                <a:solidFill>
                  <a:srgbClr val="666666"/>
                </a:solidFill>
                <a:latin typeface="Calibri"/>
              </a:rPr>
              <a:t>vivado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IP Integrator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PS/PL 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인터페이스와 블록 자동화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211BA2-AF0A-F566-4278-4D7CA9E5D975}"/>
              </a:ext>
            </a:extLst>
          </p:cNvPr>
          <p:cNvSpPr txBox="1"/>
          <p:nvPr/>
        </p:nvSpPr>
        <p:spPr>
          <a:xfrm>
            <a:off x="457200" y="1473663"/>
            <a:ext cx="11277295" cy="2377119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800" b="0" dirty="0" err="1">
                <a:solidFill>
                  <a:srgbClr val="000000"/>
                </a:solidFill>
                <a:latin typeface="Calibri"/>
              </a:rPr>
              <a:t>Vivado</a:t>
            </a:r>
            <a:r>
              <a:rPr lang="en-US" sz="1800" b="0" dirty="0">
                <a:solidFill>
                  <a:srgbClr val="000000"/>
                </a:solidFill>
                <a:latin typeface="Calibri"/>
              </a:rPr>
              <a:t> IP </a:t>
            </a:r>
            <a:r>
              <a:rPr lang="en-US" dirty="0">
                <a:solidFill>
                  <a:srgbClr val="000000"/>
                </a:solidFill>
                <a:latin typeface="Calibri"/>
              </a:rPr>
              <a:t>Integrator</a:t>
            </a:r>
            <a:r>
              <a:rPr lang="ko-KR" altLang="en-US" dirty="0">
                <a:solidFill>
                  <a:srgbClr val="000000"/>
                </a:solidFill>
                <a:latin typeface="Calibri"/>
              </a:rPr>
              <a:t>의 기본 사용법 습득</a:t>
            </a:r>
            <a:endParaRPr lang="en-US" sz="1800" b="0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PS-PL</a:t>
            </a:r>
            <a:r>
              <a:rPr lang="ko-KR" altLang="en-US" dirty="0">
                <a:solidFill>
                  <a:srgbClr val="000000"/>
                </a:solidFill>
              </a:rPr>
              <a:t> 인터페이스 이해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블록 자동화</a:t>
            </a:r>
            <a:r>
              <a:rPr lang="en-US" altLang="ko-KR" dirty="0">
                <a:solidFill>
                  <a:srgbClr val="000000"/>
                </a:solidFill>
              </a:rPr>
              <a:t>(Block Automation) </a:t>
            </a:r>
            <a:r>
              <a:rPr lang="ko-KR" altLang="en-US" dirty="0">
                <a:solidFill>
                  <a:srgbClr val="000000"/>
                </a:solidFill>
              </a:rPr>
              <a:t>활용</a:t>
            </a:r>
            <a:endParaRPr lang="en-US" altLang="ko-KR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플랫폼 </a:t>
            </a:r>
            <a:r>
              <a:rPr lang="ko-KR" altLang="en-US" dirty="0" err="1">
                <a:solidFill>
                  <a:srgbClr val="000000"/>
                </a:solidFill>
              </a:rPr>
              <a:t>익스포트</a:t>
            </a:r>
            <a:r>
              <a:rPr lang="en-US" altLang="ko-KR" dirty="0">
                <a:solidFill>
                  <a:srgbClr val="000000"/>
                </a:solidFill>
              </a:rPr>
              <a:t>(XSA) </a:t>
            </a:r>
            <a:r>
              <a:rPr lang="ko-KR" altLang="en-US" dirty="0">
                <a:solidFill>
                  <a:srgbClr val="000000"/>
                </a:solidFill>
              </a:rPr>
              <a:t>이해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r>
              <a:rPr lang="ko-KR" altLang="en-US" dirty="0">
                <a:solidFill>
                  <a:srgbClr val="000000"/>
                </a:solidFill>
              </a:rPr>
              <a:t>난이도</a:t>
            </a:r>
            <a:r>
              <a:rPr lang="en-US" altLang="ko-KR" dirty="0">
                <a:solidFill>
                  <a:srgbClr val="000000"/>
                </a:solidFill>
              </a:rPr>
              <a:t>: ★★☆☆☆ (</a:t>
            </a:r>
            <a:r>
              <a:rPr lang="ko-KR" altLang="en-US" dirty="0">
                <a:solidFill>
                  <a:srgbClr val="000000"/>
                </a:solidFill>
              </a:rPr>
              <a:t>입문</a:t>
            </a:r>
            <a:r>
              <a:rPr lang="en-US" altLang="ko-KR" dirty="0">
                <a:solidFill>
                  <a:srgbClr val="000000"/>
                </a:solidFill>
              </a:rPr>
              <a:t>) | </a:t>
            </a:r>
            <a:r>
              <a:rPr lang="ko-KR" altLang="en-US" b="1" dirty="0">
                <a:solidFill>
                  <a:srgbClr val="003366"/>
                </a:solidFill>
              </a:rPr>
              <a:t>소요 시간</a:t>
            </a:r>
            <a:r>
              <a:rPr lang="en-US" altLang="ko-KR" dirty="0">
                <a:solidFill>
                  <a:srgbClr val="000000"/>
                </a:solidFill>
              </a:rPr>
              <a:t>: </a:t>
            </a:r>
            <a:r>
              <a:rPr lang="ko-KR" altLang="en-US" dirty="0">
                <a:solidFill>
                  <a:srgbClr val="000000"/>
                </a:solidFill>
              </a:rPr>
              <a:t>약 </a:t>
            </a:r>
            <a:r>
              <a:rPr lang="en-US" altLang="ko-KR" dirty="0">
                <a:solidFill>
                  <a:srgbClr val="000000"/>
                </a:solidFill>
              </a:rPr>
              <a:t>3~4</a:t>
            </a:r>
            <a:r>
              <a:rPr lang="ko-KR" altLang="en-US" dirty="0">
                <a:solidFill>
                  <a:srgbClr val="000000"/>
                </a:solidFill>
              </a:rPr>
              <a:t>시간</a:t>
            </a:r>
            <a:endParaRPr lang="en-US" altLang="ko-KR"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</a:pP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0232A6F7-AEFA-EA61-5107-39EAB43B1AD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41FC7CA-099C-B688-B1FD-5A8D22DE8381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ABDC68-1095-B36C-2EA9-6F2F7623E331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Vivado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ko-KR" altLang="en-US" sz="2800" b="1" dirty="0">
                <a:solidFill>
                  <a:srgbClr val="FFFFFF"/>
                </a:solidFill>
                <a:latin typeface="Calibri"/>
              </a:rPr>
              <a:t>프로젝트 생성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1459D0-A77A-EC52-429C-4735DE90DABA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7370BE-2861-40E6-F2E1-151CCF997A7B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51AF94-8464-0F6C-1CF3-31FD559D792D}"/>
              </a:ext>
            </a:extLst>
          </p:cNvPr>
          <p:cNvSpPr txBox="1"/>
          <p:nvPr/>
        </p:nvSpPr>
        <p:spPr>
          <a:xfrm>
            <a:off x="457200" y="6492240"/>
            <a:ext cx="36022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2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 err="1">
                <a:solidFill>
                  <a:srgbClr val="666666"/>
                </a:solidFill>
                <a:latin typeface="Calibri"/>
              </a:rPr>
              <a:t>vivado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IP Integrator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PS/PL 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인터페이스와 블록 자동화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A745C2-A043-B7C1-623F-978BDF1B538C}"/>
              </a:ext>
            </a:extLst>
          </p:cNvPr>
          <p:cNvSpPr txBox="1"/>
          <p:nvPr/>
        </p:nvSpPr>
        <p:spPr>
          <a:xfrm>
            <a:off x="457200" y="1473663"/>
            <a:ext cx="11277295" cy="555797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sz="1800" b="0" dirty="0" err="1">
                <a:solidFill>
                  <a:srgbClr val="000000"/>
                </a:solidFill>
                <a:latin typeface="Calibri"/>
              </a:rPr>
              <a:t>Vivado</a:t>
            </a:r>
            <a:r>
              <a:rPr lang="ko-KR" altLang="en-US" sz="1800" b="0" dirty="0">
                <a:solidFill>
                  <a:srgbClr val="000000"/>
                </a:solidFill>
                <a:latin typeface="Calibri"/>
              </a:rPr>
              <a:t>에서는 두 가지 유형의 프로젝트를 생성할 수 있다</a:t>
            </a:r>
            <a:r>
              <a:rPr lang="en-US" altLang="ko-KR" sz="1800" b="0" dirty="0">
                <a:solidFill>
                  <a:srgbClr val="000000"/>
                </a:solidFill>
                <a:latin typeface="Calibri"/>
              </a:rPr>
              <a:t>.</a:t>
            </a: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C701D437-7773-BF15-3A96-CB59785CA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342548"/>
              </p:ext>
            </p:extLst>
          </p:nvPr>
        </p:nvGraphicFramePr>
        <p:xfrm>
          <a:off x="995251" y="2029460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237461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83835005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4417244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916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RTL Project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PL</a:t>
                      </a:r>
                      <a:r>
                        <a:rPr lang="ko-KR" altLang="en-US" sz="1600" dirty="0"/>
                        <a:t>만 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FPGA Design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1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Embedded Project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PS + PL </a:t>
                      </a:r>
                      <a:r>
                        <a:rPr lang="ko-KR" altLang="en-US" sz="1600" dirty="0"/>
                        <a:t>설계</a:t>
                      </a:r>
                      <a:endParaRPr lang="en-US" altLang="ko-K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Zynq </a:t>
                      </a:r>
                      <a:r>
                        <a:rPr lang="ko-KR" altLang="en-US" sz="1600" dirty="0"/>
                        <a:t>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7175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9D710911-E655-B115-6BF0-9A344E8EFAC4}"/>
              </a:ext>
            </a:extLst>
          </p:cNvPr>
          <p:cNvSpPr txBox="1"/>
          <p:nvPr/>
        </p:nvSpPr>
        <p:spPr>
          <a:xfrm>
            <a:off x="457200" y="3306756"/>
            <a:ext cx="11277295" cy="555797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altLang="ko-KR" sz="1800" b="0" dirty="0" err="1">
                <a:solidFill>
                  <a:srgbClr val="000000"/>
                </a:solidFill>
                <a:latin typeface="Calibri"/>
              </a:rPr>
              <a:t>Vivado</a:t>
            </a:r>
            <a:r>
              <a:rPr lang="en-US" altLang="ko-KR" sz="1800" b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800" b="0" dirty="0">
                <a:solidFill>
                  <a:srgbClr val="000000"/>
                </a:solidFill>
                <a:latin typeface="Calibri"/>
              </a:rPr>
              <a:t>프로젝트 생성</a:t>
            </a:r>
            <a:endParaRPr sz="18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Rounded Rectangle 11">
            <a:extLst>
              <a:ext uri="{FF2B5EF4-FFF2-40B4-BE49-F238E27FC236}">
                <a16:creationId xmlns:a16="http://schemas.microsoft.com/office/drawing/2014/main" id="{2D53A735-90E3-83FD-66B6-0AB64D7D0525}"/>
              </a:ext>
            </a:extLst>
          </p:cNvPr>
          <p:cNvSpPr/>
          <p:nvPr/>
        </p:nvSpPr>
        <p:spPr>
          <a:xfrm>
            <a:off x="457200" y="3808818"/>
            <a:ext cx="11277295" cy="812229"/>
          </a:xfrm>
          <a:prstGeom prst="roundRect">
            <a:avLst>
              <a:gd name="adj" fmla="val 2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BE2CE8-DCE0-7990-C05E-677B22F4964E}"/>
              </a:ext>
            </a:extLst>
          </p:cNvPr>
          <p:cNvSpPr txBox="1"/>
          <p:nvPr/>
        </p:nvSpPr>
        <p:spPr>
          <a:xfrm>
            <a:off x="640080" y="3945979"/>
            <a:ext cx="10911535" cy="586984"/>
          </a:xfrm>
          <a:prstGeom prst="rect">
            <a:avLst/>
          </a:prstGeom>
          <a:noFill/>
        </p:spPr>
        <p:txBody>
          <a:bodyPr wrap="none"/>
          <a:lstStyle/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0" dirty="0">
                <a:solidFill>
                  <a:srgbClr val="D4D4D4"/>
                </a:solidFill>
                <a:latin typeface="Courier New"/>
              </a:rPr>
              <a:t>&gt;&gt; source /tools/Xilinx/Vivado/2021.2/settings64.sh</a:t>
            </a:r>
          </a:p>
          <a:p>
            <a:pPr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D4D4D4"/>
                </a:solidFill>
                <a:latin typeface="Courier New"/>
              </a:rPr>
              <a:t>&gt;&gt; </a:t>
            </a:r>
            <a:r>
              <a:rPr lang="en-US" sz="1200" dirty="0" err="1">
                <a:solidFill>
                  <a:srgbClr val="D4D4D4"/>
                </a:solidFill>
                <a:latin typeface="Courier New"/>
              </a:rPr>
              <a:t>vivado</a:t>
            </a:r>
            <a:r>
              <a:rPr lang="en-US" sz="1200" dirty="0">
                <a:solidFill>
                  <a:srgbClr val="D4D4D4"/>
                </a:solidFill>
                <a:latin typeface="Courier New"/>
              </a:rPr>
              <a:t> &amp;</a:t>
            </a:r>
            <a:endParaRPr sz="1200" b="0" dirty="0">
              <a:solidFill>
                <a:srgbClr val="D4D4D4"/>
              </a:solidFill>
              <a:latin typeface="Courier New"/>
            </a:endParaRPr>
          </a:p>
        </p:txBody>
      </p:sp>
      <p:sp>
        <p:nvSpPr>
          <p:cNvPr id="27" name="Rounded Rectangle 12">
            <a:extLst>
              <a:ext uri="{FF2B5EF4-FFF2-40B4-BE49-F238E27FC236}">
                <a16:creationId xmlns:a16="http://schemas.microsoft.com/office/drawing/2014/main" id="{876898B6-4D33-C48D-3A8F-4FF762717CF5}"/>
              </a:ext>
            </a:extLst>
          </p:cNvPr>
          <p:cNvSpPr/>
          <p:nvPr/>
        </p:nvSpPr>
        <p:spPr>
          <a:xfrm>
            <a:off x="10682935" y="3881970"/>
            <a:ext cx="914400" cy="148930"/>
          </a:xfrm>
          <a:prstGeom prst="roundRect">
            <a:avLst>
              <a:gd name="adj" fmla="val 15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900" b="0" dirty="0">
                <a:solidFill>
                  <a:srgbClr val="888888"/>
                </a:solidFill>
                <a:latin typeface="Calibri"/>
              </a:rPr>
              <a:t>shell</a:t>
            </a:r>
            <a:endParaRPr sz="900" b="0" dirty="0">
              <a:solidFill>
                <a:srgbClr val="888888"/>
              </a:solidFill>
              <a:latin typeface="Calibri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84A919-0EBB-ACAC-2893-BECFADD1F007}"/>
              </a:ext>
            </a:extLst>
          </p:cNvPr>
          <p:cNvSpPr txBox="1"/>
          <p:nvPr/>
        </p:nvSpPr>
        <p:spPr>
          <a:xfrm>
            <a:off x="457200" y="4685056"/>
            <a:ext cx="11277295" cy="1048690"/>
          </a:xfrm>
          <a:prstGeom prst="rect">
            <a:avLst/>
          </a:prstGeom>
          <a:noFill/>
        </p:spPr>
        <p:txBody>
          <a:bodyPr wrap="square"/>
          <a:lstStyle/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en-US" altLang="ko-KR" sz="1600" b="0" dirty="0">
                <a:solidFill>
                  <a:srgbClr val="000000"/>
                </a:solidFill>
                <a:latin typeface="Calibri"/>
              </a:rPr>
              <a:t>Create Project </a:t>
            </a:r>
            <a:r>
              <a:rPr lang="en-US" altLang="ko-KR" sz="1600" b="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 RTL Project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프로젝트 이름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: kv260_ipi</a:t>
            </a:r>
          </a:p>
          <a:p>
            <a:pPr marL="800100" lvl="1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보드 선택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  <a:sym typeface="Wingdings" panose="05000000000000000000" pitchFamily="2" charset="2"/>
              </a:rPr>
              <a:t>: Kria KV260 Vision AI Starter Kit</a:t>
            </a:r>
            <a:endParaRPr sz="16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675D6E6B-30BB-97E6-2A6C-B5CA11B5EF64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gradFill rotWithShape="1">
            <a:gsLst>
              <a:gs pos="0">
                <a:srgbClr val="003366"/>
              </a:gs>
              <a:gs pos="100000">
                <a:srgbClr val="0044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58141FC-7D59-BAA5-3705-8854E2EF85D6}"/>
              </a:ext>
            </a:extLst>
          </p:cNvPr>
          <p:cNvSpPr/>
          <p:nvPr/>
        </p:nvSpPr>
        <p:spPr>
          <a:xfrm>
            <a:off x="0" y="1046480"/>
            <a:ext cx="12191695" cy="508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C30035-FCE6-E9CF-7F9F-B22165CB2B6F}"/>
              </a:ext>
            </a:extLst>
          </p:cNvPr>
          <p:cNvSpPr txBox="1"/>
          <p:nvPr/>
        </p:nvSpPr>
        <p:spPr>
          <a:xfrm>
            <a:off x="457200" y="309890"/>
            <a:ext cx="11277295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Zynq </a:t>
            </a:r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UltraScale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+ </a:t>
            </a:r>
            <a:r>
              <a:rPr lang="en-US" sz="2800" b="1" dirty="0" err="1">
                <a:solidFill>
                  <a:srgbClr val="FFFFFF"/>
                </a:solidFill>
                <a:latin typeface="Calibri"/>
              </a:rPr>
              <a:t>MPSoC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F56453-25D7-FE14-8E8A-49C74A90929D}"/>
              </a:ext>
            </a:extLst>
          </p:cNvPr>
          <p:cNvSpPr txBox="1"/>
          <p:nvPr/>
        </p:nvSpPr>
        <p:spPr>
          <a:xfrm>
            <a:off x="1127729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3BC401D4-D38D-AAEF-2834-A94D9FBEF249}"/>
              </a:ext>
            </a:extLst>
          </p:cNvPr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78A2FB-CAD3-E7CA-9327-F1FF2FC900A3}"/>
              </a:ext>
            </a:extLst>
          </p:cNvPr>
          <p:cNvSpPr txBox="1"/>
          <p:nvPr/>
        </p:nvSpPr>
        <p:spPr>
          <a:xfrm>
            <a:off x="457200" y="6492240"/>
            <a:ext cx="360226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66666"/>
                </a:solidFill>
                <a:latin typeface="Calibri"/>
              </a:rPr>
              <a:t>Step 0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2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: </a:t>
            </a:r>
            <a:r>
              <a:rPr lang="en-US" altLang="ko-KR" sz="1000" b="0" dirty="0" err="1">
                <a:solidFill>
                  <a:srgbClr val="666666"/>
                </a:solidFill>
                <a:latin typeface="Calibri"/>
              </a:rPr>
              <a:t>vivado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 </a:t>
            </a:r>
            <a:r>
              <a:rPr lang="en-US" altLang="ko-KR" sz="1000" b="0" dirty="0">
                <a:solidFill>
                  <a:srgbClr val="666666"/>
                </a:solidFill>
                <a:latin typeface="Calibri"/>
              </a:rPr>
              <a:t>IP Integrator</a:t>
            </a:r>
            <a:r>
              <a:rPr sz="1000" b="0" dirty="0">
                <a:solidFill>
                  <a:srgbClr val="666666"/>
                </a:solidFill>
                <a:latin typeface="Calibri"/>
              </a:rPr>
              <a:t> —</a:t>
            </a:r>
            <a:r>
              <a:rPr lang="en-US" sz="1000" b="0" dirty="0">
                <a:solidFill>
                  <a:srgbClr val="666666"/>
                </a:solidFill>
                <a:latin typeface="Calibri"/>
              </a:rPr>
              <a:t> PS/PL </a:t>
            </a:r>
            <a:r>
              <a:rPr lang="ko-KR" altLang="en-US" sz="1000" b="0" dirty="0">
                <a:solidFill>
                  <a:srgbClr val="666666"/>
                </a:solidFill>
                <a:latin typeface="Calibri"/>
              </a:rPr>
              <a:t>인터페이스와 블록 자동화</a:t>
            </a:r>
            <a:endParaRPr sz="1000" b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31CA88-0A67-13B9-39CA-F4B99A2A6F08}"/>
              </a:ext>
            </a:extLst>
          </p:cNvPr>
          <p:cNvSpPr/>
          <p:nvPr/>
        </p:nvSpPr>
        <p:spPr>
          <a:xfrm>
            <a:off x="2749641" y="1325880"/>
            <a:ext cx="5029198" cy="2730965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Processing System (PS)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0F9611-B17D-8D0F-15AD-03B8B3638C29}"/>
              </a:ext>
            </a:extLst>
          </p:cNvPr>
          <p:cNvSpPr/>
          <p:nvPr/>
        </p:nvSpPr>
        <p:spPr>
          <a:xfrm>
            <a:off x="3153026" y="1937627"/>
            <a:ext cx="1232231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ARM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Cortex-A53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8753963-2A0C-0ECE-937F-6CB1F04393FE}"/>
              </a:ext>
            </a:extLst>
          </p:cNvPr>
          <p:cNvSpPr/>
          <p:nvPr/>
        </p:nvSpPr>
        <p:spPr>
          <a:xfrm>
            <a:off x="4582580" y="1937627"/>
            <a:ext cx="1232231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ARM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Cortex-R5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490FBA-97B1-51F2-1365-6ED7948ED71A}"/>
              </a:ext>
            </a:extLst>
          </p:cNvPr>
          <p:cNvSpPr/>
          <p:nvPr/>
        </p:nvSpPr>
        <p:spPr>
          <a:xfrm>
            <a:off x="6066871" y="1944066"/>
            <a:ext cx="1232231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RPU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863943-0514-1CB1-D8B3-D55ED246E01B}"/>
              </a:ext>
            </a:extLst>
          </p:cNvPr>
          <p:cNvSpPr/>
          <p:nvPr/>
        </p:nvSpPr>
        <p:spPr>
          <a:xfrm>
            <a:off x="3153026" y="2803731"/>
            <a:ext cx="1232231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DDR4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Controller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3121C48-7867-F819-38B1-52D12FD9603C}"/>
              </a:ext>
            </a:extLst>
          </p:cNvPr>
          <p:cNvSpPr/>
          <p:nvPr/>
        </p:nvSpPr>
        <p:spPr>
          <a:xfrm>
            <a:off x="4582580" y="2798902"/>
            <a:ext cx="2716522" cy="63750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GGUS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(GPU / VDMA)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5773FC-67ED-D867-DD8A-389EB42196A1}"/>
              </a:ext>
            </a:extLst>
          </p:cNvPr>
          <p:cNvSpPr/>
          <p:nvPr/>
        </p:nvSpPr>
        <p:spPr>
          <a:xfrm>
            <a:off x="2749641" y="3643254"/>
            <a:ext cx="5029198" cy="40811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Programmable Logic (PL)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47B291DB-74BC-2AB1-8238-98292AF0D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336204"/>
              </p:ext>
            </p:extLst>
          </p:nvPr>
        </p:nvGraphicFramePr>
        <p:xfrm>
          <a:off x="531893" y="4471807"/>
          <a:ext cx="6474495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165">
                  <a:extLst>
                    <a:ext uri="{9D8B030D-6E8A-4147-A177-3AD203B41FA5}">
                      <a16:colId xmlns:a16="http://schemas.microsoft.com/office/drawing/2014/main" val="1291236916"/>
                    </a:ext>
                  </a:extLst>
                </a:gridCol>
                <a:gridCol w="2158165">
                  <a:extLst>
                    <a:ext uri="{9D8B030D-6E8A-4147-A177-3AD203B41FA5}">
                      <a16:colId xmlns:a16="http://schemas.microsoft.com/office/drawing/2014/main" val="1889192746"/>
                    </a:ext>
                  </a:extLst>
                </a:gridCol>
                <a:gridCol w="2158165">
                  <a:extLst>
                    <a:ext uri="{9D8B030D-6E8A-4147-A177-3AD203B41FA5}">
                      <a16:colId xmlns:a16="http://schemas.microsoft.com/office/drawing/2014/main" val="1534510440"/>
                    </a:ext>
                  </a:extLst>
                </a:gridCol>
              </a:tblGrid>
              <a:tr h="2227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신호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기본 주파수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용도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5351164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pl_clk0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100 MHz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</a:t>
                      </a:r>
                      <a:r>
                        <a:rPr lang="ko-KR" altLang="en-US" sz="1400" dirty="0"/>
                        <a:t> </a:t>
                      </a:r>
                      <a:r>
                        <a:rPr lang="en-US" altLang="ko-KR" sz="1400" dirty="0"/>
                        <a:t>Clock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035954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pl_clk1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 가능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선택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Additional Clock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025720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pl_clk2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 가능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선택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Additional Clock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747833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pl_clk3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 가능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선택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Additional Clock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02492"/>
                  </a:ext>
                </a:extLst>
              </a:tr>
              <a:tr h="2024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pl_resetn0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 Reset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94377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A595D303-DDD4-1B95-5594-B582C885E2D5}"/>
              </a:ext>
            </a:extLst>
          </p:cNvPr>
          <p:cNvSpPr txBox="1"/>
          <p:nvPr/>
        </p:nvSpPr>
        <p:spPr>
          <a:xfrm>
            <a:off x="428223" y="4056845"/>
            <a:ext cx="6578165" cy="447684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altLang="ko-KR" sz="1600" b="0" dirty="0">
                <a:solidFill>
                  <a:srgbClr val="000000"/>
                </a:solidFill>
                <a:latin typeface="Calibri"/>
              </a:rPr>
              <a:t>PS</a:t>
            </a:r>
            <a:r>
              <a:rPr lang="ko-KR" altLang="en-US" sz="1600" b="0" dirty="0">
                <a:solidFill>
                  <a:srgbClr val="000000"/>
                </a:solidFill>
                <a:latin typeface="Calibri"/>
              </a:rPr>
              <a:t>는 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다음의 클럭을 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PL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에 공급한다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.</a:t>
            </a:r>
            <a:endParaRPr sz="1600" b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2BE6EA-BD80-FD40-71FF-5929C783FDBA}"/>
              </a:ext>
            </a:extLst>
          </p:cNvPr>
          <p:cNvSpPr txBox="1"/>
          <p:nvPr/>
        </p:nvSpPr>
        <p:spPr>
          <a:xfrm>
            <a:off x="7482287" y="4438025"/>
            <a:ext cx="4281490" cy="1809668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KV260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의 기본 구성</a:t>
            </a:r>
            <a:endParaRPr lang="en-US" altLang="ko-KR" sz="1600" dirty="0">
              <a:solidFill>
                <a:srgbClr val="000000"/>
              </a:solidFill>
              <a:latin typeface="Calibri"/>
            </a:endParaRP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DDR4: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2GB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(PS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용</a:t>
            </a:r>
            <a:r>
              <a:rPr lang="en-US" altLang="ko-KR" sz="1600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/>
              </a:rPr>
              <a:t>QSPI:</a:t>
            </a:r>
            <a:r>
              <a:rPr lang="ko-KR" altLang="en-US" sz="1600" dirty="0">
                <a:solidFill>
                  <a:srgbClr val="000000"/>
                </a:solidFill>
                <a:latin typeface="Calibri"/>
              </a:rPr>
              <a:t> 부트 플래시</a:t>
            </a:r>
            <a:endParaRPr lang="en-US" altLang="ko-KR" sz="1600" dirty="0">
              <a:solidFill>
                <a:srgbClr val="000000"/>
              </a:solidFill>
              <a:latin typeface="Calibri"/>
            </a:endParaRP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600" b="0" dirty="0">
                <a:solidFill>
                  <a:srgbClr val="000000"/>
                </a:solidFill>
                <a:latin typeface="Calibri"/>
              </a:rPr>
              <a:t>eMMC: </a:t>
            </a:r>
            <a:r>
              <a:rPr lang="ko-KR" altLang="en-US" sz="1600" b="0" dirty="0">
                <a:solidFill>
                  <a:srgbClr val="000000"/>
                </a:solidFill>
                <a:latin typeface="Calibri"/>
              </a:rPr>
              <a:t>추가 스토리지</a:t>
            </a:r>
            <a:r>
              <a:rPr lang="en-US" altLang="ko-KR" sz="1600" b="0" dirty="0">
                <a:solidFill>
                  <a:srgbClr val="000000"/>
                </a:solidFill>
                <a:latin typeface="Calibri"/>
              </a:rPr>
              <a:t>(</a:t>
            </a:r>
            <a:r>
              <a:rPr lang="ko-KR" altLang="en-US" sz="1600" b="0" dirty="0">
                <a:solidFill>
                  <a:srgbClr val="000000"/>
                </a:solidFill>
                <a:latin typeface="Calibri"/>
              </a:rPr>
              <a:t>일부 모델</a:t>
            </a:r>
            <a:r>
              <a:rPr lang="en-US" altLang="ko-KR" sz="1600" b="0" dirty="0">
                <a:solidFill>
                  <a:srgbClr val="000000"/>
                </a:solidFill>
                <a:latin typeface="Calibri"/>
              </a:rPr>
              <a:t>)</a:t>
            </a:r>
            <a:endParaRPr sz="1600" b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0517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프로젝트 생성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Vivado 프로젝트 생성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1. source /tools/Xilinx/Vivado/2021.2/settings64.sh</a:t>
            </a:r>
          </a:p>
          <a:p>
            <a:pPr>
              <a:spcBef>
                <a:spcPts val="1800"/>
              </a:spcBef>
              <a:defRPr sz="2400"/>
            </a:pPr>
            <a:r>
              <a:t>• 2. vivado &amp;</a:t>
            </a:r>
          </a:p>
          <a:p>
            <a:pPr>
              <a:spcBef>
                <a:spcPts val="1800"/>
              </a:spcBef>
              <a:defRPr sz="2400"/>
            </a:pPr>
            <a:r>
              <a:t>• 3. Create Project -&gt; RTL Project</a:t>
            </a:r>
          </a:p>
          <a:p>
            <a:pPr>
              <a:spcBef>
                <a:spcPts val="1800"/>
              </a:spcBef>
              <a:defRPr sz="2400"/>
            </a:pPr>
            <a:r>
              <a:t>• 4. 프로젝트 이름: kv260_ipi_demo</a:t>
            </a:r>
          </a:p>
          <a:p>
            <a:pPr>
              <a:spcBef>
                <a:spcPts val="1800"/>
              </a:spcBef>
              <a:defRPr sz="2400"/>
            </a:pPr>
            <a:r>
              <a:t>• 5. 보드 선택: Kria KV260 Vision AI Starter Kit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Zynq UltraScale+ MPSoC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PS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spcBef>
                <a:spcPts val="1000"/>
              </a:spcBef>
              <a:defRPr sz="1400">
                <a:solidFill>
                  <a:srgbClr val="00FF00"/>
                </a:solidFill>
                <a:latin typeface="Courier New"/>
              </a:defRPr>
            </a:pPr>
            <a:r>
              <a:t>+------------------------------------------+</a:t>
            </a:r>
            <a:br/>
            <a:r>
              <a:t>|         Processing System (PS)          |</a:t>
            </a:r>
            <a:br/>
            <a:r>
              <a:t>|  +----------+  +----------+  +--------+ |</a:t>
            </a:r>
            <a:br/>
            <a:r>
              <a:t>|  |  ARM     |  |  ARM     |  |  RPU   | |</a:t>
            </a:r>
            <a:br/>
            <a:r>
              <a:t>|  |Cortex-A53|  |Cortex-R5 |  |        | |</a:t>
            </a:r>
            <a:br/>
            <a:r>
              <a:t>|  +----------+  +----------+  +--------+ |</a:t>
            </a:r>
            <a:br/>
            <a:r>
              <a:t>|  +----------+  +------------------+     |</a:t>
            </a:r>
            <a:br/>
            <a:r>
              <a:t>|  |  DDR4    |  |  GPU/VDMA       |     |</a:t>
            </a:r>
            <a:br/>
            <a:r>
              <a:t>|  +----------+  +------------------+     |</a:t>
            </a:r>
            <a:br/>
            <a:r>
              <a:t>+------------------------------------------+</a:t>
            </a:r>
            <a:br/>
            <a:r>
              <a:t>|         Programmable Logic (PL)         |</a:t>
            </a:r>
            <a:br/>
            <a:r>
              <a:t>+------------------------------------------+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클럭 및 리셋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pl_clk0: 100MHz (주 클럭)</a:t>
            </a:r>
          </a:p>
          <a:p>
            <a:pPr>
              <a:spcBef>
                <a:spcPts val="1800"/>
              </a:spcBef>
              <a:defRPr sz="2400"/>
            </a:pPr>
            <a:r>
              <a:t>• pl_clk1 ~ pl_clk3: 추가 클럭 (선택)</a:t>
            </a:r>
          </a:p>
          <a:p>
            <a:pPr>
              <a:spcBef>
                <a:spcPts val="1800"/>
              </a:spcBef>
              <a:defRPr sz="2400"/>
            </a:pPr>
            <a:r>
              <a:t>• pl_resetn0: 주 리셋 신호</a:t>
            </a:r>
          </a:p>
          <a:p>
            <a:pPr>
              <a:spcBef>
                <a:spcPts val="1800"/>
              </a:spcBef>
              <a:defRPr sz="2400"/>
            </a:pPr>
            <a:r>
              <a:t>• DDR4: 2GB, QSPI: 부트 플래시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블록 자동화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Run Block Automation이란?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Vivado가 PS IP의 연결을 자동으로 설정</a:t>
            </a:r>
          </a:p>
          <a:p>
            <a:pPr>
              <a:spcBef>
                <a:spcPts val="1800"/>
              </a:spcBef>
              <a:defRPr sz="2400"/>
            </a:pPr>
            <a:r>
              <a:t>• AXI 버스 자동 연결</a:t>
            </a:r>
          </a:p>
          <a:p>
            <a:pPr>
              <a:spcBef>
                <a:spcPts val="1800"/>
              </a:spcBef>
              <a:defRPr sz="2400"/>
            </a:pPr>
            <a:r>
              <a:t>• 클럭 (pl_clk0) 자동 연결</a:t>
            </a:r>
          </a:p>
          <a:p>
            <a:pPr>
              <a:spcBef>
                <a:spcPts val="1800"/>
              </a:spcBef>
              <a:defRPr sz="2400"/>
            </a:pPr>
            <a:r>
              <a:t>• 리셋 (pl_resetn0) 자동 연결</a:t>
            </a:r>
          </a:p>
          <a:p>
            <a:pPr>
              <a:spcBef>
                <a:spcPts val="1800"/>
              </a:spcBef>
              <a:defRPr sz="2400"/>
            </a:pPr>
            <a:r>
              <a:t>• KV260에서는 Board Preset 권장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연결 방식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자동 연결</a:t>
            </a:r>
          </a:p>
          <a:p>
            <a:pPr>
              <a:spcBef>
                <a:spcPts val="800"/>
              </a:spcBef>
              <a:defRPr sz="1600"/>
            </a:pPr>
            <a:r>
              <a:t>• Run Connection Automation 사용</a:t>
            </a:r>
          </a:p>
          <a:p>
            <a:pPr>
              <a:spcBef>
                <a:spcPts val="800"/>
              </a:spcBef>
              <a:defRPr sz="1600"/>
            </a:pPr>
            <a:r>
              <a:t>• Zynq PS --&gt; GPIO 자동 연결</a:t>
            </a:r>
          </a:p>
          <a:p>
            <a:pPr>
              <a:spcBef>
                <a:spcPts val="800"/>
              </a:spcBef>
              <a:defRPr sz="1600"/>
            </a:pPr>
            <a:r>
              <a:t>• 빠르고简便</a:t>
            </a:r>
          </a:p>
          <a:p>
            <a:pPr>
              <a:spcBef>
                <a:spcPts val="800"/>
              </a:spcBef>
              <a:defRPr sz="1600"/>
            </a:pPr>
            <a:r>
              <a:t>• 기본 설정으로 충분할 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6600"/>
                </a:solidFill>
              </a:defRPr>
            </a:pPr>
            <a:r>
              <a:t>수동 연결</a:t>
            </a:r>
          </a:p>
          <a:p>
            <a:pPr>
              <a:spcBef>
                <a:spcPts val="800"/>
              </a:spcBef>
              <a:defRPr sz="1600"/>
            </a:pPr>
            <a:r>
              <a:t>• AXI BUS 직접 연결</a:t>
            </a:r>
          </a:p>
          <a:p>
            <a:pPr>
              <a:spcBef>
                <a:spcPts val="800"/>
              </a:spcBef>
              <a:defRPr sz="1600"/>
            </a:pPr>
            <a:r>
              <a:t>• 세밀한 제어 가능</a:t>
            </a:r>
          </a:p>
          <a:p>
            <a:pPr>
              <a:spcBef>
                <a:spcPts val="800"/>
              </a:spcBef>
              <a:defRPr sz="1600"/>
            </a:pPr>
            <a:r>
              <a:t>• 복잡하지만 유연함</a:t>
            </a:r>
          </a:p>
          <a:p>
            <a:pPr>
              <a:spcBef>
                <a:spcPts val="800"/>
              </a:spcBef>
              <a:defRPr sz="1600"/>
            </a:pPr>
            <a:r>
              <a:t>• 고급 설정이 필요할 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Clocking Wizard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클럭 라우팅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spcBef>
                <a:spcPts val="1000"/>
              </a:spcBef>
              <a:defRPr sz="1400">
                <a:solidFill>
                  <a:srgbClr val="00FF00"/>
                </a:solidFill>
                <a:latin typeface="Courier New"/>
              </a:defRPr>
            </a:pPr>
            <a:r>
              <a:t>PS (pl_clk0 100MHz) --&gt; Clocking Wizard --&gt; PL Logic</a:t>
            </a:r>
            <a:br/>
            <a:r>
              <a:t>                           |</a:t>
            </a:r>
            <a:br/>
            <a:r>
              <a:t>                      clk_out1 (100MHz)</a:t>
            </a:r>
            <a:br/>
            <a:r>
              <a:t>                      clk_out2 (200MHz)</a:t>
            </a:r>
            <a:br/>
            <a:r>
              <a:t>                      clk_out3 (400MHz)</a:t>
            </a:r>
            <a:br/>
            <a:r>
              <a:t>                      clk_out4 (50MHz)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Clocking Wizard 설정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1. BD에서 '+' 버튼 클릭</a:t>
            </a:r>
          </a:p>
          <a:p>
            <a:pPr>
              <a:spcBef>
                <a:spcPts val="1800"/>
              </a:spcBef>
              <a:defRPr sz="2400"/>
            </a:pPr>
            <a:r>
              <a:t>• 2. 'Clocking Wizard' 검색</a:t>
            </a:r>
          </a:p>
          <a:p>
            <a:pPr>
              <a:spcBef>
                <a:spcPts val="1800"/>
              </a:spcBef>
              <a:defRPr sz="2400"/>
            </a:pPr>
            <a:r>
              <a:t>• 3. clk_wiz 추가 및 설정</a:t>
            </a:r>
          </a:p>
          <a:p>
            <a:pPr>
              <a:spcBef>
                <a:spcPts val="1800"/>
              </a:spcBef>
              <a:defRPr sz="2400"/>
            </a:pPr>
            <a:r>
              <a:t>• 4. 출력 주파수: 100/200/400/50MHz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Processor System Reset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리셋 연결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1277295" cy="4114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>
              <a:spcBef>
                <a:spcPts val="1000"/>
              </a:spcBef>
              <a:defRPr sz="1400">
                <a:solidFill>
                  <a:srgbClr val="00FF00"/>
                </a:solidFill>
                <a:latin typeface="Courier New"/>
              </a:defRPr>
            </a:pPr>
            <a:r>
              <a:t>PS (pl_resetn0) --&gt; proc_sys_reset_0 --&gt; PL Logic</a:t>
            </a:r>
            <a:br/>
            <a:r>
              <a:t>                        |</a:t>
            </a:r>
            <a:br/>
            <a:r>
              <a:t>                   dcm_locked</a:t>
            </a:r>
            <a:br/>
            <a:r>
              <a:t>            (클럭 잠금까지 리셋 유지)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리셋 처리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비동기 리셋은 클럭 에지에서 동기화 필요</a:t>
            </a:r>
          </a:p>
          <a:p>
            <a:pPr>
              <a:spcBef>
                <a:spcPts val="1800"/>
              </a:spcBef>
              <a:defRPr sz="2400"/>
            </a:pPr>
            <a:r>
              <a:t>• Processor System Reset이 자동으로 처리</a:t>
            </a:r>
          </a:p>
          <a:p>
            <a:pPr>
              <a:spcBef>
                <a:spcPts val="1800"/>
              </a:spcBef>
              <a:defRPr sz="2400"/>
            </a:pPr>
            <a:r>
              <a:t>• dcm_locked: 클럭 안정화 신호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플랫폼 인터페이스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Platform Setup 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Tools -&gt; Platform Setup</a:t>
            </a:r>
          </a:p>
          <a:p>
            <a:pPr>
              <a:spcBef>
                <a:spcPts val="1800"/>
              </a:spcBef>
              <a:defRPr sz="2400"/>
            </a:pPr>
            <a:r>
              <a:t>• PFM.CLK: 클럭 인터페이스 설정</a:t>
            </a:r>
          </a:p>
          <a:p>
            <a:pPr>
              <a:spcBef>
                <a:spcPts val="1800"/>
              </a:spcBef>
              <a:defRPr sz="2400"/>
            </a:pPr>
            <a:r>
              <a:t>• PFM.IRQ: 인터럽트 설정</a:t>
            </a:r>
          </a:p>
          <a:p>
            <a:pPr>
              <a:spcBef>
                <a:spcPts val="1800"/>
              </a:spcBef>
              <a:defRPr sz="2400"/>
            </a:pPr>
            <a:r>
              <a:t>• Interrupt ID 0-31: PS to PL</a:t>
            </a:r>
          </a:p>
          <a:p>
            <a:pPr>
              <a:spcBef>
                <a:spcPts val="1800"/>
              </a:spcBef>
              <a:defRPr sz="2400"/>
            </a:pPr>
            <a:r>
              <a:t>• Interrupt ID 32-91: PL to 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PS-PL 인터페이스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주요 인터페이스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M_AXI_HPM0_FPD: 고성능 AXI (Full Power Domain)</a:t>
            </a:r>
          </a:p>
          <a:p>
            <a:pPr>
              <a:spcBef>
                <a:spcPts val="1800"/>
              </a:spcBef>
              <a:defRPr sz="2400"/>
            </a:pPr>
            <a:r>
              <a:t>• M_AXI_HPM0_LPD: 저전력 Domain AXI</a:t>
            </a:r>
          </a:p>
          <a:p>
            <a:pPr>
              <a:spcBef>
                <a:spcPts val="1800"/>
              </a:spcBef>
              <a:defRPr sz="2400"/>
            </a:pPr>
            <a:r>
              <a:t>• S_AXI_HPx_FPD: DDR 메모리 직접 접근 (0~3)</a:t>
            </a:r>
          </a:p>
          <a:p>
            <a:pPr>
              <a:spcBef>
                <a:spcPts val="1800"/>
              </a:spcBef>
              <a:defRPr sz="2400"/>
            </a:pPr>
            <a:r>
              <a:t>• pl_clk0, pl_resetn0: 기본 클럭/리셋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HDL Wrapper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Wrapper 모드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3035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Vivado Managed</a:t>
            </a:r>
          </a:p>
          <a:p>
            <a:pPr>
              <a:spcBef>
                <a:spcPts val="800"/>
              </a:spcBef>
              <a:defRPr sz="1600"/>
            </a:pPr>
            <a:r>
              <a:t>• BD 변경 시 자동 재생성</a:t>
            </a:r>
          </a:p>
          <a:p>
            <a:pPr>
              <a:spcBef>
                <a:spcPts val="800"/>
              </a:spcBef>
              <a:defRPr sz="1600"/>
            </a:pPr>
            <a:r>
              <a:t>• 간단한 프로젝트에 적합</a:t>
            </a:r>
          </a:p>
          <a:p>
            <a:pPr>
              <a:spcBef>
                <a:spcPts val="800"/>
              </a:spcBef>
              <a:defRPr sz="1600"/>
            </a:pPr>
            <a:r>
              <a:t>• Vivado가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6600"/>
                </a:solidFill>
              </a:defRPr>
            </a:pPr>
            <a:r>
              <a:t>User Managed</a:t>
            </a:r>
          </a:p>
          <a:p>
            <a:pPr>
              <a:spcBef>
                <a:spcPts val="800"/>
              </a:spcBef>
              <a:defRPr sz="1600"/>
            </a:pPr>
            <a:r>
              <a:t>• 사용자가 직접 편집 가능</a:t>
            </a:r>
          </a:p>
          <a:p>
            <a:pPr>
              <a:spcBef>
                <a:spcPts val="800"/>
              </a:spcBef>
              <a:defRPr sz="1600"/>
            </a:pPr>
            <a:r>
              <a:t>• 고급 커스터마이징 가능</a:t>
            </a:r>
          </a:p>
          <a:p>
            <a:pPr>
              <a:spcBef>
                <a:spcPts val="800"/>
              </a:spcBef>
              <a:defRPr sz="1600"/>
            </a:pPr>
            <a:r>
              <a:t>• 수동 관리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하드웨어 익스포트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XSA 파일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방법 1: File -&gt; Export -&gt; Export Hardware</a:t>
            </a:r>
          </a:p>
          <a:p>
            <a:pPr>
              <a:spcBef>
                <a:spcPts val="1800"/>
              </a:spcBef>
              <a:defRPr sz="2400"/>
            </a:pPr>
            <a:r>
              <a:t>• 방법 2: TCL: write_hw_platform -force -file kv260_platform.xsa</a:t>
            </a:r>
          </a:p>
          <a:p>
            <a:pPr>
              <a:spcBef>
                <a:spcPts val="1800"/>
              </a:spcBef>
              <a:defRPr sz="2400"/>
            </a:pPr>
            <a:r>
              <a:t>• Pre-synthesis: RTL 시뮬레이션용</a:t>
            </a:r>
          </a:p>
          <a:p>
            <a:pPr>
              <a:spcBef>
                <a:spcPts val="1800"/>
              </a:spcBef>
              <a:defRPr sz="2400"/>
            </a:pPr>
            <a:r>
              <a:t>• Post-synthesis: 비트스트림 생성용</a:t>
            </a:r>
          </a:p>
          <a:p>
            <a:pPr>
              <a:spcBef>
                <a:spcPts val="1800"/>
              </a:spcBef>
              <a:defRPr sz="2400"/>
            </a:pPr>
            <a:r>
              <a:t>• Vitis에서 플랫폼으로 사용: vitis --platform ~/kv260_platform.xsa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검증 체크리스트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프로젝트 완료 조건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Zynq PS가 블록 디자인에 추가됨</a:t>
            </a:r>
          </a:p>
          <a:p>
            <a:pPr>
              <a:spcBef>
                <a:spcPts val="1800"/>
              </a:spcBef>
              <a:defRPr sz="2400"/>
            </a:pPr>
            <a:r>
              <a:t>• Block Automation이 정상 동작</a:t>
            </a:r>
          </a:p>
          <a:p>
            <a:pPr>
              <a:spcBef>
                <a:spcPts val="1800"/>
              </a:spcBef>
              <a:defRPr sz="2400"/>
            </a:pPr>
            <a:r>
              <a:t>• Clocking Wizard가 클럭 생성</a:t>
            </a:r>
          </a:p>
          <a:p>
            <a:pPr>
              <a:spcBef>
                <a:spcPts val="1800"/>
              </a:spcBef>
              <a:defRPr sz="2400"/>
            </a:pPr>
            <a:r>
              <a:t>• Processor System Reset이 연결됨</a:t>
            </a:r>
          </a:p>
          <a:p>
            <a:pPr>
              <a:spcBef>
                <a:spcPts val="1800"/>
              </a:spcBef>
              <a:defRPr sz="2400"/>
            </a:pPr>
            <a:r>
              <a:t>• HDL Wrapper가 생성됨</a:t>
            </a:r>
          </a:p>
          <a:p>
            <a:pPr>
              <a:spcBef>
                <a:spcPts val="1800"/>
              </a:spcBef>
              <a:defRPr sz="2400"/>
            </a:pPr>
            <a:r>
              <a:t>• XSA 파일이 익스포트됨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6600"/>
                </a:solidFill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2743200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t>심화 연습 문제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연습 문제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800"/>
              </a:spcBef>
              <a:defRPr sz="2400"/>
            </a:pPr>
            <a:r>
              <a:t>• Clocking Wizard 설정: 다양한 출력 주파수 설정</a:t>
            </a:r>
          </a:p>
          <a:p>
            <a:pPr>
              <a:spcBef>
                <a:spcPts val="1800"/>
              </a:spcBef>
              <a:defRPr sz="2400"/>
            </a:pPr>
            <a:r>
              <a:t>• AXI 브릿지: PS와 PL 간 AXI 통신 설정</a:t>
            </a:r>
          </a:p>
          <a:p>
            <a:pPr>
              <a:spcBef>
                <a:spcPts val="1800"/>
              </a:spcBef>
              <a:defRPr sz="2400"/>
            </a:pPr>
            <a:r>
              <a:t>• 인터럽트: PL에서 PS로 인터럽트送信 시스템 구성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Step 02 완료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AACCEE"/>
                </a:solidFill>
              </a:defRPr>
            </a:pPr>
            <a:r>
              <a:t>다음 단계: AXI GPIO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CCEE"/>
                </a:solidFill>
              </a:defRPr>
            </a:pPr>
            <a:r>
              <a:t>KV260 FPGA Training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988</Words>
  <Application>Microsoft Office PowerPoint</Application>
  <PresentationFormat>와이드스크린</PresentationFormat>
  <Paragraphs>193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Arial</vt:lpstr>
      <vt:lpstr>Calibri</vt:lpstr>
      <vt:lpstr>Courier New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Vivado 프로젝트 생성 방법</vt:lpstr>
      <vt:lpstr>PowerPoint 프레젠테이션</vt:lpstr>
      <vt:lpstr>PS 아키텍처</vt:lpstr>
      <vt:lpstr>클럭 및 리셋 설정</vt:lpstr>
      <vt:lpstr>PowerPoint 프레젠테이션</vt:lpstr>
      <vt:lpstr>Run Block Automation이란?</vt:lpstr>
      <vt:lpstr>연결 방식 비교</vt:lpstr>
      <vt:lpstr>PowerPoint 프레젠테이션</vt:lpstr>
      <vt:lpstr>클럭 라우팅</vt:lpstr>
      <vt:lpstr>Clocking Wizard 설정 방법</vt:lpstr>
      <vt:lpstr>PowerPoint 프레젠테이션</vt:lpstr>
      <vt:lpstr>리셋 연결</vt:lpstr>
      <vt:lpstr>리셋 처리</vt:lpstr>
      <vt:lpstr>PowerPoint 프레젠테이션</vt:lpstr>
      <vt:lpstr>Platform Setup 탭</vt:lpstr>
      <vt:lpstr>PowerPoint 프레젠테이션</vt:lpstr>
      <vt:lpstr>주요 인터페이스</vt:lpstr>
      <vt:lpstr>PowerPoint 프레젠테이션</vt:lpstr>
      <vt:lpstr>Wrapper 모드</vt:lpstr>
      <vt:lpstr>PowerPoint 프레젠테이션</vt:lpstr>
      <vt:lpstr>XSA 파일 생성</vt:lpstr>
      <vt:lpstr>PowerPoint 프레젠테이션</vt:lpstr>
      <vt:lpstr>프로젝트 완료 조건</vt:lpstr>
      <vt:lpstr>PowerPoint 프레젠테이션</vt:lpstr>
      <vt:lpstr>연습 문제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JAEUK NAM</cp:lastModifiedBy>
  <cp:revision>3</cp:revision>
  <dcterms:created xsi:type="dcterms:W3CDTF">2013-01-27T09:14:16Z</dcterms:created>
  <dcterms:modified xsi:type="dcterms:W3CDTF">2026-03-24T09:17:10Z</dcterms:modified>
  <cp:category/>
</cp:coreProperties>
</file>