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Git 기초와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버전 관리 시스템의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Git이란?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Git 이해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버전 관리 시스템 (Version Control System)</a:t>
            </a:r>
          </a:p>
          <a:p>
            <a:pPr>
              <a:spcBef>
                <a:spcPts val="1400"/>
              </a:spcBef>
              <a:defRPr sz="2200"/>
            </a:pPr>
            <a:r>
              <a:t>• 파일 변경 이력 추적</a:t>
            </a:r>
          </a:p>
          <a:p>
            <a:pPr>
              <a:spcBef>
                <a:spcPts val="1400"/>
              </a:spcBef>
              <a:defRPr sz="2200"/>
            </a:pPr>
            <a:r>
              <a:t>• 多人 협업 지원</a:t>
            </a:r>
          </a:p>
          <a:p>
            <a:pPr>
              <a:spcBef>
                <a:spcPts val="1400"/>
              </a:spcBef>
              <a:defRPr sz="2200"/>
            </a:pPr>
            <a:r>
              <a:t>• Linux 커널 제작자 Linus Torvalds가 개발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왜 Git인가?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장점</a:t>
            </a:r>
          </a:p>
          <a:p>
            <a:pPr>
              <a:spcBef>
                <a:spcPts val="1000"/>
              </a:spcBef>
              <a:defRPr sz="1800"/>
            </a:pPr>
            <a:r>
              <a:t>• 분산 버전 관리</a:t>
            </a:r>
          </a:p>
          <a:p>
            <a:pPr>
              <a:spcBef>
                <a:spcPts val="1000"/>
              </a:spcBef>
              <a:defRPr sz="1800"/>
            </a:pPr>
            <a:r>
              <a:t>• 빠른 속도</a:t>
            </a:r>
          </a:p>
          <a:p>
            <a:pPr>
              <a:spcBef>
                <a:spcPts val="1000"/>
              </a:spcBef>
              <a:defRPr sz="1800"/>
            </a:pPr>
            <a:r>
              <a:t>• 브랜치 지원</a:t>
            </a:r>
          </a:p>
          <a:p>
            <a:pPr>
              <a:spcBef>
                <a:spcPts val="1000"/>
              </a:spcBef>
              <a:defRPr sz="1800"/>
            </a:pPr>
            <a:r>
              <a:t>• 오픈소스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용도</a:t>
            </a:r>
          </a:p>
          <a:p>
            <a:pPr>
              <a:spcBef>
                <a:spcPts val="1000"/>
              </a:spcBef>
              <a:defRPr sz="1800"/>
            </a:pPr>
            <a:r>
              <a:t>• 코드 버전 관리</a:t>
            </a:r>
          </a:p>
          <a:p>
            <a:pPr>
              <a:spcBef>
                <a:spcPts val="1000"/>
              </a:spcBef>
              <a:defRPr sz="1800"/>
            </a:pPr>
            <a:r>
              <a:t>• 多人 협업</a:t>
            </a:r>
          </a:p>
          <a:p>
            <a:pPr>
              <a:spcBef>
                <a:spcPts val="1000"/>
              </a:spcBef>
              <a:defRPr sz="1800"/>
            </a:pPr>
            <a:r>
              <a:t>• 이력 추적</a:t>
            </a:r>
          </a:p>
          <a:p>
            <a:pPr>
              <a:spcBef>
                <a:spcPts val="1000"/>
              </a:spcBef>
              <a:defRPr sz="1800"/>
            </a:pPr>
            <a:r>
              <a:t>• 백업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설치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설치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Ubuntu/Linux</a:t>
            </a:r>
          </a:p>
          <a:p>
            <a:pPr>
              <a:spcBef>
                <a:spcPts val="1000"/>
              </a:spcBef>
              <a:defRPr sz="1800"/>
            </a:pPr>
            <a:r>
              <a:t>• sudo apt update</a:t>
            </a:r>
          </a:p>
          <a:p>
            <a:pPr>
              <a:spcBef>
                <a:spcPts val="1000"/>
              </a:spcBef>
              <a:defRPr sz="1800"/>
            </a:pPr>
            <a:r>
              <a:t>• sudo apt install git</a:t>
            </a:r>
          </a:p>
          <a:p>
            <a:pPr>
              <a:spcBef>
                <a:spcPts val="1000"/>
              </a:spcBef>
              <a:defRPr sz="1800"/>
            </a:pPr>
            <a:r>
              <a:t>• git --version</a:t>
            </a:r>
          </a:p>
          <a:p>
            <a:pPr>
              <a:spcBef>
                <a:spcPts val="1000"/>
              </a:spcBef>
              <a:defRPr sz="1800"/>
            </a:pPr>
            <a:r>
              <a:t>• git config --global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Windows</a:t>
            </a:r>
          </a:p>
          <a:p>
            <a:pPr>
              <a:spcBef>
                <a:spcPts val="1000"/>
              </a:spcBef>
              <a:defRPr sz="1800"/>
            </a:pPr>
            <a:r>
              <a:t>• git-scm.com 다운로드</a:t>
            </a:r>
          </a:p>
          <a:p>
            <a:pPr>
              <a:spcBef>
                <a:spcPts val="1000"/>
              </a:spcBef>
              <a:defRPr sz="1800"/>
            </a:pPr>
            <a:r>
              <a:t>•  installer 실행</a:t>
            </a:r>
          </a:p>
          <a:p>
            <a:pPr>
              <a:spcBef>
                <a:spcPts val="1000"/>
              </a:spcBef>
              <a:defRPr sz="1800"/>
            </a:pPr>
            <a:r>
              <a:t>• 기본 옵션 유지</a:t>
            </a:r>
          </a:p>
          <a:p>
            <a:pPr>
              <a:spcBef>
                <a:spcPts val="1000"/>
              </a:spcBef>
              <a:defRPr sz="1800"/>
            </a:pPr>
            <a:r>
              <a:t>• git Bash에서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기본 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초기 설정 명령어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config --global user.name "Your Name"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config --global user.email "your@email.com"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config --list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config --global core.editor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기초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기본 작업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16459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Working</a:t>
            </a:r>
            <a:br/>
            <a:r>
              <a:t>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6517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011680"/>
            <a:ext cx="2011680" cy="16459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Staging</a:t>
            </a:r>
            <a:br/>
            <a:r>
              <a:t>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6517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2011680" cy="16459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6517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011680"/>
            <a:ext cx="2011680" cy="16459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Remote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핵심 명령어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git init</a:t>
            </a:r>
          </a:p>
          <a:p>
            <a:pPr>
              <a:spcBef>
                <a:spcPts val="1000"/>
              </a:spcBef>
              <a:defRPr sz="1800"/>
            </a:pPr>
            <a:r>
              <a:t>• 새 저장소 생성</a:t>
            </a:r>
          </a:p>
          <a:p>
            <a:pPr>
              <a:spcBef>
                <a:spcPts val="1000"/>
              </a:spcBef>
              <a:defRPr sz="1800"/>
            </a:pPr>
            <a:r>
              <a:t>• git init</a:t>
            </a:r>
          </a:p>
          <a:p>
            <a:pPr>
              <a:spcBef>
                <a:spcPts val="1000"/>
              </a:spcBef>
              <a:defRPr sz="1800"/>
            </a:pPr>
            <a:r>
              <a:t>• ls -la (/.git 확인)</a:t>
            </a:r>
          </a:p>
          <a:p>
            <a:pPr>
              <a:spcBef>
                <a:spcPts val="1000"/>
              </a:spcBef>
              <a:defRPr sz="1800"/>
            </a:pPr>
            <a:r>
              <a:t>• touch README.md &amp;&amp; git add 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git clone</a:t>
            </a:r>
          </a:p>
          <a:p>
            <a:pPr>
              <a:spcBef>
                <a:spcPts val="1000"/>
              </a:spcBef>
              <a:defRPr sz="1800"/>
            </a:pPr>
            <a:r>
              <a:t>• 既存 저장소 복제</a:t>
            </a:r>
          </a:p>
          <a:p>
            <a:pPr>
              <a:spcBef>
                <a:spcPts val="1000"/>
              </a:spcBef>
              <a:defRPr sz="1800"/>
            </a:pPr>
            <a:r>
              <a:t>• git clone &lt;URL&gt;</a:t>
            </a:r>
          </a:p>
          <a:p>
            <a:pPr>
              <a:spcBef>
                <a:spcPts val="1000"/>
              </a:spcBef>
              <a:defRPr sz="1800"/>
            </a:pPr>
            <a:r>
              <a:t>• git clone &lt;URL&gt; my-folder</a:t>
            </a:r>
          </a:p>
          <a:p>
            <a:pPr>
              <a:spcBef>
                <a:spcPts val="1000"/>
              </a:spcBef>
              <a:defRPr sz="1800"/>
            </a:pPr>
            <a:r>
              <a:t>• git pull (업데이트)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추가 및 커밋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파일 추가 및 커밋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status                    # 상태 확인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add &lt;file&gt;               # 파일 추가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add .                    # 모든 변경파일 추가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commit -m "메시지"       # 커밋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commit -am "메시지"      # 추가+커밋 (tracked 파일)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커밋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히스토리 확인</a:t>
            </a:r>
          </a:p>
          <a:p>
            <a:pPr>
              <a:spcBef>
                <a:spcPts val="1000"/>
              </a:spcBef>
              <a:defRPr sz="1800"/>
            </a:pPr>
            <a:r>
              <a:t>• git log</a:t>
            </a:r>
          </a:p>
          <a:p>
            <a:pPr>
              <a:spcBef>
                <a:spcPts val="1000"/>
              </a:spcBef>
              <a:defRPr sz="1800"/>
            </a:pPr>
            <a:r>
              <a:t>• git log --oneline</a:t>
            </a:r>
          </a:p>
          <a:p>
            <a:pPr>
              <a:spcBef>
                <a:spcPts val="1000"/>
              </a:spcBef>
              <a:defRPr sz="1800"/>
            </a:pPr>
            <a:r>
              <a:t>• git log -n 3</a:t>
            </a:r>
          </a:p>
          <a:p>
            <a:pPr>
              <a:spcBef>
                <a:spcPts val="1000"/>
              </a:spcBef>
              <a:defRPr sz="1800"/>
            </a:pPr>
            <a:r>
              <a:t>• git log --graph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이전 커밋으로 이동</a:t>
            </a:r>
          </a:p>
          <a:p>
            <a:pPr>
              <a:spcBef>
                <a:spcPts val="1000"/>
              </a:spcBef>
              <a:defRPr sz="1800"/>
            </a:pPr>
            <a:r>
              <a:t>• git checkout &lt;commit&gt;</a:t>
            </a:r>
          </a:p>
          <a:p>
            <a:pPr>
              <a:spcBef>
                <a:spcPts val="1000"/>
              </a:spcBef>
              <a:defRPr sz="1800"/>
            </a:pPr>
            <a:r>
              <a:t>• git checkout main (돌아오기)</a:t>
            </a:r>
          </a:p>
          <a:p>
            <a:pPr>
              <a:spcBef>
                <a:spcPts val="1000"/>
              </a:spcBef>
              <a:defRPr sz="1800"/>
            </a:pPr>
            <a:r>
              <a:t>• git revert &lt;commit&gt;</a:t>
            </a:r>
          </a:p>
          <a:p>
            <a:pPr>
              <a:spcBef>
                <a:spcPts val="1000"/>
              </a:spcBef>
              <a:defRPr sz="1800"/>
            </a:pPr>
            <a:r>
              <a:t>• git reset --hard &lt;commit&gt;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브랜치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브랜치 명령어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branch              # 브랜치 목록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branch &lt;name&gt;       # 새 브랜치 생성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checkout &lt;branch&gt;  # 브랜치 전환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checkout -b &lt;name&gt; # 생성+전환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merge &lt;branch&gt;     # 병합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branch -d &lt;branch&gt; # 삭제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원격 저장소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원격 명령어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remote -v                    # 원격 저장소 확인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remote add origin &lt;URL&gt;     # 원격 추가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push origin main           # 푸시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pull origin main            # 풀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fetch origin               # 패치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Push/Pull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git push</a:t>
            </a:r>
          </a:p>
          <a:p>
            <a:pPr>
              <a:spcBef>
                <a:spcPts val="1000"/>
              </a:spcBef>
              <a:defRPr sz="1800"/>
            </a:pPr>
            <a:r>
              <a:t>• git push origin main</a:t>
            </a:r>
          </a:p>
          <a:p>
            <a:pPr>
              <a:spcBef>
                <a:spcPts val="1000"/>
              </a:spcBef>
              <a:defRPr sz="1800"/>
            </a:pPr>
            <a:r>
              <a:t>• git push -u origin main (최초)</a:t>
            </a:r>
          </a:p>
          <a:p>
            <a:pPr>
              <a:spcBef>
                <a:spcPts val="1000"/>
              </a:spcBef>
              <a:defRPr sz="1800"/>
            </a:pPr>
            <a:r>
              <a:t>• git push origin &lt;branch&gt;</a:t>
            </a:r>
          </a:p>
          <a:p>
            <a:pPr>
              <a:spcBef>
                <a:spcPts val="1000"/>
              </a:spcBef>
              <a:defRPr sz="1800"/>
            </a:pPr>
            <a:r>
              <a:t>• git push --force (주의!)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git pull</a:t>
            </a:r>
          </a:p>
          <a:p>
            <a:pPr>
              <a:spcBef>
                <a:spcPts val="1000"/>
              </a:spcBef>
              <a:defRPr sz="1800"/>
            </a:pPr>
            <a:r>
              <a:t>• git pull origin main</a:t>
            </a:r>
          </a:p>
          <a:p>
            <a:pPr>
              <a:spcBef>
                <a:spcPts val="1000"/>
              </a:spcBef>
              <a:defRPr sz="1800"/>
            </a:pPr>
            <a:r>
              <a:t>• git pull --rebase origin main</a:t>
            </a:r>
          </a:p>
          <a:p>
            <a:pPr>
              <a:spcBef>
                <a:spcPts val="1000"/>
              </a:spcBef>
              <a:defRPr sz="1800"/>
            </a:pPr>
            <a:r>
              <a:t>• git fetch + git merge</a:t>
            </a:r>
          </a:p>
          <a:p>
            <a:pPr>
              <a:spcBef>
                <a:spcPts val="1000"/>
              </a:spcBef>
              <a:defRPr sz="1800"/>
            </a:pPr>
            <a:r>
              <a:t>• conflict 해결 방법 배움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실용 명령어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자주 사용하는 명령어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status              # 상태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diff                # 변경사항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diff --staged       # 스테이징 영역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log --oneline -n 5 # 최근 5개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stash               # 임시 저장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stash pop          # 복원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Undo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작업 취소</a:t>
            </a:r>
          </a:p>
          <a:p>
            <a:pPr>
              <a:spcBef>
                <a:spcPts val="1000"/>
              </a:spcBef>
              <a:defRPr sz="1800"/>
            </a:pPr>
            <a:r>
              <a:t>• git checkout -- &lt;file&gt;</a:t>
            </a:r>
          </a:p>
          <a:p>
            <a:pPr>
              <a:spcBef>
                <a:spcPts val="1000"/>
              </a:spcBef>
              <a:defRPr sz="1800"/>
            </a:pPr>
            <a:r>
              <a:t>• git restore &lt;file&gt;</a:t>
            </a:r>
          </a:p>
          <a:p>
            <a:pPr>
              <a:spcBef>
                <a:spcPts val="1000"/>
              </a:spcBef>
              <a:defRPr sz="1800"/>
            </a:pPr>
            <a:r>
              <a:t>• git restore --staged &lt;file&gt;</a:t>
            </a:r>
          </a:p>
          <a:p>
            <a:pPr>
              <a:spcBef>
                <a:spcPts val="1000"/>
              </a:spcBef>
              <a:defRPr sz="1800"/>
            </a:pPr>
            <a:r>
              <a:t>• git reset HEAD &lt;file&gt;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30352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6600"/>
                </a:solidFill>
              </a:defRPr>
            </a:pPr>
            <a:r>
              <a:t>커밋 취소</a:t>
            </a:r>
          </a:p>
          <a:p>
            <a:pPr>
              <a:spcBef>
                <a:spcPts val="1000"/>
              </a:spcBef>
              <a:defRPr sz="1800"/>
            </a:pPr>
            <a:r>
              <a:t>• git reset --soft HEAD~1</a:t>
            </a:r>
          </a:p>
          <a:p>
            <a:pPr>
              <a:spcBef>
                <a:spcPts val="1000"/>
              </a:spcBef>
              <a:defRPr sz="1800"/>
            </a:pPr>
            <a:r>
              <a:t>• git reset --mixed HEAD~1</a:t>
            </a:r>
          </a:p>
          <a:p>
            <a:pPr>
              <a:spcBef>
                <a:spcPts val="1000"/>
              </a:spcBef>
              <a:defRPr sz="1800"/>
            </a:pPr>
            <a:r>
              <a:t>• git reset --hard HEAD~1 (주의!)</a:t>
            </a:r>
          </a:p>
          <a:p>
            <a:pPr>
              <a:spcBef>
                <a:spcPts val="1000"/>
              </a:spcBef>
              <a:defRPr sz="1800"/>
            </a:pPr>
            <a:r>
              <a:t>• git revert &lt;commit&gt;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협업 Workflow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권장 협업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main 브랜치는保护的</a:t>
            </a:r>
          </a:p>
          <a:p>
            <a:pPr>
              <a:spcBef>
                <a:spcPts val="1400"/>
              </a:spcBef>
              <a:defRPr sz="2200"/>
            </a:pPr>
            <a:r>
              <a:t>• 기능 개발은 feature 브랜치에서</a:t>
            </a:r>
          </a:p>
          <a:p>
            <a:pPr>
              <a:spcBef>
                <a:spcPts val="1400"/>
              </a:spcBef>
              <a:defRPr sz="2200"/>
            </a:pPr>
            <a:r>
              <a:t>• Pull Request로 병합 요청</a:t>
            </a:r>
          </a:p>
          <a:p>
            <a:pPr>
              <a:spcBef>
                <a:spcPts val="1400"/>
              </a:spcBef>
              <a:defRPr sz="2200"/>
            </a:pPr>
            <a:r>
              <a:t>• 코드 리뷰 후 merge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기능 개발流程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1277295" cy="4572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checkout -b feature/login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working...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add . &amp;&amp; git commit -m "Add login"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git push origin feature/login</a:t>
            </a:r>
          </a:p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Pull Request 생성 → 리뷰 → merge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74320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요약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200"/>
            </a:pPr>
            <a:r>
              <a:t>• git init / clone - 시작</a:t>
            </a:r>
          </a:p>
          <a:p>
            <a:pPr>
              <a:spcBef>
                <a:spcPts val="1400"/>
              </a:spcBef>
              <a:defRPr sz="2200"/>
            </a:pPr>
            <a:r>
              <a:t>• add + commit - 저장</a:t>
            </a:r>
          </a:p>
          <a:p>
            <a:pPr>
              <a:spcBef>
                <a:spcPts val="1400"/>
              </a:spcBef>
              <a:defRPr sz="2200"/>
            </a:pPr>
            <a:r>
              <a:t>• branch - 기능 개발</a:t>
            </a:r>
          </a:p>
          <a:p>
            <a:pPr>
              <a:spcBef>
                <a:spcPts val="1400"/>
              </a:spcBef>
              <a:defRPr sz="2200"/>
            </a:pPr>
            <a:r>
              <a:t>• push / pull - 협업</a:t>
            </a:r>
          </a:p>
          <a:p>
            <a:pPr>
              <a:spcBef>
                <a:spcPts val="1400"/>
              </a:spcBef>
              <a:defRPr sz="2200"/>
            </a:pPr>
            <a:r>
              <a:t>• 이해가 안 되면 git status!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1371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다음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실전에서 연습하기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