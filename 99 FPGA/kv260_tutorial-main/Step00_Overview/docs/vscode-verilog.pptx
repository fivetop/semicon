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VSCode Verilog 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가벼운 환경에서 Verilog 코딩 및 시뮬레이션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왜 VSCode인가?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Vivado 없이 가벼운 개발 환경</a:t>
            </a:r>
          </a:p>
          <a:p>
            <a:pPr>
              <a:spcBef>
                <a:spcPts val="1400"/>
              </a:spcBef>
              <a:defRPr sz="2200"/>
            </a:pPr>
            <a:r>
              <a:t>• 문법 하이라이팅 및 자동 완성</a:t>
            </a:r>
          </a:p>
          <a:p>
            <a:pPr>
              <a:spcBef>
                <a:spcPts val="1400"/>
              </a:spcBef>
              <a:defRPr sz="2200"/>
            </a:pPr>
            <a:r>
              <a:t>• 실시간 린팅 및 포맷팅</a:t>
            </a:r>
          </a:p>
          <a:p>
            <a:pPr>
              <a:spcBef>
                <a:spcPts val="1400"/>
              </a:spcBef>
              <a:defRPr sz="2200"/>
            </a:pPr>
            <a:r>
              <a:t>• 시뮬레이션 지원 (Icarus Verilog + GTKWave)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VSCode 설치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다운로드 위치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공식 웹사이트: code.visualstudio.com</a:t>
            </a:r>
          </a:p>
          <a:p>
            <a:pPr>
              <a:spcBef>
                <a:spcPts val="1400"/>
              </a:spcBef>
              <a:defRPr sz="2200"/>
            </a:pPr>
            <a:r>
              <a:t>• Download 버튼 클릭</a:t>
            </a:r>
          </a:p>
          <a:p>
            <a:pPr>
              <a:spcBef>
                <a:spcPts val="1400"/>
              </a:spcBef>
              <a:defRPr sz="2200"/>
            </a:pPr>
            <a:r>
              <a:t>• OS 선택 (Windows/Linux/Mac)</a:t>
            </a:r>
          </a:p>
          <a:p>
            <a:pPr>
              <a:spcBef>
                <a:spcPts val="1400"/>
              </a:spcBef>
              <a:defRPr sz="2200"/>
            </a:pPr>
            <a:r>
              <a:t>• .deb (Ubuntu), .rpm (Fedora), .dmg (Mac)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설치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Ubuntu (APT 저장소)</a:t>
            </a:r>
          </a:p>
          <a:p>
            <a:pPr>
              <a:spcBef>
                <a:spcPts val="1000"/>
              </a:spcBef>
              <a:defRPr sz="1800"/>
            </a:pPr>
            <a:r>
              <a:t>• wget -qO- https://packages.microsoft.com/keys/microsoft.asc | gpg --dearmor</a:t>
            </a:r>
          </a:p>
          <a:p>
            <a:pPr>
              <a:spcBef>
                <a:spcPts val="1000"/>
              </a:spcBef>
              <a:defRPr sz="1800"/>
            </a:pPr>
            <a:r>
              <a:t>• sudo install -D -o root -g root -m 644 microsoft.gpg /usr/share/keyrings/</a:t>
            </a:r>
          </a:p>
          <a:p>
            <a:pPr>
              <a:spcBef>
                <a:spcPts val="1000"/>
              </a:spcBef>
              <a:defRPr sz="1800"/>
            </a:pPr>
            <a:r>
              <a:t>• echo "deb [arch=amd64 signed-by=/usr/share/keyrings/microsoft.gpg] https://packages.microsoft.com/repos/code stable main" | sudo tee /etc/apt/sources.list.d/vscode.list</a:t>
            </a:r>
          </a:p>
          <a:p>
            <a:pPr>
              <a:spcBef>
                <a:spcPts val="1000"/>
              </a:spcBef>
              <a:defRPr sz="1800"/>
            </a:pPr>
            <a:r>
              <a:t>• sudo apt update &amp;&amp; sudo apt install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Ubuntu (.deb 파일)</a:t>
            </a:r>
          </a:p>
          <a:p>
            <a:pPr>
              <a:spcBef>
                <a:spcPts val="1000"/>
              </a:spcBef>
              <a:defRPr sz="1800"/>
            </a:pPr>
            <a:r>
              <a:t>• code.visualstudio.com에서 .deb 다운로드</a:t>
            </a:r>
          </a:p>
          <a:p>
            <a:pPr>
              <a:spcBef>
                <a:spcPts val="1000"/>
              </a:spcBef>
              <a:defRPr sz="1800"/>
            </a:pPr>
            <a:r>
              <a:t>• cd ~/Downloads</a:t>
            </a:r>
          </a:p>
          <a:p>
            <a:pPr>
              <a:spcBef>
                <a:spcPts val="1000"/>
              </a:spcBef>
              <a:defRPr sz="1800"/>
            </a:pPr>
            <a:r>
              <a:t>• sudo apt install ./code_*.deb</a:t>
            </a:r>
          </a:p>
          <a:p>
            <a:pPr>
              <a:spcBef>
                <a:spcPts val="1000"/>
              </a:spcBef>
              <a:defRPr sz="1800"/>
            </a:pPr>
            <a:r>
              <a:t>• code --version (확인)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Windows/Mac 설치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Windows</a:t>
            </a:r>
          </a:p>
          <a:p>
            <a:pPr>
              <a:spcBef>
                <a:spcPts val="1000"/>
              </a:spcBef>
              <a:defRPr sz="1800"/>
            </a:pPr>
            <a:r>
              <a:t>• code.visualstudio.com에서 User Installer 다운로드</a:t>
            </a:r>
          </a:p>
          <a:p>
            <a:pPr>
              <a:spcBef>
                <a:spcPts val="1000"/>
              </a:spcBef>
              <a:defRPr sz="1800"/>
            </a:pPr>
            <a:r>
              <a:t>• 실행 → 라이선스 동의 → 설치 위치 선택</a:t>
            </a:r>
          </a:p>
          <a:p>
            <a:pPr>
              <a:spcBef>
                <a:spcPts val="1000"/>
              </a:spcBef>
              <a:defRPr sz="1800"/>
            </a:pPr>
            <a:r>
              <a:t>• 바탕화면에 바로가기 추가</a:t>
            </a:r>
          </a:p>
          <a:p>
            <a:pPr>
              <a:spcBef>
                <a:spcPts val="1000"/>
              </a:spcBef>
              <a:defRPr sz="1800"/>
            </a:pPr>
            <a:r>
              <a:t>• Code → Install 'code' command (PATH 추가)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macOS</a:t>
            </a:r>
          </a:p>
          <a:p>
            <a:pPr>
              <a:spcBef>
                <a:spcPts val="1000"/>
              </a:spcBef>
              <a:defRPr sz="1800"/>
            </a:pPr>
            <a:r>
              <a:t>• code.visualstudio.com에서 Universal 다운로드</a:t>
            </a:r>
          </a:p>
          <a:p>
            <a:pPr>
              <a:spcBef>
                <a:spcPts val="1000"/>
              </a:spcBef>
              <a:defRPr sz="1800"/>
            </a:pPr>
            <a:r>
              <a:t>• Download 폴더에서 .zip 압축 해제</a:t>
            </a:r>
          </a:p>
          <a:p>
            <a:pPr>
              <a:spcBef>
                <a:spcPts val="1000"/>
              </a:spcBef>
              <a:defRPr sz="1800"/>
            </a:pPr>
            <a:r>
              <a:t>• Visual Studio Code.app을 /Applications으로 이동</a:t>
            </a:r>
          </a:p>
          <a:p>
            <a:pPr>
              <a:spcBef>
                <a:spcPts val="1000"/>
              </a:spcBef>
              <a:defRPr sz="1800"/>
            </a:pPr>
            <a:r>
              <a:t>• Command Palette → Shell Command: Install 'code'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확장 프로그램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필수 확장 프로그램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Verilog-HDL (mshr-h) - 문법 하이라이팅</a:t>
            </a:r>
          </a:p>
          <a:p>
            <a:pPr>
              <a:spcBef>
                <a:spcPts val="1400"/>
              </a:spcBef>
              <a:defRPr sz="2200"/>
            </a:pPr>
            <a:r>
              <a:t>• SystemVerilog (AndrewNolte) - linting</a:t>
            </a:r>
          </a:p>
          <a:p>
            <a:pPr>
              <a:spcBef>
                <a:spcPts val="1400"/>
              </a:spcBef>
              <a:defRPr sz="2200"/>
            </a:pPr>
            <a:r>
              <a:t>• Verilog Formatter - 코드 포맷팅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확장 프로그램 설치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VSCode에서</a:t>
            </a:r>
          </a:p>
          <a:p>
            <a:pPr>
              <a:spcBef>
                <a:spcPts val="1000"/>
              </a:spcBef>
              <a:defRPr sz="1800"/>
            </a:pPr>
            <a:r>
              <a:t>• Ctrl+Shift+X로 확장 탭 열기</a:t>
            </a:r>
          </a:p>
          <a:p>
            <a:pPr>
              <a:spcBef>
                <a:spcPts val="1000"/>
              </a:spcBef>
              <a:defRPr sz="1800"/>
            </a:pPr>
            <a:r>
              <a:t>• 검색창에 이름 입력</a:t>
            </a:r>
          </a:p>
          <a:p>
            <a:pPr>
              <a:spcBef>
                <a:spcPts val="1000"/>
              </a:spcBef>
              <a:defRPr sz="1800"/>
            </a:pPr>
            <a:r>
              <a:t>• Install 클릭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Marketplace</a:t>
            </a:r>
          </a:p>
          <a:p>
            <a:pPr>
              <a:spcBef>
                <a:spcPts val="1000"/>
              </a:spcBef>
              <a:defRPr sz="1800"/>
            </a:pPr>
            <a:r>
              <a:t>• Verilog-HDL: 130만+ 설치</a:t>
            </a:r>
          </a:p>
          <a:p>
            <a:pPr>
              <a:spcBef>
                <a:spcPts val="1000"/>
              </a:spcBef>
              <a:defRPr sz="1800"/>
            </a:pPr>
            <a:r>
              <a:t>• SystemVerilog: 무료</a:t>
            </a:r>
          </a:p>
          <a:p>
            <a:pPr>
              <a:spcBef>
                <a:spcPts val="1000"/>
              </a:spcBef>
              <a:defRPr sz="1800"/>
            </a:pPr>
            <a:r>
              <a:t>• Marketplace.visualstudio.com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유틸리티 설치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필수 도구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시뮬레이터</a:t>
            </a:r>
          </a:p>
          <a:p>
            <a:pPr>
              <a:spcBef>
                <a:spcPts val="1000"/>
              </a:spcBef>
              <a:defRPr sz="1800"/>
            </a:pPr>
            <a:r>
              <a:t>• Icarus Verilog (iverilog)</a:t>
            </a:r>
          </a:p>
          <a:p>
            <a:pPr>
              <a:spcBef>
                <a:spcPts val="1000"/>
              </a:spcBef>
              <a:defRPr sz="1800"/>
            </a:pPr>
            <a:r>
              <a:t>• GTKWave ( waveform 뷰어)</a:t>
            </a:r>
          </a:p>
          <a:p>
            <a:pPr>
              <a:spcBef>
                <a:spcPts val="1000"/>
              </a:spcBef>
              <a:defRPr sz="1800"/>
            </a:pPr>
            <a:r>
              <a:t>• sudo apt install iverilog gtkwave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symbol 분석</a:t>
            </a:r>
          </a:p>
          <a:p>
            <a:pPr>
              <a:spcBef>
                <a:spcPts val="1000"/>
              </a:spcBef>
              <a:defRPr sz="1800"/>
            </a:pPr>
            <a:r>
              <a:t>• Universal Ctags</a:t>
            </a:r>
          </a:p>
          <a:p>
            <a:pPr>
              <a:spcBef>
                <a:spcPts val="1000"/>
              </a:spcBef>
              <a:defRPr sz="1800"/>
            </a:pPr>
            <a:r>
              <a:t>• 정의 이동, 참조 찾기</a:t>
            </a:r>
          </a:p>
          <a:p>
            <a:pPr>
              <a:spcBef>
                <a:spcPts val="1000"/>
              </a:spcBef>
              <a:defRPr sz="1800"/>
            </a:pPr>
            <a:r>
              <a:t>• brew install universal-ctags (macOS)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VSCode 설정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settings.json 예시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{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"verilog.ctags.path": "/usr/bin/ctags-universal",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"verilog.lint.slang.enabled": true,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"editor.formatOnSave": true,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"[verilog]": {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"editor.defaultFormatter": "bmpenuelas..."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시뮬레이션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실행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iverilog -o design design.v tb_design.v</a:t>
            </a:r>
          </a:p>
          <a:p>
            <a:pPr>
              <a:spcBef>
                <a:spcPts val="1400"/>
              </a:spcBef>
              <a:defRPr sz="2200"/>
            </a:pPr>
            <a:r>
              <a:t>• vvp design (시뮬레이션 실행)</a:t>
            </a:r>
          </a:p>
          <a:p>
            <a:pPr>
              <a:spcBef>
                <a:spcPts val="1400"/>
              </a:spcBef>
              <a:defRPr sz="2200"/>
            </a:pPr>
            <a:r>
              <a:t>• gtkwave design.vcd (波形 확인)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테스트bench 예시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module tb_dff;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reg d, clk, rstn;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wire q;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dff uut (.d(d), .clk(clk), .rstn(rstn), .q(q));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initial begin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clk = 0;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forever #5 clk = ~clk;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end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initial begin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rstn = 0; d = 0;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#10 rstn = 1;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#20 $finish;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end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endmodule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단축키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유용한 단축키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F12 - 정의로 이동</a:t>
            </a:r>
          </a:p>
          <a:p>
            <a:pPr>
              <a:spcBef>
                <a:spcPts val="1400"/>
              </a:spcBef>
              <a:defRPr sz="2200"/>
            </a:pPr>
            <a:r>
              <a:t>• Shift+F12 - 참조 찾기</a:t>
            </a:r>
          </a:p>
          <a:p>
            <a:pPr>
              <a:spcBef>
                <a:spcPts val="1400"/>
              </a:spcBef>
              <a:defRPr sz="2200"/>
            </a:pPr>
            <a:r>
              <a:t>• Ctrl+Shift+P - Command Palette</a:t>
            </a:r>
          </a:p>
          <a:p>
            <a:pPr>
              <a:spcBef>
                <a:spcPts val="1400"/>
              </a:spcBef>
              <a:defRPr sz="2200"/>
            </a:pPr>
            <a:r>
              <a:t>• Ctrl+Shift+P → Format Document - 포맷팅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프로젝트 구조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권장 디렉토리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project/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├── src/         # RTL 소스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│   ├── dff.v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│   └── adder.v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├── sim/         # 테스트벤치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│   └── tb_dff.v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├── constraints/ # XDC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│   └── pin.xdc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└── .vscode/    # 설정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└── settings.json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VSCode + 확장 프로그램으로 가벼운 개발 환경</a:t>
            </a:r>
          </a:p>
          <a:p>
            <a:pPr>
              <a:spcBef>
                <a:spcPts val="1400"/>
              </a:spcBef>
              <a:defRPr sz="2200"/>
            </a:pPr>
            <a:r>
              <a:t>• Icarus Verilog + GTKWave로 시뮬레이션</a:t>
            </a:r>
          </a:p>
          <a:p>
            <a:pPr>
              <a:spcBef>
                <a:spcPts val="1400"/>
              </a:spcBef>
              <a:defRPr sz="2200"/>
            </a:pPr>
            <a:r>
              <a:t>• Universal Ctags로 symbol 분석</a:t>
            </a:r>
          </a:p>
          <a:p>
            <a:pPr>
              <a:spcBef>
                <a:spcPts val="1400"/>
              </a:spcBef>
              <a:defRPr sz="2200"/>
            </a:pPr>
            <a:r>
              <a:t>• Vivado 없이도 충분히 실습 가능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Vivado 프로젝트로 FPGA 합성하기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