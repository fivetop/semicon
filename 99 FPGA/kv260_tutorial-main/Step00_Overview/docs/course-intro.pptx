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58" r:id="rId5"/>
    <p:sldId id="260" r:id="rId6"/>
    <p:sldId id="28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4" r:id="rId16"/>
    <p:sldId id="276" r:id="rId17"/>
    <p:sldId id="275" r:id="rId18"/>
    <p:sldId id="279" r:id="rId19"/>
    <p:sldId id="277" r:id="rId20"/>
    <p:sldId id="278" r:id="rId21"/>
    <p:sldId id="280" r:id="rId22"/>
    <p:sldId id="282" r:id="rId23"/>
    <p:sldId id="283" r:id="rId24"/>
    <p:sldId id="284" r:id="rId25"/>
    <p:sldId id="285" r:id="rId26"/>
    <p:sldId id="271" r:id="rId27"/>
    <p:sldId id="270" r:id="rId28"/>
    <p:sldId id="27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8" d="100"/>
          <a:sy n="148" d="100"/>
        </p:scale>
        <p:origin x="120" y="1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code.visualstudio.com/" TargetMode="Externa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xilinx.com/support/download.html" TargetMode="Externa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xilinx.github.io/kria-apps-docs/kv260/2022.1/linux_boot/ubuntu_22_04/build/html/docs/sdcard.html" TargetMode="Externa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KV260 Vivado 교육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Kria Vision AI Starter Kit으로 배우는 FPGA 설계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교육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F41A0F6-2902-FC10-1F64-BC14F658C76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8251668-4372-148D-6BF6-A442A7FD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Who am I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CE2BA67-CDBE-3D32-C313-456D555EABFC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036EEE-4118-0F14-D0E4-27D43636A650}"/>
              </a:ext>
            </a:extLst>
          </p:cNvPr>
          <p:cNvSpPr txBox="1"/>
          <p:nvPr/>
        </p:nvSpPr>
        <p:spPr>
          <a:xfrm>
            <a:off x="640080" y="1157671"/>
            <a:ext cx="109728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333333"/>
                </a:solidFill>
              </a:defRPr>
            </a:pPr>
            <a:r>
              <a:rPr lang="en-US" altLang="ko-KR" b="1" dirty="0"/>
              <a:t>Career History</a:t>
            </a:r>
          </a:p>
          <a:p>
            <a:pPr marL="800100" lvl="1" indent="-342900">
              <a:spcAft>
                <a:spcPts val="1200"/>
              </a:spcAft>
              <a:buFont typeface="+mj-lt"/>
              <a:buAutoNum type="alphaUcPeriod"/>
              <a:defRPr sz="2000">
                <a:solidFill>
                  <a:srgbClr val="333333"/>
                </a:solidFill>
              </a:defRPr>
            </a:pPr>
            <a:r>
              <a:rPr lang="ko-KR" altLang="en-US" sz="1400" b="1" dirty="0"/>
              <a:t>삼성전자 </a:t>
            </a:r>
            <a:r>
              <a:rPr lang="en-US" altLang="ko-KR" sz="1400" b="1" dirty="0" err="1"/>
              <a:t>SystemLSI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사업부 연구소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책임연구원</a:t>
            </a:r>
            <a:endParaRPr lang="en-US" altLang="ko-KR" sz="1400" b="1" dirty="0"/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200" dirty="0"/>
              <a:t>Designed and Developed a Sigma-Delta Audio Codec Chip</a:t>
            </a:r>
            <a:endParaRPr lang="en-US" altLang="ko-KR" sz="1200" dirty="0"/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ko-KR" altLang="en-US" sz="1200" dirty="0" err="1"/>
              <a:t>가로본능폰</a:t>
            </a:r>
            <a:r>
              <a:rPr lang="en-US" altLang="ko-KR" sz="1200" dirty="0"/>
              <a:t>(SCH-V500): Designed and Developed a Video Encoder Chip(TV</a:t>
            </a:r>
            <a:r>
              <a:rPr lang="ko-KR" altLang="en-US" sz="1200" dirty="0"/>
              <a:t>출력</a:t>
            </a:r>
            <a:r>
              <a:rPr lang="en-US" altLang="ko-KR" sz="1200" dirty="0"/>
              <a:t>) – </a:t>
            </a:r>
            <a:r>
              <a:rPr lang="ko-KR" altLang="en-US" sz="1200" dirty="0"/>
              <a:t>한국최초 </a:t>
            </a:r>
            <a:r>
              <a:rPr lang="en-US" altLang="ko-KR" sz="1200" dirty="0"/>
              <a:t>DMB </a:t>
            </a:r>
            <a:r>
              <a:rPr lang="ko-KR" altLang="en-US" sz="1200" dirty="0"/>
              <a:t>폰</a:t>
            </a:r>
            <a:endParaRPr lang="en-US" altLang="ko-KR" sz="1200" dirty="0"/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ko-KR" altLang="en-US" sz="1200" dirty="0" err="1"/>
              <a:t>옵니아폰</a:t>
            </a:r>
            <a:r>
              <a:rPr lang="en-US" altLang="ko-KR" sz="1200" dirty="0"/>
              <a:t>(SCH-M490): Designed and Developed a Video Enhancement Chip(Outdoor </a:t>
            </a:r>
            <a:r>
              <a:rPr lang="ko-KR" altLang="en-US" sz="1200" dirty="0"/>
              <a:t>화질 개선</a:t>
            </a:r>
            <a:r>
              <a:rPr lang="en-US" altLang="ko-KR" sz="1200" dirty="0"/>
              <a:t>) – </a:t>
            </a:r>
            <a:r>
              <a:rPr lang="ko-KR" altLang="en-US" sz="1200" dirty="0"/>
              <a:t>한국최초 스마트폰</a:t>
            </a:r>
            <a:endParaRPr lang="en-US" sz="1200" dirty="0"/>
          </a:p>
          <a:p>
            <a:pPr marL="800100" lvl="1" indent="-342900">
              <a:spcAft>
                <a:spcPts val="1200"/>
              </a:spcAft>
              <a:buFont typeface="+mj-lt"/>
              <a:buAutoNum type="alphaUcPeriod"/>
              <a:defRPr sz="2000">
                <a:solidFill>
                  <a:srgbClr val="333333"/>
                </a:solidFill>
              </a:defRPr>
            </a:pPr>
            <a:r>
              <a:rPr lang="ko-KR" altLang="en-US" sz="1400" b="1" dirty="0"/>
              <a:t>㈜</a:t>
            </a:r>
            <a:r>
              <a:rPr lang="ko-KR" altLang="en-US" sz="1400" b="1" dirty="0" err="1"/>
              <a:t>이미지스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연구소장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개발이사</a:t>
            </a:r>
            <a:r>
              <a:rPr lang="en-US" altLang="ko-KR" sz="1400" b="1" dirty="0"/>
              <a:t>)</a:t>
            </a:r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ko-KR" altLang="en-US" sz="1200" dirty="0"/>
              <a:t>삼성전자와 협업</a:t>
            </a:r>
            <a:r>
              <a:rPr lang="en-US" altLang="ko-KR" sz="1200" dirty="0"/>
              <a:t>(</a:t>
            </a:r>
            <a:r>
              <a:rPr lang="ko-KR" altLang="en-US" sz="1200" dirty="0"/>
              <a:t>스펙</a:t>
            </a:r>
            <a:r>
              <a:rPr lang="en-US" altLang="ko-KR" sz="1200" dirty="0"/>
              <a:t>/ </a:t>
            </a:r>
            <a:r>
              <a:rPr lang="ko-KR" altLang="en-US" sz="1200" dirty="0"/>
              <a:t>개발</a:t>
            </a:r>
            <a:r>
              <a:rPr lang="en-US" altLang="ko-KR" sz="1200" dirty="0"/>
              <a:t>) – Designed and Developed a Haptic Moter Driver IC</a:t>
            </a:r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ko-KR" altLang="en-US" sz="1200" dirty="0"/>
              <a:t>한국주식시장 상장</a:t>
            </a:r>
            <a:endParaRPr sz="1200" dirty="0"/>
          </a:p>
          <a:p>
            <a:pPr marL="800100" lvl="1" indent="-342900">
              <a:spcAft>
                <a:spcPts val="1200"/>
              </a:spcAft>
              <a:buFont typeface="+mj-lt"/>
              <a:buAutoNum type="alphaUcPeriod"/>
              <a:defRPr sz="2000">
                <a:solidFill>
                  <a:srgbClr val="333333"/>
                </a:solidFill>
              </a:defRPr>
            </a:pPr>
            <a:r>
              <a:rPr lang="en-US" sz="1400" b="1" dirty="0"/>
              <a:t>LG</a:t>
            </a:r>
            <a:r>
              <a:rPr lang="ko-KR" altLang="en-US" sz="1400" b="1" dirty="0"/>
              <a:t>반도체 연구소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수석연구원</a:t>
            </a:r>
            <a:endParaRPr lang="en-US" altLang="ko-KR" sz="1400" b="1" dirty="0"/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200" dirty="0"/>
              <a:t>Developed the Virtual Simulation and Emulation Environment</a:t>
            </a:r>
            <a:endParaRPr sz="1200" dirty="0"/>
          </a:p>
          <a:p>
            <a:pPr marL="800100" lvl="1" indent="-342900">
              <a:spcAft>
                <a:spcPts val="1200"/>
              </a:spcAft>
              <a:buFont typeface="+mj-lt"/>
              <a:buAutoNum type="alphaUcPeriod"/>
              <a:defRPr sz="2000">
                <a:solidFill>
                  <a:srgbClr val="333333"/>
                </a:solidFill>
              </a:defRPr>
            </a:pPr>
            <a:r>
              <a:rPr lang="ko-KR" altLang="en-US" sz="1400" b="1" dirty="0" err="1"/>
              <a:t>제네시스로직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AI</a:t>
            </a:r>
            <a:r>
              <a:rPr lang="ko-KR" altLang="en-US" sz="1400" b="1" dirty="0"/>
              <a:t>연구소</a:t>
            </a:r>
            <a:r>
              <a:rPr lang="en-US" altLang="ko-KR" sz="1400" b="1" dirty="0"/>
              <a:t>: Senior Engineer (</a:t>
            </a:r>
            <a:r>
              <a:rPr lang="ko-KR" altLang="en-US" sz="1400" b="1" dirty="0"/>
              <a:t>대만회사</a:t>
            </a:r>
            <a:r>
              <a:rPr lang="en-US" altLang="ko-KR" sz="1400" b="1" dirty="0"/>
              <a:t>)</a:t>
            </a:r>
          </a:p>
          <a:p>
            <a:pPr marL="1257300" lvl="2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200" dirty="0"/>
              <a:t>Developed the CNN(Convolution Neural Network) Inference Chip(</a:t>
            </a:r>
            <a:r>
              <a:rPr lang="ko-KR" altLang="en-US" sz="1200" dirty="0"/>
              <a:t>사물인식</a:t>
            </a:r>
            <a:r>
              <a:rPr lang="en-US" altLang="ko-KR" sz="1200" dirty="0"/>
              <a:t>)</a:t>
            </a:r>
            <a:r>
              <a:rPr lang="en-US" sz="1200" dirty="0"/>
              <a:t>  &amp; Transformer </a:t>
            </a:r>
            <a:r>
              <a:rPr lang="en-US" sz="1200" dirty="0" err="1"/>
              <a:t>Algorithsm</a:t>
            </a:r>
            <a:r>
              <a:rPr lang="en-US" sz="1200" dirty="0"/>
              <a:t>(</a:t>
            </a:r>
            <a:r>
              <a:rPr lang="ko-KR" altLang="en-US" sz="1200" dirty="0"/>
              <a:t>생성형</a:t>
            </a:r>
            <a:r>
              <a:rPr lang="en-US" altLang="ko-KR" sz="1200" dirty="0"/>
              <a:t>AI)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  <a:defRPr sz="2000">
                <a:solidFill>
                  <a:srgbClr val="333333"/>
                </a:solidFill>
              </a:defRPr>
            </a:pPr>
            <a:r>
              <a:rPr lang="en-US" sz="2000" b="1" dirty="0"/>
              <a:t>Technical Skills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333333"/>
                </a:solidFill>
              </a:defRPr>
            </a:pPr>
            <a:r>
              <a:rPr lang="en-US" sz="1400" b="1" dirty="0"/>
              <a:t>Hardware/ Firmware/ Software Development, RTL Coding, Embedded Systems, FPGA Development,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333333"/>
                </a:solidFill>
              </a:defRPr>
            </a:pPr>
            <a:r>
              <a:rPr lang="en-US" sz="1400" b="1" dirty="0"/>
              <a:t>C/C++ Language, Verilog-HDL, Python, Shell Script</a:t>
            </a: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691109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DE55FB0-1CB5-A35B-C623-F7A555F6DAD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커리큘럼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개요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4820"/>
            <a:ext cx="8229600" cy="4525963"/>
          </a:xfrm>
        </p:spPr>
        <p:txBody>
          <a:bodyPr>
            <a:normAutofit/>
          </a:bodyPr>
          <a:lstStyle/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/>
              <a:t>KV260 FPGA </a:t>
            </a:r>
            <a:r>
              <a:rPr dirty="0" err="1"/>
              <a:t>교육</a:t>
            </a:r>
            <a:r>
              <a:rPr dirty="0"/>
              <a:t> </a:t>
            </a:r>
            <a:r>
              <a:rPr dirty="0" err="1"/>
              <a:t>프로그램</a:t>
            </a:r>
            <a:r>
              <a:rPr dirty="0"/>
              <a:t> (5단계)</a:t>
            </a:r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대상</a:t>
            </a:r>
            <a:r>
              <a:rPr dirty="0"/>
              <a:t>: </a:t>
            </a:r>
            <a:r>
              <a:rPr dirty="0" err="1"/>
              <a:t>반도체설계</a:t>
            </a:r>
            <a:r>
              <a:rPr dirty="0"/>
              <a:t> </a:t>
            </a:r>
            <a:r>
              <a:rPr dirty="0" err="1"/>
              <a:t>신입</a:t>
            </a:r>
            <a:r>
              <a:rPr dirty="0"/>
              <a:t> </a:t>
            </a:r>
            <a:r>
              <a:rPr dirty="0" err="1"/>
              <a:t>엔지니어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일정</a:t>
            </a:r>
            <a:r>
              <a:rPr dirty="0"/>
              <a:t>: </a:t>
            </a:r>
            <a:r>
              <a:rPr lang="en-US" dirty="0"/>
              <a:t>2026.03.25 ~ 2026.04.15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하드웨어</a:t>
            </a:r>
            <a:r>
              <a:rPr dirty="0"/>
              <a:t>: KV260 </a:t>
            </a:r>
            <a:r>
              <a:rPr lang="en-US" dirty="0"/>
              <a:t>Starter Kit </a:t>
            </a:r>
            <a:r>
              <a:rPr dirty="0"/>
              <a:t>(</a:t>
            </a:r>
            <a:r>
              <a:rPr lang="ko-KR" altLang="en-US" dirty="0"/>
              <a:t>개인</a:t>
            </a:r>
            <a:r>
              <a:rPr dirty="0"/>
              <a:t> 1대)</a:t>
            </a:r>
            <a:endParaRPr lang="en-US"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lang="en-US" dirty="0" err="1"/>
              <a:t>Vivado</a:t>
            </a:r>
            <a:r>
              <a:rPr lang="en-US" dirty="0"/>
              <a:t>: 2021.02</a:t>
            </a:r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lang="ko-KR" altLang="en-US" dirty="0"/>
              <a:t>목표</a:t>
            </a:r>
            <a:endParaRPr lang="en-US" altLang="ko-KR" dirty="0"/>
          </a:p>
          <a:p>
            <a:pPr lvl="1">
              <a:spcBef>
                <a:spcPts val="1400"/>
              </a:spcBef>
              <a:buFont typeface="Arial" panose="020B0604020202020204" pitchFamily="34" charset="0"/>
              <a:buChar char="•"/>
              <a:defRPr sz="2200"/>
            </a:pPr>
            <a:r>
              <a:rPr lang="en-US" altLang="ko-KR" sz="1800" dirty="0" err="1"/>
              <a:t>Vivado</a:t>
            </a:r>
            <a:r>
              <a:rPr lang="ko-KR" altLang="en-US" sz="1800" dirty="0"/>
              <a:t> 기반 </a:t>
            </a:r>
            <a:r>
              <a:rPr lang="en-US" altLang="ko-KR" sz="1800" dirty="0"/>
              <a:t>FPGA </a:t>
            </a:r>
            <a:r>
              <a:rPr lang="ko-KR" altLang="en-US" sz="1800" dirty="0"/>
              <a:t>설계 역량 확보</a:t>
            </a:r>
            <a:endParaRPr lang="en-US" altLang="ko-KR" sz="1800" dirty="0"/>
          </a:p>
          <a:p>
            <a:pPr lvl="1">
              <a:spcBef>
                <a:spcPts val="1400"/>
              </a:spcBef>
              <a:buFont typeface="Arial" panose="020B0604020202020204" pitchFamily="34" charset="0"/>
              <a:buChar char="•"/>
              <a:defRPr sz="2200"/>
            </a:pPr>
            <a:r>
              <a:rPr lang="en-US" altLang="ko-KR" sz="1800" dirty="0"/>
              <a:t>PS-PL </a:t>
            </a:r>
            <a:r>
              <a:rPr lang="ko-KR" altLang="en-US" sz="1800" dirty="0"/>
              <a:t>통신 구현</a:t>
            </a:r>
            <a:endParaRPr lang="en-US" altLang="ko-KR" sz="1800" dirty="0"/>
          </a:p>
          <a:p>
            <a:pPr lvl="1">
              <a:spcBef>
                <a:spcPts val="1400"/>
              </a:spcBef>
              <a:buFont typeface="Arial" panose="020B0604020202020204" pitchFamily="34" charset="0"/>
              <a:buChar char="•"/>
              <a:defRPr sz="2200"/>
            </a:pPr>
            <a:r>
              <a:rPr lang="ko-KR" altLang="en-US" sz="1800" dirty="0"/>
              <a:t>비전 </a:t>
            </a:r>
            <a:r>
              <a:rPr lang="en-US" altLang="ko-KR" sz="1800" dirty="0"/>
              <a:t>AI </a:t>
            </a:r>
            <a:r>
              <a:rPr lang="ko-KR" altLang="en-US" sz="1800" dirty="0"/>
              <a:t>플랫폼 이해</a:t>
            </a:r>
            <a:endParaRPr sz="1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12B3604-8179-47B5-DFBC-14B10ACC0A32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00E4FE1-D2A4-D3C6-06A4-36B3C7337A09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796ACD-B76C-0850-3C87-457737449AA0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Zynq </a:t>
            </a:r>
            <a:r>
              <a:rPr lang="en-US" altLang="ko-KR" sz="3200" b="1" dirty="0" err="1">
                <a:solidFill>
                  <a:schemeClr val="bg1"/>
                </a:solidFill>
              </a:rPr>
              <a:t>UltraScale</a:t>
            </a:r>
            <a:r>
              <a:rPr lang="en-US" altLang="ko-KR" sz="3200" b="1" dirty="0">
                <a:solidFill>
                  <a:schemeClr val="bg1"/>
                </a:solidFill>
              </a:rPr>
              <a:t>+ </a:t>
            </a:r>
            <a:r>
              <a:rPr lang="en-US" altLang="ko-KR" sz="3200" b="1" dirty="0" err="1">
                <a:solidFill>
                  <a:schemeClr val="bg1"/>
                </a:solidFill>
              </a:rPr>
              <a:t>MPSoC</a:t>
            </a:r>
            <a:r>
              <a:rPr lang="en-US" altLang="ko-KR" sz="3200" b="1" dirty="0">
                <a:solidFill>
                  <a:schemeClr val="bg1"/>
                </a:solidFill>
              </a:rPr>
              <a:t> vs. </a:t>
            </a:r>
            <a:r>
              <a:rPr lang="en-US" altLang="ko-KR" sz="3200" b="1" dirty="0" err="1">
                <a:solidFill>
                  <a:schemeClr val="bg1"/>
                </a:solidFill>
              </a:rPr>
              <a:t>UltraScale</a:t>
            </a:r>
            <a:r>
              <a:rPr lang="en-US" altLang="ko-KR" sz="3200" b="1" dirty="0">
                <a:solidFill>
                  <a:schemeClr val="bg1"/>
                </a:solidFill>
              </a:rPr>
              <a:t>+ FPGA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E83703-73D3-9C64-BE34-159741A6BEB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F261A6-3859-B2FB-FE82-2E7AFAC5D206}"/>
              </a:ext>
            </a:extLst>
          </p:cNvPr>
          <p:cNvSpPr/>
          <p:nvPr/>
        </p:nvSpPr>
        <p:spPr>
          <a:xfrm>
            <a:off x="457200" y="1497521"/>
            <a:ext cx="6228084" cy="320204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Zynq </a:t>
            </a:r>
            <a:r>
              <a:rPr lang="en-US" altLang="ko-KR" dirty="0" err="1">
                <a:solidFill>
                  <a:schemeClr val="tx1"/>
                </a:solidFill>
              </a:rPr>
              <a:t>UltraScale</a:t>
            </a:r>
            <a:r>
              <a:rPr lang="en-US" altLang="ko-KR" dirty="0">
                <a:solidFill>
                  <a:schemeClr val="tx1"/>
                </a:solidFill>
              </a:rPr>
              <a:t>+ </a:t>
            </a:r>
            <a:r>
              <a:rPr lang="en-US" altLang="ko-KR" dirty="0" err="1">
                <a:solidFill>
                  <a:schemeClr val="tx1"/>
                </a:solidFill>
              </a:rPr>
              <a:t>MPSoC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60C66C-AA67-4229-5CC7-C99613C5A1CB}"/>
              </a:ext>
            </a:extLst>
          </p:cNvPr>
          <p:cNvSpPr/>
          <p:nvPr/>
        </p:nvSpPr>
        <p:spPr>
          <a:xfrm>
            <a:off x="568628" y="2236094"/>
            <a:ext cx="2436519" cy="22316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Processing System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(PS – Hardened)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Cortex-A53 x4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Cortex-RSF x2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Mali-400 GPU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USB, Ethernet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F289A5C-DBCD-6303-1DD8-0BBE4EBCB742}"/>
              </a:ext>
            </a:extLst>
          </p:cNvPr>
          <p:cNvSpPr/>
          <p:nvPr/>
        </p:nvSpPr>
        <p:spPr>
          <a:xfrm>
            <a:off x="3839973" y="2235481"/>
            <a:ext cx="2742279" cy="223225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Programmable Logic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(PL – FPGA Fabric)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Logic Cells (81K~600K)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DSP Slices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Block RAM / </a:t>
            </a:r>
            <a:r>
              <a:rPr lang="en-US" altLang="ko-KR" dirty="0" err="1">
                <a:solidFill>
                  <a:schemeClr val="tx1"/>
                </a:solidFill>
              </a:rPr>
              <a:t>UltraRAM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GTH/GTY Transceivers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PCIe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621238-59BF-FD6C-B555-4DBC2ECA3A6E}"/>
              </a:ext>
            </a:extLst>
          </p:cNvPr>
          <p:cNvSpPr txBox="1"/>
          <p:nvPr/>
        </p:nvSpPr>
        <p:spPr>
          <a:xfrm>
            <a:off x="226529" y="1128189"/>
            <a:ext cx="377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Architecture &amp; Difference Compare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B4D5591-1F02-2F6F-32A8-10EE2C479A1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005147" y="3351916"/>
            <a:ext cx="83482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8D7AC4-B5C4-2517-D903-D5433AEF4C62}"/>
              </a:ext>
            </a:extLst>
          </p:cNvPr>
          <p:cNvSpPr/>
          <p:nvPr/>
        </p:nvSpPr>
        <p:spPr>
          <a:xfrm>
            <a:off x="7149383" y="2236094"/>
            <a:ext cx="4483534" cy="223225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Programmable Logic (PL)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Logic Cells (</a:t>
            </a:r>
            <a:r>
              <a:rPr lang="en-US" altLang="ko-KR" dirty="0" err="1">
                <a:solidFill>
                  <a:schemeClr val="tx1"/>
                </a:solidFill>
              </a:rPr>
              <a:t>Artix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en-US" altLang="ko-KR" dirty="0" err="1">
                <a:solidFill>
                  <a:schemeClr val="tx1"/>
                </a:solidFill>
              </a:rPr>
              <a:t>Kintex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en-US" altLang="ko-KR" dirty="0" err="1">
                <a:solidFill>
                  <a:schemeClr val="tx1"/>
                </a:solidFill>
              </a:rPr>
              <a:t>Virtex</a:t>
            </a:r>
            <a:r>
              <a:rPr lang="en-US" altLang="ko-KR" dirty="0">
                <a:solidFill>
                  <a:schemeClr val="tx1"/>
                </a:solidFill>
              </a:rPr>
              <a:t> family)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DSP, Block RAM, Transceivers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None Processor – available soft-core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                                     (</a:t>
            </a:r>
            <a:r>
              <a:rPr lang="en-US" altLang="ko-KR" dirty="0" err="1">
                <a:solidFill>
                  <a:schemeClr val="tx1"/>
                </a:solidFill>
              </a:rPr>
              <a:t>MicroBlaze</a:t>
            </a:r>
            <a:r>
              <a:rPr lang="en-US" altLang="ko-KR" dirty="0">
                <a:solidFill>
                  <a:schemeClr val="tx1"/>
                </a:solidFill>
              </a:rPr>
              <a:t>/ RISC-V)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51E2707-F542-B79B-85AF-4B4A3B6A6C5B}"/>
              </a:ext>
            </a:extLst>
          </p:cNvPr>
          <p:cNvSpPr/>
          <p:nvPr/>
        </p:nvSpPr>
        <p:spPr>
          <a:xfrm>
            <a:off x="6970995" y="1497521"/>
            <a:ext cx="4840310" cy="320204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UltraScale</a:t>
            </a:r>
            <a:r>
              <a:rPr lang="en-US" altLang="ko-KR" dirty="0">
                <a:solidFill>
                  <a:schemeClr val="tx1"/>
                </a:solidFill>
              </a:rPr>
              <a:t>+ FPGA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CB48D21-4075-5CF9-1AC6-D15C00417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72574"/>
              </p:ext>
            </p:extLst>
          </p:nvPr>
        </p:nvGraphicFramePr>
        <p:xfrm>
          <a:off x="457200" y="4821587"/>
          <a:ext cx="11354107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285">
                  <a:extLst>
                    <a:ext uri="{9D8B030D-6E8A-4147-A177-3AD203B41FA5}">
                      <a16:colId xmlns:a16="http://schemas.microsoft.com/office/drawing/2014/main" val="56555844"/>
                    </a:ext>
                  </a:extLst>
                </a:gridCol>
                <a:gridCol w="4788411">
                  <a:extLst>
                    <a:ext uri="{9D8B030D-6E8A-4147-A177-3AD203B41FA5}">
                      <a16:colId xmlns:a16="http://schemas.microsoft.com/office/drawing/2014/main" val="2680048281"/>
                    </a:ext>
                  </a:extLst>
                </a:gridCol>
                <a:gridCol w="4788411">
                  <a:extLst>
                    <a:ext uri="{9D8B030D-6E8A-4147-A177-3AD203B41FA5}">
                      <a16:colId xmlns:a16="http://schemas.microsoft.com/office/drawing/2014/main" val="379925338"/>
                    </a:ext>
                  </a:extLst>
                </a:gridCol>
              </a:tblGrid>
              <a:tr h="3254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Zynq </a:t>
                      </a:r>
                      <a:r>
                        <a:rPr lang="en-US" altLang="ko-KR" dirty="0" err="1"/>
                        <a:t>UltraScale</a:t>
                      </a:r>
                      <a:r>
                        <a:rPr lang="en-US" altLang="ko-KR" dirty="0"/>
                        <a:t>+ </a:t>
                      </a:r>
                      <a:r>
                        <a:rPr lang="en-US" altLang="ko-KR" dirty="0" err="1"/>
                        <a:t>MPSoC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UltraScale</a:t>
                      </a:r>
                      <a:r>
                        <a:rPr lang="en-US" altLang="ko-KR" dirty="0"/>
                        <a:t>+ FPGA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64410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프로세서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Quad-core Cortex-A53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없음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799305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임베디드 </a:t>
                      </a:r>
                      <a:r>
                        <a:rPr lang="en-US" altLang="ko-KR" sz="1400" dirty="0"/>
                        <a:t>OS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Linux, RTOS </a:t>
                      </a:r>
                      <a:r>
                        <a:rPr lang="ko-KR" altLang="en-US" sz="1400" dirty="0"/>
                        <a:t>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불가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431894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FPGA </a:t>
                      </a:r>
                      <a:r>
                        <a:rPr lang="ko-KR" altLang="en-US" sz="1400" dirty="0"/>
                        <a:t>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HDL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+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ARM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SW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Only HDL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949212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설계 복잡도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낮음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779034"/>
                  </a:ext>
                </a:extLst>
              </a:tr>
              <a:tr h="271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5G, AI, Vision, </a:t>
                      </a:r>
                      <a:r>
                        <a:rPr lang="ko-KR" altLang="en-US" sz="1400" dirty="0"/>
                        <a:t>자율주행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통신장비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데이터센터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군사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451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581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403797" y="1483219"/>
            <a:ext cx="3831465" cy="1287888"/>
          </a:xfrm>
          <a:prstGeom prst="roundRect">
            <a:avLst>
              <a:gd name="adj" fmla="val 8678"/>
            </a:avLst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rPr dirty="0" err="1"/>
              <a:t>Vivado</a:t>
            </a:r>
            <a:r>
              <a:rPr dirty="0"/>
              <a:t> Design Suite 2021.2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5853448" y="2234487"/>
            <a:ext cx="5222383" cy="1287887"/>
          </a:xfrm>
          <a:prstGeom prst="roundRect">
            <a:avLst>
              <a:gd name="adj" fmla="val 6690"/>
            </a:avLst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rPr lang="en-US" dirty="0"/>
              <a:t>AMD KRIA KV260 VISION AI STARTER KIT</a:t>
            </a:r>
            <a:endParaRPr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61037B6-08C9-178C-554F-F0DC2648BEA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9E9E3D-C4F4-D458-CB40-AF557C8A6B18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ko-KR" altLang="en-US" sz="3200" b="1" dirty="0">
                <a:solidFill>
                  <a:schemeClr val="bg1"/>
                </a:solidFill>
              </a:rPr>
              <a:t>사용 </a:t>
            </a:r>
            <a:r>
              <a:rPr lang="en-US" altLang="ko-KR" sz="3200" b="1" dirty="0">
                <a:solidFill>
                  <a:schemeClr val="bg1"/>
                </a:solidFill>
              </a:rPr>
              <a:t>Tools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D3CE4C0-91E2-7406-B359-D21408ABAE45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85654DA5-794B-93F4-49C7-A6FFF755DA6F}"/>
              </a:ext>
            </a:extLst>
          </p:cNvPr>
          <p:cNvSpPr/>
          <p:nvPr/>
        </p:nvSpPr>
        <p:spPr>
          <a:xfrm>
            <a:off x="1403797" y="3286262"/>
            <a:ext cx="3831465" cy="1287887"/>
          </a:xfrm>
          <a:prstGeom prst="roundRect">
            <a:avLst>
              <a:gd name="adj" fmla="val 8678"/>
            </a:avLst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rPr lang="en-US" dirty="0"/>
              <a:t>VS-Code/ Git / </a:t>
            </a:r>
            <a:r>
              <a:rPr lang="en-US" dirty="0" err="1"/>
              <a:t>Opencode</a:t>
            </a:r>
            <a:endParaRPr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F41E870-8C57-7D56-DE5D-DB466AEE0A5C}"/>
              </a:ext>
            </a:extLst>
          </p:cNvPr>
          <p:cNvSpPr/>
          <p:nvPr/>
        </p:nvSpPr>
        <p:spPr>
          <a:xfrm>
            <a:off x="5853448" y="4037530"/>
            <a:ext cx="5222383" cy="1287887"/>
          </a:xfrm>
          <a:prstGeom prst="roundRect">
            <a:avLst>
              <a:gd name="adj" fmla="val 6690"/>
            </a:avLst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rPr lang="en-US" dirty="0"/>
              <a:t>PMOD Boards</a:t>
            </a:r>
            <a:endParaRPr dirty="0"/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7559BD1C-BD23-552C-84D9-B7515CCE6BE8}"/>
              </a:ext>
            </a:extLst>
          </p:cNvPr>
          <p:cNvSpPr/>
          <p:nvPr/>
        </p:nvSpPr>
        <p:spPr>
          <a:xfrm>
            <a:off x="1403797" y="5029203"/>
            <a:ext cx="3831465" cy="1287887"/>
          </a:xfrm>
          <a:prstGeom prst="roundRect">
            <a:avLst>
              <a:gd name="adj" fmla="val 8678"/>
            </a:avLst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rPr lang="en-US" dirty="0"/>
              <a:t>WSL or Linux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lang="ko-KR" altLang="en-US" dirty="0"/>
              <a:t>실습과정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36138" y="2011680"/>
            <a:ext cx="2103120" cy="32004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765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329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LED Blink</a:t>
            </a:r>
            <a:br/>
            <a:r>
              <a:t>기초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3578" y="2011680"/>
            <a:ext cx="2103120" cy="32004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4509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073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IP Integrator</a:t>
            </a:r>
            <a:br/>
            <a:r>
              <a:t>심화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1018" y="2011680"/>
            <a:ext cx="2103120" cy="320040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2253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817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AXI GPIO</a:t>
            </a:r>
            <a:br/>
            <a:r>
              <a:t>통신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68458" y="2011680"/>
            <a:ext cx="2103120" cy="3200400"/>
          </a:xfrm>
          <a:prstGeom prst="round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997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561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Vitis HLS</a:t>
            </a:r>
            <a:br/>
            <a:r>
              <a:t>커스텀 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45898" y="2011680"/>
            <a:ext cx="2103120" cy="32004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77418" y="228600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83058" y="3108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BIST Platform</a:t>
            </a:r>
            <a:br/>
            <a:r>
              <a:t>고급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91A607F8-025D-BCD4-0FAB-C0C07834D79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0716F79-3B63-96EE-3216-7EE567A7F2EB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5</a:t>
            </a:r>
            <a:r>
              <a:rPr lang="ko-KR" altLang="en-US" sz="3200" b="1" dirty="0">
                <a:solidFill>
                  <a:schemeClr val="bg1"/>
                </a:solidFill>
              </a:rPr>
              <a:t>단계 실습 과정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A5B6594B-50D2-D642-55D2-FF5C7EA1CBC7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82B07797-CC5C-249A-AE9F-204E3DDAF96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BAF3669-98BE-15E3-4288-47B99A3490D8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ko-KR" altLang="en-US" sz="3200" b="1" dirty="0">
                <a:solidFill>
                  <a:schemeClr val="bg1"/>
                </a:solidFill>
              </a:rPr>
              <a:t>기초 과정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031394E-DF38-C88A-5F48-4B2F03592CB8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76B2168-A4DE-54C8-8A7E-3ACFC5459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017724"/>
              </p:ext>
            </p:extLst>
          </p:nvPr>
        </p:nvGraphicFramePr>
        <p:xfrm>
          <a:off x="1974045" y="1787110"/>
          <a:ext cx="8127999" cy="29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397945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634860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41044826"/>
                    </a:ext>
                  </a:extLst>
                </a:gridCol>
              </a:tblGrid>
              <a:tr h="714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Step01-LED Blink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Step02 – IP integrator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674802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난이도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초급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초급</a:t>
                      </a:r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중급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1220096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핵심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RTL </a:t>
                      </a:r>
                      <a:r>
                        <a:rPr lang="ko-KR" altLang="en-US" dirty="0"/>
                        <a:t>코딩 </a:t>
                      </a:r>
                      <a:r>
                        <a:rPr lang="en-US" altLang="ko-KR" dirty="0"/>
                        <a:t>+ PYNQ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IP Integrator  </a:t>
                      </a:r>
                      <a:r>
                        <a:rPr lang="ko-KR" altLang="en-US" dirty="0"/>
                        <a:t>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646636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PS </a:t>
                      </a:r>
                      <a:r>
                        <a:rPr lang="ko-KR" altLang="en-US" dirty="0"/>
                        <a:t>사용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완전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062071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결과물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LED </a:t>
                      </a:r>
                      <a:r>
                        <a:rPr lang="ko-KR" altLang="en-US" dirty="0"/>
                        <a:t>깜빡임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플랫폼 </a:t>
                      </a:r>
                      <a:r>
                        <a:rPr lang="en-US" altLang="ko-KR" dirty="0"/>
                        <a:t>Export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8222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FAD29528-8E33-4733-2D55-79377ADF25F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908F1D-C9B6-8E34-E5E8-C0DF494D11A2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ko-KR" altLang="en-US" sz="3200" b="1" dirty="0">
                <a:solidFill>
                  <a:schemeClr val="bg1"/>
                </a:solidFill>
              </a:rPr>
              <a:t>중급 과정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D26CF05-075B-0657-8AC1-9678E7778D9D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79D4231-94D3-AA75-6D5C-E91D05B6F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465788"/>
              </p:ext>
            </p:extLst>
          </p:nvPr>
        </p:nvGraphicFramePr>
        <p:xfrm>
          <a:off x="1974045" y="1787110"/>
          <a:ext cx="8127999" cy="3447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397945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634860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41044826"/>
                    </a:ext>
                  </a:extLst>
                </a:gridCol>
              </a:tblGrid>
              <a:tr h="714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Step03 – AXI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GPIO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Step04 – Vitis HLS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674802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난이도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중급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중급</a:t>
                      </a:r>
                      <a:r>
                        <a:rPr lang="en-US" altLang="ko-KR" dirty="0"/>
                        <a:t> - </a:t>
                      </a:r>
                      <a:r>
                        <a:rPr lang="ko-KR" altLang="en-US" dirty="0"/>
                        <a:t>고급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1220096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핵심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AXI GPIO IP </a:t>
                      </a:r>
                      <a:r>
                        <a:rPr lang="ko-KR" altLang="en-US" dirty="0"/>
                        <a:t>사용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Custom IP </a:t>
                      </a:r>
                      <a:r>
                        <a:rPr lang="ko-KR" altLang="en-US" dirty="0"/>
                        <a:t>개발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646636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기존 </a:t>
                      </a:r>
                      <a:r>
                        <a:rPr lang="en-US" altLang="ko-KR" dirty="0"/>
                        <a:t>IP </a:t>
                      </a:r>
                      <a:r>
                        <a:rPr lang="ko-KR" altLang="en-US" dirty="0"/>
                        <a:t>활용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C++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 RTL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생성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346623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인터페이스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AXI GPIO(</a:t>
                      </a:r>
                      <a:r>
                        <a:rPr lang="ko-KR" altLang="en-US" dirty="0"/>
                        <a:t>사전 제작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AXI4-Lite(</a:t>
                      </a:r>
                      <a:r>
                        <a:rPr lang="ko-KR" altLang="en-US" dirty="0"/>
                        <a:t>자동 생성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062071"/>
                  </a:ext>
                </a:extLst>
              </a:tr>
              <a:tr h="5465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도구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Vivado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Vitis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HLS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+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 err="1"/>
                        <a:t>Vivado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8222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9780" y="1452093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/>
              <a:t>KV260 BIST Platform</a:t>
            </a:r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비전</a:t>
            </a:r>
            <a:r>
              <a:rPr dirty="0"/>
              <a:t> AI </a:t>
            </a:r>
            <a:r>
              <a:rPr dirty="0" err="1"/>
              <a:t>플랫폼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/>
              <a:t>MIPI </a:t>
            </a:r>
            <a:r>
              <a:rPr dirty="0" err="1"/>
              <a:t>카메라</a:t>
            </a:r>
            <a:r>
              <a:rPr dirty="0"/>
              <a:t>, VCU, DisplayPort</a:t>
            </a:r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PetaLinux</a:t>
            </a:r>
            <a:r>
              <a:rPr dirty="0"/>
              <a:t> </a:t>
            </a:r>
            <a:r>
              <a:rPr dirty="0" err="1"/>
              <a:t>통합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커스텀</a:t>
            </a:r>
            <a:r>
              <a:rPr dirty="0"/>
              <a:t> </a:t>
            </a:r>
            <a:r>
              <a:rPr dirty="0" err="1"/>
              <a:t>애플리케이션</a:t>
            </a:r>
            <a:r>
              <a:rPr dirty="0"/>
              <a:t> </a:t>
            </a:r>
            <a:r>
              <a:rPr dirty="0" err="1"/>
              <a:t>개발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4502431-49CB-BFAD-BEFC-D00C52D1428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A009B0-CED1-A871-CFF7-F05EED35B589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ko-KR" altLang="en-US" sz="3200" b="1" dirty="0">
                <a:solidFill>
                  <a:schemeClr val="bg1"/>
                </a:solidFill>
              </a:rPr>
              <a:t>고급 과정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8DC65CE-079B-E63D-AE75-DCAB5D53349E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dirty="0" err="1"/>
              <a:t>준비물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B189E1-6A08-E534-2D95-BC87D0891564}"/>
              </a:ext>
            </a:extLst>
          </p:cNvPr>
          <p:cNvSpPr txBox="1"/>
          <p:nvPr/>
        </p:nvSpPr>
        <p:spPr>
          <a:xfrm>
            <a:off x="7421553" y="364475"/>
            <a:ext cx="4164986" cy="6129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VSCode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Git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Opencode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WSL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Vivado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KV260 ubuntu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SSH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Jupyter</a:t>
            </a:r>
            <a:r>
              <a:rPr lang="en-US" altLang="ko-KR" sz="2400" b="1" dirty="0"/>
              <a:t> Notebook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GTKWave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 err="1"/>
              <a:t>Usbipd</a:t>
            </a:r>
            <a:endParaRPr lang="en-US" altLang="ko-KR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400" b="1" dirty="0"/>
              <a:t>Tera Term / PuTTY / minicom</a:t>
            </a:r>
            <a:endParaRPr lang="ko-KR" altLang="en-US" sz="24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EB9B6C07-9F62-CBB2-6E81-DAD19589755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0609642-C7F6-D8FB-2D31-7E18B585DED1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VSCode</a:t>
            </a:r>
            <a:r>
              <a:rPr lang="en-US" altLang="ko-KR" sz="3200" b="1" dirty="0">
                <a:solidFill>
                  <a:schemeClr val="bg1"/>
                </a:solidFill>
              </a:rPr>
              <a:t> Verilog  </a:t>
            </a:r>
            <a:r>
              <a:rPr lang="ko-KR" altLang="en-US" sz="3200" b="1" dirty="0">
                <a:solidFill>
                  <a:schemeClr val="bg1"/>
                </a:solidFill>
              </a:rPr>
              <a:t>개발 환경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8FB0DDA-2C7C-EB82-09F8-416671D7BA23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BC775-532C-D264-AC9F-292C65338A02}"/>
              </a:ext>
            </a:extLst>
          </p:cNvPr>
          <p:cNvSpPr txBox="1"/>
          <p:nvPr/>
        </p:nvSpPr>
        <p:spPr>
          <a:xfrm>
            <a:off x="843566" y="2021983"/>
            <a:ext cx="79784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Download site</a:t>
            </a:r>
          </a:p>
          <a:p>
            <a:r>
              <a:rPr lang="en-US" altLang="ko-KR" dirty="0"/>
              <a:t>	</a:t>
            </a:r>
            <a:r>
              <a:rPr lang="en-US" altLang="ko-KR" dirty="0">
                <a:hlinkClick r:id="rId2"/>
              </a:rPr>
              <a:t>http://code.visualstudio.com/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유용한 확장 프로그램</a:t>
            </a:r>
            <a:endParaRPr lang="en-US" altLang="ko-KR" dirty="0"/>
          </a:p>
          <a:p>
            <a:r>
              <a:rPr lang="en-US" altLang="ko-KR" dirty="0"/>
              <a:t>	- Verilog-HDL (</a:t>
            </a:r>
            <a:r>
              <a:rPr lang="en-US" altLang="ko-KR" dirty="0" err="1"/>
              <a:t>mshr</a:t>
            </a:r>
            <a:r>
              <a:rPr lang="en-US" altLang="ko-KR" dirty="0"/>
              <a:t>-h) - </a:t>
            </a:r>
            <a:r>
              <a:rPr lang="ko-KR" altLang="en-US" dirty="0"/>
              <a:t>문법 </a:t>
            </a:r>
            <a:r>
              <a:rPr lang="ko-KR" altLang="en-US" dirty="0" err="1"/>
              <a:t>하이라이팅</a:t>
            </a:r>
            <a:endParaRPr lang="ko-KR" altLang="en-US" dirty="0"/>
          </a:p>
          <a:p>
            <a:r>
              <a:rPr lang="en-US" altLang="ko-KR" dirty="0"/>
              <a:t>	- </a:t>
            </a:r>
            <a:r>
              <a:rPr lang="en-US" altLang="ko-KR" dirty="0" err="1"/>
              <a:t>SystemVerilog</a:t>
            </a:r>
            <a:r>
              <a:rPr lang="en-US" altLang="ko-KR" dirty="0"/>
              <a:t> (</a:t>
            </a:r>
            <a:r>
              <a:rPr lang="en-US" altLang="ko-KR" dirty="0" err="1"/>
              <a:t>AndrewNolte</a:t>
            </a:r>
            <a:r>
              <a:rPr lang="en-US" altLang="ko-KR" dirty="0"/>
              <a:t>) - linting</a:t>
            </a:r>
          </a:p>
          <a:p>
            <a:r>
              <a:rPr lang="en-US" altLang="ko-KR" dirty="0"/>
              <a:t>	- Verilog Formatter - </a:t>
            </a:r>
            <a:r>
              <a:rPr lang="ko-KR" altLang="en-US" dirty="0"/>
              <a:t>코드 </a:t>
            </a:r>
            <a:r>
              <a:rPr lang="ko-KR" altLang="en-US" dirty="0" err="1"/>
              <a:t>포맷팅</a:t>
            </a: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D27BD47-4C24-0137-7235-9F627267DA2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627829D-0A0D-62FE-52FA-1223F5165EC0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Git 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602AB0F-999F-E582-B1D6-8302C34950E0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FE5AD-FA73-0D69-4880-6D3C3591CFAD}"/>
              </a:ext>
            </a:extLst>
          </p:cNvPr>
          <p:cNvSpPr txBox="1"/>
          <p:nvPr/>
        </p:nvSpPr>
        <p:spPr>
          <a:xfrm>
            <a:off x="341290" y="1166119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초기 설정 명령어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A62187C1-038B-0CF6-FC5C-519F1E794CFC}"/>
              </a:ext>
            </a:extLst>
          </p:cNvPr>
          <p:cNvSpPr/>
          <p:nvPr/>
        </p:nvSpPr>
        <p:spPr>
          <a:xfrm>
            <a:off x="457200" y="1496316"/>
            <a:ext cx="11277295" cy="1258981"/>
          </a:xfrm>
          <a:prstGeom prst="roundRect">
            <a:avLst>
              <a:gd name="adj" fmla="val 4836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config --global user.name "Your Name"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config --global </a:t>
            </a:r>
            <a:r>
              <a:rPr dirty="0" err="1"/>
              <a:t>user.email</a:t>
            </a:r>
            <a:r>
              <a:rPr dirty="0"/>
              <a:t> "your@email.com"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config --list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config --global </a:t>
            </a:r>
            <a:r>
              <a:rPr dirty="0" err="1"/>
              <a:t>core.editor</a:t>
            </a:r>
            <a:r>
              <a:rPr dirty="0"/>
              <a:t>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E2F47-5DC9-B339-813F-9762947E7BA6}"/>
              </a:ext>
            </a:extLst>
          </p:cNvPr>
          <p:cNvSpPr txBox="1"/>
          <p:nvPr/>
        </p:nvSpPr>
        <p:spPr>
          <a:xfrm>
            <a:off x="341290" y="3256049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기본 작업 흐름</a:t>
            </a:r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2B41BE29-C332-228C-17FA-2125F526A785}"/>
              </a:ext>
            </a:extLst>
          </p:cNvPr>
          <p:cNvSpPr/>
          <p:nvPr/>
        </p:nvSpPr>
        <p:spPr>
          <a:xfrm>
            <a:off x="882203" y="3625381"/>
            <a:ext cx="2011680" cy="850514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Working</a:t>
            </a:r>
            <a:br/>
            <a:r>
              <a:t>Directory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2AA15A-DC4F-F80A-5B59-8BC711E6D82E}"/>
              </a:ext>
            </a:extLst>
          </p:cNvPr>
          <p:cNvSpPr txBox="1"/>
          <p:nvPr/>
        </p:nvSpPr>
        <p:spPr>
          <a:xfrm>
            <a:off x="2893883" y="383401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F2C2CC8F-76E1-6860-8C1A-DD7A8DCE13A8}"/>
              </a:ext>
            </a:extLst>
          </p:cNvPr>
          <p:cNvSpPr/>
          <p:nvPr/>
        </p:nvSpPr>
        <p:spPr>
          <a:xfrm>
            <a:off x="3168203" y="3625381"/>
            <a:ext cx="2011680" cy="850514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Staging</a:t>
            </a:r>
            <a:br/>
            <a:r>
              <a:t>Area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579ACE-A31A-5628-D133-FF70D0DF0690}"/>
              </a:ext>
            </a:extLst>
          </p:cNvPr>
          <p:cNvSpPr txBox="1"/>
          <p:nvPr/>
        </p:nvSpPr>
        <p:spPr>
          <a:xfrm>
            <a:off x="5179883" y="383401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E5318B74-81AE-750D-3956-611B87C44F6C}"/>
              </a:ext>
            </a:extLst>
          </p:cNvPr>
          <p:cNvSpPr/>
          <p:nvPr/>
        </p:nvSpPr>
        <p:spPr>
          <a:xfrm>
            <a:off x="5454203" y="3625381"/>
            <a:ext cx="2011680" cy="850514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Repository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24A46F-5503-A7E1-61DB-DE90A4BBA34D}"/>
              </a:ext>
            </a:extLst>
          </p:cNvPr>
          <p:cNvSpPr txBox="1"/>
          <p:nvPr/>
        </p:nvSpPr>
        <p:spPr>
          <a:xfrm>
            <a:off x="7465883" y="3834018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83EE0134-5B45-B7EB-71B0-ACDA60327FD3}"/>
              </a:ext>
            </a:extLst>
          </p:cNvPr>
          <p:cNvSpPr/>
          <p:nvPr/>
        </p:nvSpPr>
        <p:spPr>
          <a:xfrm>
            <a:off x="7740203" y="3625381"/>
            <a:ext cx="2011680" cy="850514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Remote</a:t>
            </a:r>
          </a:p>
        </p:txBody>
      </p:sp>
    </p:spTree>
    <p:extLst>
      <p:ext uri="{BB962C8B-B14F-4D97-AF65-F5344CB8AC3E}">
        <p14:creationId xmlns:p14="http://schemas.microsoft.com/office/powerpoint/2010/main" val="3793298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6D33240-BFDD-F5D1-B58B-DD5E043678F6}"/>
              </a:ext>
            </a:extLst>
          </p:cNvPr>
          <p:cNvSpPr txBox="1"/>
          <p:nvPr/>
        </p:nvSpPr>
        <p:spPr>
          <a:xfrm>
            <a:off x="398965" y="1421050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추가 및 </a:t>
            </a:r>
            <a:r>
              <a:rPr lang="ko-KR" altLang="en-US" dirty="0" err="1"/>
              <a:t>커밋</a:t>
            </a:r>
            <a:endParaRPr lang="ko-KR" altLang="en-US" dirty="0"/>
          </a:p>
        </p:txBody>
      </p:sp>
      <p:sp>
        <p:nvSpPr>
          <p:cNvPr id="17" name="Rounded Rectangle 2">
            <a:extLst>
              <a:ext uri="{FF2B5EF4-FFF2-40B4-BE49-F238E27FC236}">
                <a16:creationId xmlns:a16="http://schemas.microsoft.com/office/drawing/2014/main" id="{ABDA33EE-A084-DB5E-01D7-751A808E8306}"/>
              </a:ext>
            </a:extLst>
          </p:cNvPr>
          <p:cNvSpPr/>
          <p:nvPr/>
        </p:nvSpPr>
        <p:spPr>
          <a:xfrm>
            <a:off x="398965" y="1836102"/>
            <a:ext cx="5319255" cy="1731219"/>
          </a:xfrm>
          <a:prstGeom prst="roundRect">
            <a:avLst>
              <a:gd name="adj" fmla="val 774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status             #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add &lt;file&gt;         #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추가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add . </a:t>
            </a:r>
            <a:r>
              <a:rPr lang="en-US" dirty="0"/>
              <a:t>             </a:t>
            </a:r>
            <a:r>
              <a:rPr dirty="0"/>
              <a:t>#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변경파일</a:t>
            </a:r>
            <a:r>
              <a:rPr dirty="0"/>
              <a:t> </a:t>
            </a:r>
            <a:r>
              <a:rPr dirty="0" err="1"/>
              <a:t>추가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commit -m "</a:t>
            </a:r>
            <a:r>
              <a:rPr dirty="0" err="1"/>
              <a:t>메시지</a:t>
            </a:r>
            <a:r>
              <a:rPr dirty="0"/>
              <a:t>"  # </a:t>
            </a:r>
            <a:r>
              <a:rPr dirty="0" err="1"/>
              <a:t>커밋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commit -am "</a:t>
            </a:r>
            <a:r>
              <a:rPr dirty="0" err="1"/>
              <a:t>메시지</a:t>
            </a:r>
            <a:r>
              <a:rPr dirty="0"/>
              <a:t>" # </a:t>
            </a:r>
            <a:r>
              <a:rPr dirty="0" err="1"/>
              <a:t>추가+커밋</a:t>
            </a:r>
            <a:r>
              <a:rPr dirty="0"/>
              <a:t> </a:t>
            </a:r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6C51DDA2-91D0-3BF4-3DA1-E6320F66D432}"/>
              </a:ext>
            </a:extLst>
          </p:cNvPr>
          <p:cNvSpPr/>
          <p:nvPr/>
        </p:nvSpPr>
        <p:spPr>
          <a:xfrm>
            <a:off x="398965" y="4172316"/>
            <a:ext cx="5319255" cy="1816361"/>
          </a:xfrm>
          <a:prstGeom prst="roundRect">
            <a:avLst>
              <a:gd name="adj" fmla="val 8049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branch              # </a:t>
            </a:r>
            <a:r>
              <a:rPr dirty="0" err="1"/>
              <a:t>브랜치</a:t>
            </a:r>
            <a:r>
              <a:rPr dirty="0"/>
              <a:t> </a:t>
            </a:r>
            <a:r>
              <a:rPr dirty="0" err="1"/>
              <a:t>목록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branch &lt;name&gt;       # 새 </a:t>
            </a:r>
            <a:r>
              <a:rPr dirty="0" err="1"/>
              <a:t>브랜치</a:t>
            </a:r>
            <a:r>
              <a:rPr dirty="0"/>
              <a:t> </a:t>
            </a:r>
            <a:r>
              <a:rPr dirty="0" err="1"/>
              <a:t>생성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checkout &lt;branch&gt; 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브랜치</a:t>
            </a:r>
            <a:r>
              <a:rPr dirty="0"/>
              <a:t> </a:t>
            </a:r>
            <a:r>
              <a:rPr dirty="0" err="1"/>
              <a:t>전환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checkout -b &lt;name&gt;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생성+전환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merge &lt;branch&gt;    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병합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branch -d &lt;branch&gt;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삭제</a:t>
            </a:r>
            <a:endParaRPr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ED5CB2E-EF24-519B-5E88-EDC6A895ACDB}"/>
              </a:ext>
            </a:extLst>
          </p:cNvPr>
          <p:cNvSpPr/>
          <p:nvPr/>
        </p:nvSpPr>
        <p:spPr>
          <a:xfrm>
            <a:off x="6095847" y="1836102"/>
            <a:ext cx="5679584" cy="1816361"/>
          </a:xfrm>
          <a:prstGeom prst="roundRect">
            <a:avLst>
              <a:gd name="adj" fmla="val 6196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remote -v               # </a:t>
            </a:r>
            <a:r>
              <a:rPr dirty="0" err="1"/>
              <a:t>원격</a:t>
            </a:r>
            <a:r>
              <a:rPr dirty="0"/>
              <a:t> </a:t>
            </a:r>
            <a:r>
              <a:rPr dirty="0" err="1"/>
              <a:t>저장소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remote add origin &lt;URL&gt; # </a:t>
            </a:r>
            <a:r>
              <a:rPr dirty="0" err="1"/>
              <a:t>원격</a:t>
            </a:r>
            <a:r>
              <a:rPr dirty="0"/>
              <a:t> </a:t>
            </a:r>
            <a:r>
              <a:rPr dirty="0" err="1"/>
              <a:t>추가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push origin main        # </a:t>
            </a:r>
            <a:r>
              <a:rPr dirty="0" err="1"/>
              <a:t>푸시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pull origin main        # 풀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fetch origin            # </a:t>
            </a:r>
            <a:r>
              <a:rPr dirty="0" err="1"/>
              <a:t>패치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E48CE0-0C68-9531-A6F7-5364EF82C83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681D4C9-7148-A931-6A58-F7B0293C10B6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Git command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5910681-DB3B-7A22-8D59-C3BC0A61CE7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0E025-3E31-3ABC-1341-21BA40DEFF3E}"/>
              </a:ext>
            </a:extLst>
          </p:cNvPr>
          <p:cNvSpPr txBox="1"/>
          <p:nvPr/>
        </p:nvSpPr>
        <p:spPr>
          <a:xfrm>
            <a:off x="6095847" y="1398329"/>
            <a:ext cx="294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원격 저장소 관련 명령어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5281E8-92AC-02B0-909D-AEA002CA97DD}"/>
              </a:ext>
            </a:extLst>
          </p:cNvPr>
          <p:cNvSpPr txBox="1"/>
          <p:nvPr/>
        </p:nvSpPr>
        <p:spPr>
          <a:xfrm>
            <a:off x="424578" y="3773225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 err="1"/>
              <a:t>브랜치</a:t>
            </a:r>
            <a:r>
              <a:rPr lang="ko-KR" altLang="en-US" dirty="0"/>
              <a:t> 명령어</a:t>
            </a:r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52FBA61F-F6B9-192C-6250-360FE7BA945B}"/>
              </a:ext>
            </a:extLst>
          </p:cNvPr>
          <p:cNvSpPr/>
          <p:nvPr/>
        </p:nvSpPr>
        <p:spPr>
          <a:xfrm>
            <a:off x="6095847" y="4172316"/>
            <a:ext cx="5679583" cy="1816361"/>
          </a:xfrm>
          <a:prstGeom prst="roundRect">
            <a:avLst>
              <a:gd name="adj" fmla="val 6863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status              # </a:t>
            </a:r>
            <a:r>
              <a:rPr dirty="0" err="1"/>
              <a:t>상태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diff                # </a:t>
            </a:r>
            <a:r>
              <a:rPr dirty="0" err="1"/>
              <a:t>변경사항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diff --staged       # </a:t>
            </a:r>
            <a:r>
              <a:rPr dirty="0" err="1"/>
              <a:t>스테이징</a:t>
            </a:r>
            <a:r>
              <a:rPr dirty="0"/>
              <a:t> </a:t>
            </a:r>
            <a:r>
              <a:rPr dirty="0" err="1"/>
              <a:t>영역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log --</a:t>
            </a:r>
            <a:r>
              <a:rPr dirty="0" err="1"/>
              <a:t>oneline</a:t>
            </a:r>
            <a:r>
              <a:rPr dirty="0"/>
              <a:t> -n 5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최근</a:t>
            </a:r>
            <a:r>
              <a:rPr dirty="0"/>
              <a:t> 5개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stash               # </a:t>
            </a:r>
            <a:r>
              <a:rPr dirty="0" err="1"/>
              <a:t>임시</a:t>
            </a:r>
            <a:r>
              <a:rPr dirty="0"/>
              <a:t> </a:t>
            </a:r>
            <a:r>
              <a:rPr dirty="0" err="1"/>
              <a:t>저장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git stash pop          </a:t>
            </a:r>
            <a:r>
              <a:rPr lang="en-US" dirty="0"/>
              <a:t> </a:t>
            </a:r>
            <a:r>
              <a:rPr dirty="0"/>
              <a:t># </a:t>
            </a:r>
            <a:r>
              <a:rPr dirty="0" err="1"/>
              <a:t>복원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439939-F7A6-C6EE-7928-FC7CCA52B04E}"/>
              </a:ext>
            </a:extLst>
          </p:cNvPr>
          <p:cNvSpPr txBox="1"/>
          <p:nvPr/>
        </p:nvSpPr>
        <p:spPr>
          <a:xfrm>
            <a:off x="6095847" y="3802984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자주 사용하는 명령어</a:t>
            </a:r>
          </a:p>
        </p:txBody>
      </p:sp>
    </p:spTree>
    <p:extLst>
      <p:ext uri="{BB962C8B-B14F-4D97-AF65-F5344CB8AC3E}">
        <p14:creationId xmlns:p14="http://schemas.microsoft.com/office/powerpoint/2010/main" val="1450634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747802A-8F0B-08A4-FBF1-068275E981BD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A8E757-F67A-0487-F22B-ECB6514DF474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Opencode</a:t>
            </a:r>
            <a:r>
              <a:rPr lang="en-US" altLang="ko-KR" sz="3200" b="1" dirty="0">
                <a:solidFill>
                  <a:schemeClr val="bg1"/>
                </a:solidFill>
              </a:rPr>
              <a:t>(&amp; oh-my-</a:t>
            </a:r>
            <a:r>
              <a:rPr lang="en-US" altLang="ko-KR" sz="3200" b="1" dirty="0" err="1">
                <a:solidFill>
                  <a:schemeClr val="bg1"/>
                </a:solidFill>
              </a:rPr>
              <a:t>opencode</a:t>
            </a:r>
            <a:r>
              <a:rPr lang="en-US" altLang="ko-KR" sz="3200" b="1" dirty="0">
                <a:solidFill>
                  <a:schemeClr val="bg1"/>
                </a:solidFill>
              </a:rPr>
              <a:t>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6412E7B-7B3F-6EC1-3FA4-CDD2A6649AB7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C1081-A344-4400-4054-0A992DD7F5D8}"/>
              </a:ext>
            </a:extLst>
          </p:cNvPr>
          <p:cNvSpPr txBox="1"/>
          <p:nvPr/>
        </p:nvSpPr>
        <p:spPr>
          <a:xfrm>
            <a:off x="398965" y="142105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방법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55280000-E388-28A3-BFDC-0DAB2A6AC875}"/>
              </a:ext>
            </a:extLst>
          </p:cNvPr>
          <p:cNvSpPr/>
          <p:nvPr/>
        </p:nvSpPr>
        <p:spPr>
          <a:xfrm>
            <a:off x="753415" y="1840963"/>
            <a:ext cx="8997886" cy="3130281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curl </a:t>
            </a:r>
            <a:r>
              <a:rPr dirty="0" err="1"/>
              <a:t>스크립트</a:t>
            </a:r>
            <a:r>
              <a:rPr dirty="0"/>
              <a:t> (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빠름</a:t>
            </a:r>
            <a:r>
              <a:rPr dirty="0"/>
              <a:t>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dirty="0"/>
              <a:t>curl -</a:t>
            </a:r>
            <a:r>
              <a:rPr dirty="0" err="1"/>
              <a:t>fsSL</a:t>
            </a:r>
            <a:r>
              <a:rPr dirty="0"/>
              <a:t> https://opencode.ai/install | bash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npm으로</a:t>
            </a:r>
            <a:r>
              <a:rPr dirty="0"/>
              <a:t> </a:t>
            </a:r>
            <a:r>
              <a:rPr dirty="0" err="1"/>
              <a:t>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dirty="0" err="1"/>
              <a:t>npm</a:t>
            </a:r>
            <a:r>
              <a:rPr dirty="0"/>
              <a:t> install -g </a:t>
            </a:r>
            <a:r>
              <a:rPr dirty="0" err="1"/>
              <a:t>opencode</a:t>
            </a:r>
            <a:r>
              <a:rPr dirty="0"/>
              <a:t>-ai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Homebrew (macOS/Linux)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dirty="0"/>
              <a:t>brew install </a:t>
            </a:r>
            <a:r>
              <a:rPr dirty="0" err="1"/>
              <a:t>anomalyco</a:t>
            </a:r>
            <a:r>
              <a:rPr dirty="0"/>
              <a:t>/tap/</a:t>
            </a:r>
            <a:r>
              <a:rPr dirty="0" err="1"/>
              <a:t>opencode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# </a:t>
            </a:r>
            <a:r>
              <a:rPr lang="en-US" altLang="ko-KR" dirty="0" err="1"/>
              <a:t>npm</a:t>
            </a:r>
            <a:r>
              <a:rPr lang="ko-KR" altLang="en-US" dirty="0"/>
              <a:t>으로 전역 설치 </a:t>
            </a:r>
            <a:r>
              <a:rPr lang="en-US" altLang="ko-KR" dirty="0"/>
              <a:t>(Oh-My-</a:t>
            </a:r>
            <a:r>
              <a:rPr lang="en-US" altLang="ko-KR" dirty="0" err="1"/>
              <a:t>Opencode</a:t>
            </a:r>
            <a:r>
              <a:rPr lang="en-US" altLang="ko-KR" dirty="0"/>
              <a:t>)</a:t>
            </a:r>
            <a:endParaRPr lang="ko-KR" alt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&gt; </a:t>
            </a:r>
            <a:r>
              <a:rPr lang="en-US" altLang="ko-KR" dirty="0" err="1"/>
              <a:t>npm</a:t>
            </a:r>
            <a:r>
              <a:rPr lang="en-US" altLang="ko-KR" dirty="0"/>
              <a:t> install -g oh-my-</a:t>
            </a:r>
            <a:r>
              <a:rPr lang="en-US" altLang="ko-KR" dirty="0" err="1"/>
              <a:t>opencode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2212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AC11AEB-AA1A-4FD8-EBB5-DA613F27FDE1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5747DD-EB34-6236-ECDB-B77742CF9686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WSL (Window Subsystem Linux)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DA915EE-A42E-B785-4874-AE2C485AC16E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C02A28-040D-FA80-C950-19782D3F5F1B}"/>
              </a:ext>
            </a:extLst>
          </p:cNvPr>
          <p:cNvSpPr txBox="1"/>
          <p:nvPr/>
        </p:nvSpPr>
        <p:spPr>
          <a:xfrm>
            <a:off x="398965" y="142105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방법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B517646A-28E9-D75E-51D2-1667E23C8C4D}"/>
              </a:ext>
            </a:extLst>
          </p:cNvPr>
          <p:cNvSpPr/>
          <p:nvPr/>
        </p:nvSpPr>
        <p:spPr>
          <a:xfrm>
            <a:off x="753415" y="1840963"/>
            <a:ext cx="8997886" cy="3548845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dirty="0"/>
              <a:t>PowerShell</a:t>
            </a:r>
            <a:r>
              <a:rPr lang="ko-KR" altLang="en-US" dirty="0"/>
              <a:t>을 관리자모드로 실행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wsl</a:t>
            </a:r>
            <a:r>
              <a:rPr lang="en-US" dirty="0"/>
              <a:t> --list --online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wsl</a:t>
            </a:r>
            <a:r>
              <a:rPr lang="en-US" dirty="0"/>
              <a:t> --install –d Ubuntu-22.04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패키지 업데이트</a:t>
            </a:r>
            <a:r>
              <a:rPr lang="en-US" altLang="ko-KR" dirty="0"/>
              <a:t>(WSL</a:t>
            </a:r>
            <a:r>
              <a:rPr lang="ko-KR" altLang="en-US" dirty="0"/>
              <a:t>에서</a:t>
            </a:r>
            <a:r>
              <a:rPr lang="en-US" altLang="ko-KR" dirty="0"/>
              <a:t>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Sudo</a:t>
            </a:r>
            <a:r>
              <a:rPr lang="ko-KR" altLang="en-US" dirty="0"/>
              <a:t> </a:t>
            </a:r>
            <a:r>
              <a:rPr lang="en-US" altLang="ko-KR" dirty="0"/>
              <a:t>apt</a:t>
            </a:r>
            <a:r>
              <a:rPr lang="ko-KR" altLang="en-US" dirty="0"/>
              <a:t> </a:t>
            </a:r>
            <a:r>
              <a:rPr lang="en-US" altLang="ko-KR" dirty="0"/>
              <a:t>update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 err="1"/>
              <a:t>sudo</a:t>
            </a:r>
            <a:r>
              <a:rPr lang="ko-KR" altLang="en-US" dirty="0"/>
              <a:t> </a:t>
            </a:r>
            <a:r>
              <a:rPr lang="en-US" altLang="ko-KR" dirty="0"/>
              <a:t>apt</a:t>
            </a:r>
            <a:r>
              <a:rPr lang="ko-KR" altLang="en-US" dirty="0"/>
              <a:t> </a:t>
            </a:r>
            <a:r>
              <a:rPr lang="en-US" altLang="ko-KR" dirty="0"/>
              <a:t>upgrade</a:t>
            </a:r>
            <a:r>
              <a:rPr lang="ko-KR" altLang="en-US" dirty="0"/>
              <a:t> </a:t>
            </a:r>
            <a:r>
              <a:rPr lang="en-US" altLang="ko-KR" dirty="0"/>
              <a:t>–y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기본 도구 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Sudo apt install –y build-essential git curl </a:t>
            </a:r>
            <a:r>
              <a:rPr lang="en-US" dirty="0" err="1"/>
              <a:t>wget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# </a:t>
            </a:r>
            <a:r>
              <a:rPr lang="ko-KR" altLang="en-US" dirty="0"/>
              <a:t>메모리 제한 설정</a:t>
            </a:r>
            <a:r>
              <a:rPr lang="en-US" altLang="ko-KR" dirty="0"/>
              <a:t>(option)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&gt; %USERPROFILE%\.</a:t>
            </a:r>
            <a:r>
              <a:rPr lang="en-US" altLang="ko-KR" dirty="0" err="1"/>
              <a:t>wslconfig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8094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C457089-84D2-810B-3671-719AF4E3826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157819-AB95-7606-C06F-775459A5341A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Vivado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</a:rPr>
              <a:t>설치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508B9B-C2C7-D53D-9CAA-AEB239990890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61718-EFD1-0212-C3B7-5E8A719B48AD}"/>
              </a:ext>
            </a:extLst>
          </p:cNvPr>
          <p:cNvSpPr txBox="1"/>
          <p:nvPr/>
        </p:nvSpPr>
        <p:spPr>
          <a:xfrm>
            <a:off x="398965" y="142105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버전 선택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36D1CD-60AA-0DB5-C8F9-6555E9531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842058"/>
              </p:ext>
            </p:extLst>
          </p:nvPr>
        </p:nvGraphicFramePr>
        <p:xfrm>
          <a:off x="1123683" y="1865885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945">
                  <a:extLst>
                    <a:ext uri="{9D8B030D-6E8A-4147-A177-3AD203B41FA5}">
                      <a16:colId xmlns:a16="http://schemas.microsoft.com/office/drawing/2014/main" val="529197358"/>
                    </a:ext>
                  </a:extLst>
                </a:gridCol>
                <a:gridCol w="4629955">
                  <a:extLst>
                    <a:ext uri="{9D8B030D-6E8A-4147-A177-3AD203B41FA5}">
                      <a16:colId xmlns:a16="http://schemas.microsoft.com/office/drawing/2014/main" val="3149554853"/>
                    </a:ext>
                  </a:extLst>
                </a:gridCol>
                <a:gridCol w="1286099">
                  <a:extLst>
                    <a:ext uri="{9D8B030D-6E8A-4147-A177-3AD203B41FA5}">
                      <a16:colId xmlns:a16="http://schemas.microsoft.com/office/drawing/2014/main" val="3465944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Edition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License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78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Vivado</a:t>
                      </a:r>
                      <a:r>
                        <a:rPr lang="en-US" altLang="ko-KR" sz="1600" dirty="0"/>
                        <a:t> ML Standard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무료</a:t>
                      </a:r>
                      <a:r>
                        <a:rPr lang="en-US" altLang="ko-KR" sz="1600" dirty="0"/>
                        <a:t>, Artix-7, Spartan-7, Zynq-7000</a:t>
                      </a:r>
                      <a:r>
                        <a:rPr lang="ko-KR" altLang="en-US" sz="1600" dirty="0"/>
                        <a:t>등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X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69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Vivado</a:t>
                      </a:r>
                      <a:r>
                        <a:rPr lang="en-US" altLang="ko-KR" sz="1600" dirty="0"/>
                        <a:t> ML Enterprise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모든 디바이스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O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0133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BE02042-CF09-FE1F-2BDF-283412E733E0}"/>
              </a:ext>
            </a:extLst>
          </p:cNvPr>
          <p:cNvSpPr txBox="1"/>
          <p:nvPr/>
        </p:nvSpPr>
        <p:spPr>
          <a:xfrm>
            <a:off x="457200" y="3312098"/>
            <a:ext cx="10950434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다운로드</a:t>
            </a:r>
            <a:r>
              <a:rPr lang="en-US" altLang="ko-KR" dirty="0"/>
              <a:t> / </a:t>
            </a:r>
            <a:r>
              <a:rPr lang="ko-KR" altLang="en-US" dirty="0"/>
              <a:t>설치 과정 </a:t>
            </a:r>
            <a:r>
              <a:rPr lang="en-US" altLang="ko-KR" dirty="0"/>
              <a:t>/ </a:t>
            </a:r>
            <a:r>
              <a:rPr lang="ko-KR" altLang="en-US" dirty="0"/>
              <a:t>환경설정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2"/>
              </a:rPr>
              <a:t>https://www.xilinx.com/support/download.html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 err="1"/>
              <a:t>인스톨러</a:t>
            </a:r>
            <a:r>
              <a:rPr lang="ko-KR" altLang="en-US" sz="1400" dirty="0"/>
              <a:t> 실행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설치 유형 선택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로그인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제품 선택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디바이스 선택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설치 디렉토리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설치시작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케이블 드라이브 설치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ym typeface="Wingdings" panose="05000000000000000000" pitchFamily="2" charset="2"/>
              </a:rPr>
              <a:t>&gt;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source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/tools/Xilinx/Vivado/2021.2/settings64.sh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59962C-335F-2DB0-77BF-A7018A664E05}"/>
              </a:ext>
            </a:extLst>
          </p:cNvPr>
          <p:cNvSpPr txBox="1"/>
          <p:nvPr/>
        </p:nvSpPr>
        <p:spPr>
          <a:xfrm>
            <a:off x="457200" y="5065437"/>
            <a:ext cx="5421677" cy="1000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KV260 </a:t>
            </a:r>
            <a:r>
              <a:rPr lang="ko-KR" altLang="en-US" dirty="0"/>
              <a:t>관련 버전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최소 버전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Vivado</a:t>
            </a:r>
            <a:r>
              <a:rPr lang="en-US" altLang="ko-KR" sz="1600" dirty="0"/>
              <a:t> 2021.2 </a:t>
            </a:r>
            <a:r>
              <a:rPr lang="ko-KR" altLang="en-US" sz="1600" dirty="0"/>
              <a:t>이상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권장 버전</a:t>
            </a:r>
            <a:r>
              <a:rPr lang="en-US" altLang="ko-KR" sz="1600" dirty="0"/>
              <a:t>: 2022.2</a:t>
            </a:r>
            <a:r>
              <a:rPr lang="ko-KR" altLang="en-US" sz="1600" dirty="0"/>
              <a:t>이상 </a:t>
            </a:r>
            <a:r>
              <a:rPr lang="en-US" altLang="ko-KR" sz="1600" dirty="0"/>
              <a:t>(KV260 </a:t>
            </a:r>
            <a:r>
              <a:rPr lang="ko-KR" altLang="en-US" sz="1600" dirty="0"/>
              <a:t>보드</a:t>
            </a:r>
            <a:r>
              <a:rPr lang="en-US" altLang="ko-KR" sz="1600" dirty="0"/>
              <a:t> </a:t>
            </a:r>
            <a:r>
              <a:rPr lang="ko-KR" altLang="en-US" sz="1600" dirty="0"/>
              <a:t>파일</a:t>
            </a:r>
            <a:r>
              <a:rPr lang="en-US" altLang="ko-KR" sz="1600" dirty="0"/>
              <a:t> </a:t>
            </a:r>
            <a:r>
              <a:rPr lang="ko-KR" altLang="en-US" sz="1600" dirty="0"/>
              <a:t>기본 포함</a:t>
            </a:r>
            <a:r>
              <a:rPr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60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4F068F9-6742-908A-C019-493F13D0EF95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73EC5E-A2E3-6E11-316A-2A5031D42064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KV260</a:t>
            </a:r>
            <a:r>
              <a:rPr lang="ko-KR" altLang="en-US" sz="3200" b="1" dirty="0">
                <a:solidFill>
                  <a:schemeClr val="bg1"/>
                </a:solidFill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</a:rPr>
              <a:t>Ubuntu image / </a:t>
            </a:r>
            <a:r>
              <a:rPr lang="en-US" altLang="ko-KR" sz="3200" b="1" dirty="0" err="1">
                <a:solidFill>
                  <a:schemeClr val="bg1"/>
                </a:solidFill>
              </a:rPr>
              <a:t>WiFi</a:t>
            </a:r>
            <a:r>
              <a:rPr lang="en-US" altLang="ko-KR" sz="3200" b="1" dirty="0">
                <a:solidFill>
                  <a:schemeClr val="bg1"/>
                </a:solidFill>
              </a:rPr>
              <a:t> Connect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B5AFD0-6E23-0A9A-B9C9-437A9F9AD19A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2E8158-8FEC-9718-D800-AD79697547D2}"/>
              </a:ext>
            </a:extLst>
          </p:cNvPr>
          <p:cNvSpPr txBox="1"/>
          <p:nvPr/>
        </p:nvSpPr>
        <p:spPr>
          <a:xfrm>
            <a:off x="478315" y="1404650"/>
            <a:ext cx="9973692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다운로드</a:t>
            </a:r>
            <a:r>
              <a:rPr lang="en-US" altLang="ko-KR" dirty="0"/>
              <a:t> / </a:t>
            </a:r>
            <a:r>
              <a:rPr lang="ko-KR" altLang="en-US" dirty="0"/>
              <a:t>설치 방법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Xilinx </a:t>
            </a:r>
            <a:r>
              <a:rPr lang="en-US" altLang="ko-KR" sz="1400" dirty="0" err="1"/>
              <a:t>Github</a:t>
            </a:r>
            <a:r>
              <a:rPr lang="en-US" altLang="ko-KR" sz="1400" dirty="0"/>
              <a:t>: </a:t>
            </a:r>
            <a:r>
              <a:rPr lang="en-US" altLang="ko-KR" sz="1400" dirty="0">
                <a:hlinkClick r:id="rId2"/>
              </a:rPr>
              <a:t>https://xilinx.github.io/kria-apps-docs/kv260/2022.1/linux_boot/ubuntu_22_04/build/html/docs/sdcard.html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이미지 쓰기</a:t>
            </a:r>
            <a:r>
              <a:rPr lang="en-US" altLang="ko-KR" sz="1400" dirty="0">
                <a:sym typeface="Wingdings" panose="05000000000000000000" pitchFamily="2" charset="2"/>
              </a:rPr>
              <a:t>: Win32DiskImager(</a:t>
            </a:r>
            <a:r>
              <a:rPr lang="ko-KR" altLang="en-US" sz="1400" dirty="0">
                <a:sym typeface="Wingdings" panose="05000000000000000000" pitchFamily="2" charset="2"/>
              </a:rPr>
              <a:t>추천</a:t>
            </a:r>
            <a:r>
              <a:rPr lang="en-US" altLang="ko-KR" sz="1400" dirty="0">
                <a:sym typeface="Wingdings" panose="05000000000000000000" pitchFamily="2" charset="2"/>
              </a:rPr>
              <a:t>), Raspberry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Pi Imager, Balena Etcher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로그인</a:t>
            </a:r>
            <a:r>
              <a:rPr lang="en-US" altLang="ko-KR" sz="1400" dirty="0">
                <a:sym typeface="Wingdings" panose="05000000000000000000" pitchFamily="2" charset="2"/>
              </a:rPr>
              <a:t>:</a:t>
            </a:r>
          </a:p>
          <a:p>
            <a:pPr marL="1200150" lvl="2" indent="-285750">
              <a:buFont typeface="Calibri" panose="020F0502020204030204" pitchFamily="34" charset="0"/>
              <a:buChar char="−"/>
            </a:pPr>
            <a:r>
              <a:rPr lang="en-US" altLang="ko-KR" sz="1400" dirty="0">
                <a:sym typeface="Wingdings" panose="05000000000000000000" pitchFamily="2" charset="2"/>
              </a:rPr>
              <a:t>Initial ID: ubuntu</a:t>
            </a:r>
          </a:p>
          <a:p>
            <a:pPr marL="1200150" lvl="2" indent="-285750">
              <a:buFont typeface="Calibri" panose="020F0502020204030204" pitchFamily="34" charset="0"/>
              <a:buChar char="−"/>
            </a:pPr>
            <a:r>
              <a:rPr lang="en-US" altLang="ko-KR" sz="1400" dirty="0">
                <a:sym typeface="Wingdings" panose="05000000000000000000" pitchFamily="2" charset="2"/>
              </a:rPr>
              <a:t>Initial Password: ubuntu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A8AC0-CA93-FE70-9894-12E14B24BC6B}"/>
              </a:ext>
            </a:extLst>
          </p:cNvPr>
          <p:cNvSpPr txBox="1"/>
          <p:nvPr/>
        </p:nvSpPr>
        <p:spPr>
          <a:xfrm>
            <a:off x="457200" y="3620235"/>
            <a:ext cx="4940007" cy="112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TUI (Terminal User Interface) </a:t>
            </a:r>
            <a:r>
              <a:rPr lang="ko-KR" altLang="en-US" dirty="0"/>
              <a:t>이용 </a:t>
            </a:r>
            <a:r>
              <a:rPr lang="en-US" altLang="ko-KR" dirty="0"/>
              <a:t>– </a:t>
            </a:r>
            <a:r>
              <a:rPr lang="ko-KR" altLang="en-US" dirty="0"/>
              <a:t>제일 쉬움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sudo</a:t>
            </a:r>
            <a:r>
              <a:rPr lang="ko-KR" altLang="en-US" sz="1400" dirty="0"/>
              <a:t> </a:t>
            </a:r>
            <a:r>
              <a:rPr lang="en-US" altLang="ko-KR" sz="1400" dirty="0"/>
              <a:t>apt-get</a:t>
            </a:r>
            <a:r>
              <a:rPr lang="ko-KR" altLang="en-US" sz="1400" dirty="0"/>
              <a:t> </a:t>
            </a:r>
            <a:r>
              <a:rPr lang="en-US" altLang="ko-KR" sz="1400" dirty="0"/>
              <a:t>install</a:t>
            </a:r>
            <a:r>
              <a:rPr lang="ko-KR" altLang="en-US" sz="1400" dirty="0"/>
              <a:t> </a:t>
            </a:r>
            <a:r>
              <a:rPr lang="en-US" altLang="ko-KR" sz="1400" dirty="0"/>
              <a:t>network-manager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nmtui</a:t>
            </a:r>
            <a:endParaRPr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4AE8C9-E5B7-2FBB-651B-61D429AA8DB8}"/>
              </a:ext>
            </a:extLst>
          </p:cNvPr>
          <p:cNvSpPr txBox="1"/>
          <p:nvPr/>
        </p:nvSpPr>
        <p:spPr>
          <a:xfrm>
            <a:off x="5397207" y="3620235"/>
            <a:ext cx="6386235" cy="1443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CLI (Command Line Interface).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ifconfig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nmcli</a:t>
            </a:r>
            <a:r>
              <a:rPr lang="en-US" altLang="ko-KR" sz="1400" dirty="0"/>
              <a:t> dev </a:t>
            </a:r>
            <a:r>
              <a:rPr lang="en-US" altLang="ko-KR" sz="1400" dirty="0" err="1"/>
              <a:t>wifi</a:t>
            </a:r>
            <a:r>
              <a:rPr lang="en-US" altLang="ko-KR" sz="1400" dirty="0"/>
              <a:t> list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nmcli</a:t>
            </a:r>
            <a:r>
              <a:rPr lang="en-US" altLang="ko-KR" sz="1400" dirty="0"/>
              <a:t> dev </a:t>
            </a:r>
            <a:r>
              <a:rPr lang="en-US" altLang="ko-KR" sz="1400" dirty="0" err="1"/>
              <a:t>wifi</a:t>
            </a:r>
            <a:r>
              <a:rPr lang="en-US" altLang="ko-KR" sz="1400" dirty="0"/>
              <a:t> con “SSID” password “PSK” and “SSID” </a:t>
            </a:r>
            <a:r>
              <a:rPr lang="en-US" altLang="ko-KR" sz="1400" dirty="0" err="1"/>
              <a:t>ifname</a:t>
            </a:r>
            <a:r>
              <a:rPr lang="en-US" altLang="ko-KR" sz="1400" dirty="0"/>
              <a:t> “</a:t>
            </a:r>
            <a:r>
              <a:rPr lang="en-US" altLang="ko-KR" sz="1400" dirty="0" err="1"/>
              <a:t>wlanN</a:t>
            </a:r>
            <a:r>
              <a:rPr lang="en-US" altLang="ko-KR" sz="1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66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BB22E35-36AB-B467-8D94-A8AFA9C62762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2D9BB05-DEFA-DDD2-6279-D55C9B3E5D84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SSH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5239D18-98E1-BA4A-EF7C-6B90F7E19ABF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E411F2EA-BBF1-E2C8-0A4F-E5C4ECA55C2D}"/>
              </a:ext>
            </a:extLst>
          </p:cNvPr>
          <p:cNvSpPr/>
          <p:nvPr/>
        </p:nvSpPr>
        <p:spPr>
          <a:xfrm>
            <a:off x="1320086" y="1860281"/>
            <a:ext cx="8997886" cy="4721539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dirty="0"/>
              <a:t>Key</a:t>
            </a:r>
            <a:r>
              <a:rPr lang="ko-KR" altLang="en-US" dirty="0"/>
              <a:t> 생성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ssh-keygen</a:t>
            </a:r>
            <a:r>
              <a:rPr lang="ko-KR" altLang="en-US" dirty="0"/>
              <a:t> </a:t>
            </a:r>
            <a:r>
              <a:rPr lang="en-US" altLang="ko-KR" dirty="0"/>
              <a:t>–t</a:t>
            </a:r>
            <a:r>
              <a:rPr lang="ko-KR" altLang="en-US" dirty="0"/>
              <a:t> </a:t>
            </a:r>
            <a:r>
              <a:rPr lang="en-US" altLang="ko-KR" dirty="0" err="1"/>
              <a:t>rsa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dirty="0"/>
              <a:t>Public</a:t>
            </a:r>
            <a:r>
              <a:rPr lang="ko-KR" altLang="en-US" dirty="0"/>
              <a:t> </a:t>
            </a:r>
            <a:r>
              <a:rPr lang="en-US" altLang="ko-KR" dirty="0"/>
              <a:t>Key</a:t>
            </a:r>
            <a:r>
              <a:rPr lang="ko-KR" altLang="en-US" dirty="0"/>
              <a:t> 복사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ssh-copy-id –I ~/.ssh/id_key.pub ubuntu@&lt;KV260 IP&gt;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접속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ssh ubuntu@&lt;KV260 IP&gt;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config </a:t>
            </a:r>
            <a:r>
              <a:rPr lang="ko-KR" altLang="en-US" dirty="0"/>
              <a:t>파일 예시 </a:t>
            </a:r>
            <a:r>
              <a:rPr lang="en-US" altLang="ko-KR" dirty="0"/>
              <a:t>(~/.ssh/config)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Host kv260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	</a:t>
            </a:r>
            <a:r>
              <a:rPr lang="en-US" dirty="0" err="1"/>
              <a:t>HostName</a:t>
            </a:r>
            <a:r>
              <a:rPr lang="en-US" dirty="0"/>
              <a:t> &lt;KV260 IP&gt;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	User ubuntu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	Port 22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		</a:t>
            </a:r>
            <a:r>
              <a:rPr lang="en-US" dirty="0" err="1"/>
              <a:t>ForwardAgent</a:t>
            </a:r>
            <a:r>
              <a:rPr lang="en-US" dirty="0"/>
              <a:t> yes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ko-KR" altLang="en-US" dirty="0"/>
              <a:t>파일 복사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scp</a:t>
            </a:r>
            <a:r>
              <a:rPr lang="en-US" dirty="0"/>
              <a:t> &lt;filename&gt; ubuntu@&lt;KV260 IP&gt;:&lt;destinate location&gt;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1893C2-1E0E-403A-F8A6-E597F61FA522}"/>
              </a:ext>
            </a:extLst>
          </p:cNvPr>
          <p:cNvSpPr txBox="1"/>
          <p:nvPr/>
        </p:nvSpPr>
        <p:spPr>
          <a:xfrm>
            <a:off x="1255410" y="142105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사용 방법</a:t>
            </a:r>
          </a:p>
        </p:txBody>
      </p:sp>
    </p:spTree>
    <p:extLst>
      <p:ext uri="{BB962C8B-B14F-4D97-AF65-F5344CB8AC3E}">
        <p14:creationId xmlns:p14="http://schemas.microsoft.com/office/powerpoint/2010/main" val="2862097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6DB30C6-8B58-1C46-1F19-0433585344B2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B7584C-BFFE-6097-11B0-AE7E36879A07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Jupyter</a:t>
            </a:r>
            <a:r>
              <a:rPr lang="en-US" altLang="ko-KR" sz="3200" b="1" dirty="0">
                <a:solidFill>
                  <a:schemeClr val="bg1"/>
                </a:solidFill>
              </a:rPr>
              <a:t> Notebook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A4C02AB-0173-4F90-0F05-9E10A75CC51A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B371800E-45D7-31BD-3C74-1EB40F302110}"/>
              </a:ext>
            </a:extLst>
          </p:cNvPr>
          <p:cNvSpPr/>
          <p:nvPr/>
        </p:nvSpPr>
        <p:spPr>
          <a:xfrm>
            <a:off x="1320086" y="1860281"/>
            <a:ext cx="8997886" cy="4721539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dirty="0"/>
              <a:t>KV260</a:t>
            </a:r>
            <a:r>
              <a:rPr lang="ko-KR" altLang="en-US" dirty="0"/>
              <a:t>에서 </a:t>
            </a:r>
            <a:r>
              <a:rPr lang="en-US" altLang="ko-KR" dirty="0" err="1"/>
              <a:t>Jupyter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pip3 install --upgrade pip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pip3 install </a:t>
            </a:r>
            <a:r>
              <a:rPr lang="en-US" dirty="0" err="1"/>
              <a:t>jupyter</a:t>
            </a:r>
            <a:r>
              <a:rPr lang="en-US" dirty="0"/>
              <a:t> </a:t>
            </a:r>
            <a:r>
              <a:rPr lang="en-US" dirty="0" err="1"/>
              <a:t>jupyterlab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</a:t>
            </a:r>
            <a:r>
              <a:rPr lang="en-US" dirty="0"/>
              <a:t> </a:t>
            </a:r>
            <a:r>
              <a:rPr lang="ko-KR" altLang="en-US" dirty="0"/>
              <a:t>실행 방법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jupyter</a:t>
            </a:r>
            <a:r>
              <a:rPr lang="en-US" dirty="0"/>
              <a:t> notebook &lt;or&gt; </a:t>
            </a:r>
            <a:r>
              <a:rPr lang="en-US" dirty="0" err="1"/>
              <a:t>jupyter</a:t>
            </a:r>
            <a:r>
              <a:rPr lang="en-US" dirty="0"/>
              <a:t> lab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접속 </a:t>
            </a:r>
            <a:r>
              <a:rPr lang="en-US" altLang="ko-KR" dirty="0"/>
              <a:t>(Web </a:t>
            </a:r>
            <a:r>
              <a:rPr lang="ko-KR" altLang="en-US" dirty="0"/>
              <a:t>브라우저</a:t>
            </a:r>
            <a:r>
              <a:rPr lang="en-US" altLang="ko-KR" dirty="0"/>
              <a:t>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http://&lt;KV260 IP&gt;:9090/lab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ko-KR" altLang="en-US" dirty="0"/>
              <a:t>설정파일</a:t>
            </a:r>
            <a:r>
              <a:rPr lang="en-US" altLang="ko-KR" dirty="0"/>
              <a:t>: ~/.jupyter/jupyter_notebook_config.py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ko-KR" altLang="en-US" dirty="0"/>
              <a:t>서비스 활성화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daemon-reload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enable </a:t>
            </a:r>
            <a:r>
              <a:rPr lang="en-US" dirty="0" err="1"/>
              <a:t>jupyter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start </a:t>
            </a:r>
            <a:r>
              <a:rPr lang="en-US" dirty="0" err="1"/>
              <a:t>jupyter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status </a:t>
            </a:r>
            <a:r>
              <a:rPr lang="en-US" dirty="0" err="1"/>
              <a:t>jupyter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B8823-3235-B2BB-5092-F899DC9D44FF}"/>
              </a:ext>
            </a:extLst>
          </p:cNvPr>
          <p:cNvSpPr txBox="1"/>
          <p:nvPr/>
        </p:nvSpPr>
        <p:spPr>
          <a:xfrm>
            <a:off x="1255410" y="1421050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및 사용 방법</a:t>
            </a:r>
          </a:p>
        </p:txBody>
      </p:sp>
    </p:spTree>
    <p:extLst>
      <p:ext uri="{BB962C8B-B14F-4D97-AF65-F5344CB8AC3E}">
        <p14:creationId xmlns:p14="http://schemas.microsoft.com/office/powerpoint/2010/main" val="410864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020B516-68A4-71C0-16BF-215FF7D52BF3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BC3902-017E-FCCD-3B22-5773C36EB55A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 err="1">
                <a:solidFill>
                  <a:schemeClr val="bg1"/>
                </a:solidFill>
              </a:rPr>
              <a:t>GTKWave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34B599-8DE2-65E9-C572-9428EDF24A33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8869750-8588-26F5-C0AA-9BE0C04270E4}"/>
              </a:ext>
            </a:extLst>
          </p:cNvPr>
          <p:cNvSpPr/>
          <p:nvPr/>
        </p:nvSpPr>
        <p:spPr>
          <a:xfrm>
            <a:off x="1320086" y="1912512"/>
            <a:ext cx="8997886" cy="3664755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Sudo apt install </a:t>
            </a:r>
            <a:r>
              <a:rPr lang="en-US" dirty="0" err="1"/>
              <a:t>gtkwave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</a:t>
            </a:r>
            <a:r>
              <a:rPr lang="en-US" dirty="0"/>
              <a:t> </a:t>
            </a:r>
            <a:r>
              <a:rPr lang="ko-KR" altLang="en-US" dirty="0"/>
              <a:t>실행 방법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gtkwave</a:t>
            </a:r>
            <a:r>
              <a:rPr lang="en-US" dirty="0"/>
              <a:t> </a:t>
            </a:r>
            <a:r>
              <a:rPr lang="en-US" dirty="0" err="1"/>
              <a:t>tb_top_module.vcd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GTKWave</a:t>
            </a:r>
            <a:r>
              <a:rPr lang="en-US" dirty="0"/>
              <a:t> </a:t>
            </a:r>
            <a:r>
              <a:rPr lang="ko-KR" altLang="en-US" dirty="0"/>
              <a:t>실행 </a:t>
            </a:r>
            <a:r>
              <a:rPr lang="en-US" altLang="ko-KR" dirty="0">
                <a:sym typeface="Wingdings" panose="05000000000000000000" pitchFamily="2" charset="2"/>
              </a:rPr>
              <a:t> File  Open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VCD</a:t>
            </a:r>
            <a:r>
              <a:rPr lang="ko-KR" altLang="en-US" dirty="0">
                <a:sym typeface="Wingdings" panose="05000000000000000000" pitchFamily="2" charset="2"/>
              </a:rPr>
              <a:t> 파일 선택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설정 저장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gtkwave</a:t>
            </a:r>
            <a:r>
              <a:rPr lang="en-US" dirty="0"/>
              <a:t> –o </a:t>
            </a:r>
            <a:r>
              <a:rPr lang="en-US" dirty="0" err="1"/>
              <a:t>design.gtkw</a:t>
            </a:r>
            <a:r>
              <a:rPr lang="en-US" dirty="0"/>
              <a:t> </a:t>
            </a:r>
            <a:r>
              <a:rPr lang="en-US" dirty="0" err="1"/>
              <a:t>design.vcd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ko-KR" altLang="en-US" dirty="0"/>
              <a:t>저장된 설정으로 열기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gtkwave</a:t>
            </a:r>
            <a:r>
              <a:rPr lang="ko-KR" altLang="en-US" dirty="0"/>
              <a:t> </a:t>
            </a:r>
            <a:r>
              <a:rPr lang="en-US" altLang="ko-KR" dirty="0"/>
              <a:t>–R</a:t>
            </a:r>
            <a:r>
              <a:rPr lang="ko-KR" altLang="en-US" dirty="0"/>
              <a:t> </a:t>
            </a:r>
            <a:r>
              <a:rPr lang="en-US" altLang="ko-KR" dirty="0" err="1"/>
              <a:t>design.gtkw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ABEFE7-A518-F439-4E59-A90B73AD61C6}"/>
              </a:ext>
            </a:extLst>
          </p:cNvPr>
          <p:cNvSpPr txBox="1"/>
          <p:nvPr/>
        </p:nvSpPr>
        <p:spPr>
          <a:xfrm>
            <a:off x="1255410" y="1421050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및 사용 방법</a:t>
            </a:r>
          </a:p>
        </p:txBody>
      </p:sp>
    </p:spTree>
    <p:extLst>
      <p:ext uri="{BB962C8B-B14F-4D97-AF65-F5344CB8AC3E}">
        <p14:creationId xmlns:p14="http://schemas.microsoft.com/office/powerpoint/2010/main" val="2694824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441F3AA-7F89-3782-61B9-5D53EF628DFD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75D4F4-72CE-5803-EC68-F11FC0FA33A5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USBIPD (WSL</a:t>
            </a:r>
            <a:r>
              <a:rPr lang="ko-KR" altLang="en-US" sz="3200" b="1" dirty="0">
                <a:solidFill>
                  <a:schemeClr val="bg1"/>
                </a:solidFill>
              </a:rPr>
              <a:t>에서 </a:t>
            </a:r>
            <a:r>
              <a:rPr lang="en-US" altLang="ko-KR" sz="3200" b="1" dirty="0">
                <a:solidFill>
                  <a:schemeClr val="bg1"/>
                </a:solidFill>
              </a:rPr>
              <a:t>USB </a:t>
            </a:r>
            <a:r>
              <a:rPr lang="ko-KR" altLang="en-US" sz="3200" b="1" dirty="0">
                <a:solidFill>
                  <a:schemeClr val="bg1"/>
                </a:solidFill>
              </a:rPr>
              <a:t>장치 사용하기</a:t>
            </a:r>
            <a:r>
              <a:rPr lang="en-US" altLang="ko-KR" sz="3200" b="1" dirty="0">
                <a:solidFill>
                  <a:schemeClr val="bg1"/>
                </a:solidFill>
              </a:rPr>
              <a:t>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834146E-BC71-8E74-B1A3-631A0DE30514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F6D4BA6C-9C51-3D0B-E200-496F22631116}"/>
              </a:ext>
            </a:extLst>
          </p:cNvPr>
          <p:cNvSpPr/>
          <p:nvPr/>
        </p:nvSpPr>
        <p:spPr>
          <a:xfrm>
            <a:off x="1320086" y="1912512"/>
            <a:ext cx="8997886" cy="3664755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ko-KR" altLang="en-US" dirty="0"/>
              <a:t>설치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https://github.com/dorssel/usbipd-win/releases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</a:t>
            </a:r>
            <a:r>
              <a:rPr lang="en-US" dirty="0"/>
              <a:t> PowerShell (</a:t>
            </a:r>
            <a:r>
              <a:rPr lang="ko-KR" altLang="en-US" dirty="0"/>
              <a:t>관리자모드</a:t>
            </a:r>
            <a:r>
              <a:rPr lang="en-US" altLang="ko-KR" dirty="0"/>
              <a:t>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usbipd</a:t>
            </a:r>
            <a:r>
              <a:rPr lang="ko-KR" altLang="en-US" dirty="0"/>
              <a:t> </a:t>
            </a:r>
            <a:r>
              <a:rPr lang="en-US" altLang="ko-KR" dirty="0"/>
              <a:t>list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usbipd</a:t>
            </a:r>
            <a:r>
              <a:rPr lang="en-US" dirty="0"/>
              <a:t> bind --</a:t>
            </a:r>
            <a:r>
              <a:rPr lang="en-US" dirty="0" err="1"/>
              <a:t>busid</a:t>
            </a:r>
            <a:r>
              <a:rPr lang="en-US" dirty="0"/>
              <a:t> &lt;</a:t>
            </a:r>
            <a:r>
              <a:rPr lang="en-US" dirty="0" err="1"/>
              <a:t>busid</a:t>
            </a:r>
            <a:r>
              <a:rPr lang="en-US" dirty="0"/>
              <a:t>&gt;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>
                <a:sym typeface="Wingdings" panose="05000000000000000000" pitchFamily="2" charset="2"/>
              </a:rPr>
              <a:t>&gt; </a:t>
            </a:r>
            <a:r>
              <a:rPr lang="en-US" altLang="ko-KR" dirty="0" err="1">
                <a:sym typeface="Wingdings" panose="05000000000000000000" pitchFamily="2" charset="2"/>
              </a:rPr>
              <a:t>usbipd</a:t>
            </a:r>
            <a:r>
              <a:rPr lang="en-US" altLang="ko-KR" dirty="0">
                <a:sym typeface="Wingdings" panose="05000000000000000000" pitchFamily="2" charset="2"/>
              </a:rPr>
              <a:t> attach --</a:t>
            </a:r>
            <a:r>
              <a:rPr lang="en-US" altLang="ko-KR" dirty="0" err="1">
                <a:sym typeface="Wingdings" panose="05000000000000000000" pitchFamily="2" charset="2"/>
              </a:rPr>
              <a:t>wsl</a:t>
            </a:r>
            <a:r>
              <a:rPr lang="en-US" altLang="ko-KR" dirty="0">
                <a:sym typeface="Wingdings" panose="05000000000000000000" pitchFamily="2" charset="2"/>
              </a:rPr>
              <a:t> --</a:t>
            </a:r>
            <a:r>
              <a:rPr lang="en-US" altLang="ko-KR" dirty="0" err="1">
                <a:sym typeface="Wingdings" panose="05000000000000000000" pitchFamily="2" charset="2"/>
              </a:rPr>
              <a:t>busid</a:t>
            </a:r>
            <a:r>
              <a:rPr lang="en-US" altLang="ko-KR" dirty="0">
                <a:sym typeface="Wingdings" panose="05000000000000000000" pitchFamily="2" charset="2"/>
              </a:rPr>
              <a:t> &lt;</a:t>
            </a:r>
            <a:r>
              <a:rPr lang="en-US" altLang="ko-KR" dirty="0" err="1">
                <a:sym typeface="Wingdings" panose="05000000000000000000" pitchFamily="2" charset="2"/>
              </a:rPr>
              <a:t>busid</a:t>
            </a:r>
            <a:r>
              <a:rPr lang="en-US" altLang="ko-KR" dirty="0">
                <a:sym typeface="Wingdings" panose="05000000000000000000" pitchFamily="2" charset="2"/>
              </a:rPr>
              <a:t>&gt;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altLang="ko-KR" dirty="0"/>
              <a:t>Ubuntu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lsusb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# </a:t>
            </a:r>
            <a:r>
              <a:rPr lang="en-US" altLang="ko-KR" dirty="0"/>
              <a:t>PowerShell (</a:t>
            </a:r>
            <a:r>
              <a:rPr lang="ko-KR" altLang="en-US" dirty="0"/>
              <a:t>관리자모드</a:t>
            </a:r>
            <a:r>
              <a:rPr lang="en-US" altLang="ko-KR" dirty="0"/>
              <a:t>)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usbipd</a:t>
            </a:r>
            <a:r>
              <a:rPr lang="en-US" dirty="0"/>
              <a:t> detach --</a:t>
            </a:r>
            <a:r>
              <a:rPr lang="en-US" dirty="0" err="1"/>
              <a:t>busid</a:t>
            </a:r>
            <a:r>
              <a:rPr lang="en-US" dirty="0"/>
              <a:t> &lt;</a:t>
            </a:r>
            <a:r>
              <a:rPr lang="en-US" dirty="0" err="1"/>
              <a:t>busid</a:t>
            </a:r>
            <a:r>
              <a:rPr lang="en-US" dirty="0"/>
              <a:t>&gt;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46DB9-9909-33CE-074A-C3F3192EFB64}"/>
              </a:ext>
            </a:extLst>
          </p:cNvPr>
          <p:cNvSpPr txBox="1"/>
          <p:nvPr/>
        </p:nvSpPr>
        <p:spPr>
          <a:xfrm>
            <a:off x="1255410" y="1421050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및 사용 방법</a:t>
            </a:r>
          </a:p>
        </p:txBody>
      </p:sp>
    </p:spTree>
    <p:extLst>
      <p:ext uri="{BB962C8B-B14F-4D97-AF65-F5344CB8AC3E}">
        <p14:creationId xmlns:p14="http://schemas.microsoft.com/office/powerpoint/2010/main" val="2839004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DBB2270-9050-BFE6-715B-D7FB8204E6D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232F20-14E0-AB42-BD21-1C903CC490D0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Tera Term / PuTTY / minicom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6B7A07-12BE-8A3C-94BB-27A29814DA2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589A2038-57F1-19E9-BB98-CCD2826EC047}"/>
              </a:ext>
            </a:extLst>
          </p:cNvPr>
          <p:cNvSpPr/>
          <p:nvPr/>
        </p:nvSpPr>
        <p:spPr>
          <a:xfrm>
            <a:off x="1320086" y="1912512"/>
            <a:ext cx="8997886" cy="3664755"/>
          </a:xfrm>
          <a:prstGeom prst="roundRect">
            <a:avLst>
              <a:gd name="adj" fmla="val 3287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altLang="ko-KR" dirty="0"/>
              <a:t>Tera Term (Windows)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https://github.com/TeraTermProject/teraterm/releases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</a:t>
            </a:r>
            <a:r>
              <a:rPr lang="en-US" dirty="0"/>
              <a:t> PuTTY (Windows)</a:t>
            </a: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https://www.chiark.greenend.org.uk/~sgtatham/putty/latest.html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600">
                <a:solidFill>
                  <a:srgbClr val="00FF00"/>
                </a:solidFill>
                <a:latin typeface="Courier New"/>
              </a:defRPr>
            </a:pPr>
            <a:endParaRPr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dirty="0"/>
              <a:t># </a:t>
            </a:r>
            <a:r>
              <a:rPr lang="en-US" altLang="ko-KR" dirty="0"/>
              <a:t>minicom (Linux)</a:t>
            </a:r>
            <a:endParaRPr dirty="0"/>
          </a:p>
          <a:p>
            <a:pPr marL="285750" indent="-285750">
              <a:buFont typeface="Wingdings" panose="05000000000000000000" pitchFamily="2" charset="2"/>
              <a:buChar char="Ø"/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 err="1"/>
              <a:t>sudo</a:t>
            </a:r>
            <a:r>
              <a:rPr lang="en-US" dirty="0"/>
              <a:t> apt-get install minicom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dmesg</a:t>
            </a:r>
            <a:r>
              <a:rPr lang="en-US" dirty="0"/>
              <a:t> | grep </a:t>
            </a:r>
            <a:r>
              <a:rPr lang="en-US" dirty="0" err="1"/>
              <a:t>tty</a:t>
            </a:r>
            <a:endParaRPr lang="en-US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minicom –s : </a:t>
            </a:r>
            <a:r>
              <a:rPr lang="ko-KR" altLang="en-US" dirty="0"/>
              <a:t>설정하기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dirty="0"/>
              <a:t>&gt; </a:t>
            </a:r>
            <a:r>
              <a:rPr lang="en-US" dirty="0" err="1"/>
              <a:t>sudo</a:t>
            </a:r>
            <a:r>
              <a:rPr lang="en-US" dirty="0"/>
              <a:t> minicom : </a:t>
            </a:r>
            <a:r>
              <a:rPr lang="ko-KR" altLang="en-US" dirty="0"/>
              <a:t>실행하기</a:t>
            </a:r>
            <a:endParaRPr lang="en-US" altLang="ko-KR" dirty="0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rPr lang="en-US" altLang="ko-KR" dirty="0"/>
              <a:t>&gt; </a:t>
            </a:r>
            <a:r>
              <a:rPr lang="en-US" altLang="ko-KR" dirty="0" err="1"/>
              <a:t>sudo</a:t>
            </a:r>
            <a:r>
              <a:rPr lang="en-US" altLang="ko-KR" dirty="0"/>
              <a:t> minicom –D /dev/ttyUSB0 –b 115200 : </a:t>
            </a:r>
            <a:r>
              <a:rPr lang="en-US" altLang="ko-KR" dirty="0" err="1"/>
              <a:t>baudrate</a:t>
            </a:r>
            <a:r>
              <a:rPr lang="ko-KR" altLang="en-US" dirty="0"/>
              <a:t>지정 실행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71E4A-25F7-A4CB-F882-F3BE5575F9CB}"/>
              </a:ext>
            </a:extLst>
          </p:cNvPr>
          <p:cNvSpPr txBox="1"/>
          <p:nvPr/>
        </p:nvSpPr>
        <p:spPr>
          <a:xfrm>
            <a:off x="1255410" y="1421050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설치 및 사용 방법</a:t>
            </a:r>
          </a:p>
        </p:txBody>
      </p:sp>
    </p:spTree>
    <p:extLst>
      <p:ext uri="{BB962C8B-B14F-4D97-AF65-F5344CB8AC3E}">
        <p14:creationId xmlns:p14="http://schemas.microsoft.com/office/powerpoint/2010/main" val="4228694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lang="ko-KR" altLang="en-US" dirty="0"/>
              <a:t>기대효과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Vivado로</a:t>
            </a:r>
            <a:r>
              <a:rPr dirty="0"/>
              <a:t> FPGA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Verilog로</a:t>
            </a:r>
            <a:r>
              <a:rPr dirty="0"/>
              <a:t> RTL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/>
              <a:t>PS-PL </a:t>
            </a:r>
            <a:r>
              <a:rPr dirty="0" err="1"/>
              <a:t>통신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커스텀</a:t>
            </a:r>
            <a:r>
              <a:rPr dirty="0"/>
              <a:t> IP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spcBef>
                <a:spcPts val="1400"/>
              </a:spcBef>
              <a:buFont typeface="Wingdings" panose="05000000000000000000" pitchFamily="2" charset="2"/>
              <a:buChar char="ü"/>
              <a:defRPr sz="2200"/>
            </a:pPr>
            <a:r>
              <a:rPr dirty="0" err="1"/>
              <a:t>비전</a:t>
            </a:r>
            <a:r>
              <a:rPr dirty="0"/>
              <a:t> AI </a:t>
            </a:r>
            <a:r>
              <a:rPr dirty="0" err="1"/>
              <a:t>애플리케이션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확보</a:t>
            </a:r>
            <a:endParaRPr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1906852-4C0F-72F1-9AD4-1F84B761978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B310FBA-8A03-EFAB-B653-2DCBC09730E1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003366"/>
                </a:solidFill>
              </a:defRPr>
            </a:pPr>
            <a:r>
              <a:rPr lang="en-US" altLang="ko-KR" sz="3200" b="1" dirty="0">
                <a:solidFill>
                  <a:schemeClr val="bg1"/>
                </a:solidFill>
              </a:rPr>
              <a:t>Expectation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B565C13-CA44-C558-53F0-FD9B553A9F37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Step 01: LED Blink 기초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Vivado로 첫 FPGA 프로젝트 만들기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1593</Words>
  <Application>Microsoft Office PowerPoint</Application>
  <PresentationFormat>와이드스크린</PresentationFormat>
  <Paragraphs>367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Arial</vt:lpstr>
      <vt:lpstr>Calibri</vt:lpstr>
      <vt:lpstr>Wingdings</vt:lpstr>
      <vt:lpstr>Office Theme</vt:lpstr>
      <vt:lpstr>PowerPoint 프레젠테이션</vt:lpstr>
      <vt:lpstr>PowerPoint 프레젠테이션</vt:lpstr>
      <vt:lpstr>Who am I </vt:lpstr>
      <vt:lpstr>커리큘럼 개요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JAEUK NAM</cp:lastModifiedBy>
  <cp:revision>26</cp:revision>
  <dcterms:created xsi:type="dcterms:W3CDTF">2013-01-27T09:14:16Z</dcterms:created>
  <dcterms:modified xsi:type="dcterms:W3CDTF">2026-03-24T08:28:56Z</dcterms:modified>
  <cp:category/>
</cp:coreProperties>
</file>