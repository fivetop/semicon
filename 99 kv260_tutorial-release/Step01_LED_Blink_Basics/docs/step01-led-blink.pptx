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7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8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4BA2A6D-50E1-A225-7D41-3AEE3CFDF3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566375-E381-61AE-BD14-BC70865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77D7F-6779-44A6-9D32-028AF8E9B06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20A5C9-F040-19ED-12BE-77D014E869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B0B333-1AFA-B254-815F-5E2DE18284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DF21F-685A-45E1-8CAD-D0B5608A6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5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381F3-C0D5-4E44-AF51-676A497DAD5C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B49A6-2E19-4662-8D30-AF93145A3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84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Step 01: LED Blink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Vivado로 첫 FPGA 프로젝트 만들기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99A951-88B3-DA14-39FA-F910872DB484}"/>
              </a:ext>
            </a:extLst>
          </p:cNvPr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rotWithShape="1">
            <a:gsLst>
              <a:gs pos="0">
                <a:srgbClr val="001A40"/>
              </a:gs>
              <a:gs pos="100000">
                <a:srgbClr val="00336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F0E16-96AD-1F3B-F022-414FDB9896DD}"/>
              </a:ext>
            </a:extLst>
          </p:cNvPr>
          <p:cNvSpPr txBox="1"/>
          <p:nvPr/>
        </p:nvSpPr>
        <p:spPr>
          <a:xfrm>
            <a:off x="1371600" y="1463040"/>
            <a:ext cx="94484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en-US" sz="4400" b="1" dirty="0">
                <a:solidFill>
                  <a:srgbClr val="FFFFFF"/>
                </a:solidFill>
                <a:latin typeface="Calibri"/>
              </a:rPr>
              <a:t>Blink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기초</a:t>
            </a:r>
            <a:endParaRPr sz="4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05A54-804F-74D0-925C-0D6F25D9749F}"/>
              </a:ext>
            </a:extLst>
          </p:cNvPr>
          <p:cNvSpPr txBox="1"/>
          <p:nvPr/>
        </p:nvSpPr>
        <p:spPr>
          <a:xfrm>
            <a:off x="1371600" y="356616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AACCEE"/>
                </a:solidFill>
                <a:latin typeface="Calibri"/>
              </a:rPr>
              <a:t>Vivado</a:t>
            </a:r>
            <a:r>
              <a:rPr sz="2400" b="0" dirty="0">
                <a:solidFill>
                  <a:srgbClr val="AACCEE"/>
                </a:solidFill>
                <a:latin typeface="Calibri"/>
              </a:rPr>
              <a:t> + KV260 + PYNQ 첫 </a:t>
            </a:r>
            <a:r>
              <a:rPr sz="2400" b="0" dirty="0" err="1">
                <a:solidFill>
                  <a:srgbClr val="AACCEE"/>
                </a:solidFill>
                <a:latin typeface="Calibri"/>
              </a:rPr>
              <a:t>번째</a:t>
            </a:r>
            <a:r>
              <a:rPr sz="2400" b="0" dirty="0">
                <a:solidFill>
                  <a:srgbClr val="AACCEE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AACCEE"/>
                </a:solidFill>
                <a:latin typeface="Calibri"/>
              </a:rPr>
              <a:t>프로젝트</a:t>
            </a:r>
            <a:r>
              <a:rPr sz="2400" b="0" dirty="0">
                <a:solidFill>
                  <a:srgbClr val="AACCEE"/>
                </a:solidFill>
                <a:latin typeface="Calibri"/>
              </a:rPr>
              <a:t> (Step 01)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D5253-DA5D-28D4-06E5-85F397E7F78D}"/>
              </a:ext>
            </a:extLst>
          </p:cNvPr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5588BB"/>
                </a:solidFill>
                <a:latin typeface="Calibri"/>
              </a:rPr>
              <a:t>KV260 FPGA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5C82C6DE-AF17-39F5-73B5-B8EBB346128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002590A-4770-CD25-3221-90E9E0CFA77F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B419AC-8C75-3D59-50CC-1734E3E7E081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88677-B94D-FFAF-4F6F-E46494BF78B5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AA4476B7-079E-369F-AFDA-654CB8FDED2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E31BA-E14F-CD3B-2E58-08AC8D6984F8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DF3F7C-2D60-A712-109A-69BB21A41679}"/>
              </a:ext>
            </a:extLst>
          </p:cNvPr>
          <p:cNvSpPr txBox="1"/>
          <p:nvPr/>
        </p:nvSpPr>
        <p:spPr>
          <a:xfrm>
            <a:off x="457200" y="1473663"/>
            <a:ext cx="11277295" cy="2377119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800" b="0" dirty="0" err="1">
                <a:solidFill>
                  <a:srgbClr val="000000"/>
                </a:solidFill>
                <a:latin typeface="Calibri"/>
              </a:rPr>
              <a:t>Vivado에서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RTL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프로젝트를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생성하고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빌드할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수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있다</a:t>
            </a:r>
            <a:r>
              <a:rPr lang="en-US" sz="1800" b="0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Verilog</a:t>
            </a:r>
            <a:r>
              <a:rPr lang="ko-KR" altLang="en-US" dirty="0">
                <a:solidFill>
                  <a:srgbClr val="000000"/>
                </a:solidFill>
              </a:rPr>
              <a:t>로 </a:t>
            </a:r>
            <a:r>
              <a:rPr lang="en-US" altLang="ko-KR" dirty="0">
                <a:solidFill>
                  <a:srgbClr val="000000"/>
                </a:solidFill>
              </a:rPr>
              <a:t>LED </a:t>
            </a:r>
            <a:r>
              <a:rPr lang="ko-KR" altLang="en-US" dirty="0">
                <a:solidFill>
                  <a:srgbClr val="000000"/>
                </a:solidFill>
              </a:rPr>
              <a:t>점멸 모듈을 작성할 수 있다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Block Design</a:t>
            </a:r>
            <a:r>
              <a:rPr lang="ko-KR" altLang="en-US" dirty="0">
                <a:solidFill>
                  <a:srgbClr val="000000"/>
                </a:solidFill>
              </a:rPr>
              <a:t>에서 </a:t>
            </a:r>
            <a:r>
              <a:rPr lang="en-US" altLang="ko-KR" dirty="0">
                <a:solidFill>
                  <a:srgbClr val="000000"/>
                </a:solidFill>
              </a:rPr>
              <a:t>PS-PL </a:t>
            </a:r>
            <a:r>
              <a:rPr lang="ko-KR" altLang="en-US" dirty="0">
                <a:solidFill>
                  <a:srgbClr val="000000"/>
                </a:solidFill>
              </a:rPr>
              <a:t>연결을 구성할 수 있다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XDC </a:t>
            </a:r>
            <a:r>
              <a:rPr lang="ko-KR" altLang="en-US" dirty="0">
                <a:solidFill>
                  <a:srgbClr val="000000"/>
                </a:solidFill>
              </a:rPr>
              <a:t>핀 제약 조건을 작성할 수 있다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PYNQ Overlay</a:t>
            </a:r>
            <a:r>
              <a:rPr lang="ko-KR" altLang="en-US" dirty="0">
                <a:solidFill>
                  <a:srgbClr val="000000"/>
                </a:solidFill>
              </a:rPr>
              <a:t>로 </a:t>
            </a:r>
            <a:r>
              <a:rPr lang="en-US" altLang="ko-KR" dirty="0">
                <a:solidFill>
                  <a:srgbClr val="000000"/>
                </a:solidFill>
              </a:rPr>
              <a:t>KV260 FPGA</a:t>
            </a:r>
            <a:r>
              <a:rPr lang="ko-KR" altLang="en-US" dirty="0">
                <a:solidFill>
                  <a:srgbClr val="000000"/>
                </a:solidFill>
              </a:rPr>
              <a:t>를 프로그래밍할 수 있다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rgbClr val="000000"/>
                </a:solidFill>
              </a:rPr>
              <a:t>난이도</a:t>
            </a:r>
            <a:r>
              <a:rPr lang="en-US" altLang="ko-KR" dirty="0">
                <a:solidFill>
                  <a:srgbClr val="000000"/>
                </a:solidFill>
              </a:rPr>
              <a:t>: ★☆☆☆☆ (</a:t>
            </a:r>
            <a:r>
              <a:rPr lang="ko-KR" altLang="en-US" dirty="0">
                <a:solidFill>
                  <a:srgbClr val="000000"/>
                </a:solidFill>
              </a:rPr>
              <a:t>입문</a:t>
            </a:r>
            <a:r>
              <a:rPr lang="en-US" altLang="ko-KR" dirty="0">
                <a:solidFill>
                  <a:srgbClr val="000000"/>
                </a:solidFill>
              </a:rPr>
              <a:t>) | </a:t>
            </a:r>
            <a:r>
              <a:rPr lang="ko-KR" altLang="en-US" b="1" dirty="0">
                <a:solidFill>
                  <a:srgbClr val="003366"/>
                </a:solidFill>
              </a:rPr>
              <a:t>소요 시간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약 </a:t>
            </a:r>
            <a:r>
              <a:rPr lang="en-US" altLang="ko-KR" dirty="0">
                <a:solidFill>
                  <a:srgbClr val="000000"/>
                </a:solidFill>
              </a:rPr>
              <a:t>3~4</a:t>
            </a:r>
            <a:r>
              <a:rPr lang="ko-KR" altLang="en-US" dirty="0">
                <a:solidFill>
                  <a:srgbClr val="000000"/>
                </a:solidFill>
              </a:rPr>
              <a:t>시간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38D32B5-3070-621A-3431-CEC2214719C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D96DF7-3BCE-B1BD-D503-00F4D0ECDF3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15E70-7161-23F0-7E21-CDA2EF8A8025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전체 개발 워크플로우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D0EAE-4BE2-DAE8-7288-4543DC81B9A0}"/>
              </a:ext>
            </a:extLst>
          </p:cNvPr>
          <p:cNvSpPr txBox="1"/>
          <p:nvPr/>
        </p:nvSpPr>
        <p:spPr>
          <a:xfrm>
            <a:off x="895081" y="2408518"/>
            <a:ext cx="4468969" cy="44668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400" b="1" dirty="0" err="1">
                <a:solidFill>
                  <a:srgbClr val="003366"/>
                </a:solidFill>
                <a:latin typeface="Calibri"/>
              </a:rPr>
              <a:t>핵심</a:t>
            </a:r>
            <a:r>
              <a:rPr sz="2400" b="1" dirty="0">
                <a:solidFill>
                  <a:srgbClr val="003366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003366"/>
                </a:solidFill>
                <a:latin typeface="Calibri"/>
              </a:rPr>
              <a:t>단계</a:t>
            </a:r>
            <a:endParaRPr sz="2400" b="1" dirty="0">
              <a:solidFill>
                <a:srgbClr val="003366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55F7A-0BFC-61A1-0D10-200B4711E664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61A9262B-7174-6EA5-8A2C-A6EDAF5AAF1F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E59723-61F8-9356-9F98-90C26F352134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7323EF-90DD-4807-CAAD-77AE4DB2DA59}"/>
              </a:ext>
            </a:extLst>
          </p:cNvPr>
          <p:cNvSpPr txBox="1"/>
          <p:nvPr/>
        </p:nvSpPr>
        <p:spPr>
          <a:xfrm>
            <a:off x="940358" y="3046711"/>
            <a:ext cx="4702935" cy="1708919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RTL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코드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작성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(Verilog)</a:t>
            </a:r>
            <a:endParaRPr lang="en-US" sz="1800" b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Block Design </a:t>
            </a:r>
            <a:r>
              <a:rPr lang="ko-KR" altLang="en-US" dirty="0">
                <a:solidFill>
                  <a:srgbClr val="000000"/>
                </a:solidFill>
              </a:rPr>
              <a:t>구성 </a:t>
            </a:r>
            <a:r>
              <a:rPr lang="en-US" altLang="ko-KR" dirty="0">
                <a:solidFill>
                  <a:srgbClr val="000000"/>
                </a:solidFill>
              </a:rPr>
              <a:t>(PS + PL)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dirty="0">
                <a:solidFill>
                  <a:srgbClr val="000000"/>
                </a:solidFill>
              </a:rPr>
              <a:t>핀 제약 조건 설정 </a:t>
            </a:r>
            <a:r>
              <a:rPr lang="en-US" altLang="ko-KR" dirty="0">
                <a:solidFill>
                  <a:srgbClr val="000000"/>
                </a:solidFill>
              </a:rPr>
              <a:t>(XDC)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dirty="0">
                <a:solidFill>
                  <a:srgbClr val="000000"/>
                </a:solidFill>
              </a:rPr>
              <a:t>합성 → 구현 → </a:t>
            </a:r>
            <a:r>
              <a:rPr lang="ko-KR" altLang="en-US" dirty="0" err="1">
                <a:solidFill>
                  <a:srgbClr val="000000"/>
                </a:solidFill>
              </a:rPr>
              <a:t>비트스트림</a:t>
            </a:r>
            <a:endParaRPr lang="en-US" altLang="ko-KR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PYNQ</a:t>
            </a:r>
            <a:r>
              <a:rPr lang="ko-KR" altLang="en-US" dirty="0">
                <a:solidFill>
                  <a:srgbClr val="000000"/>
                </a:solidFill>
              </a:rPr>
              <a:t>로 </a:t>
            </a:r>
            <a:r>
              <a:rPr lang="en-US" altLang="ko-KR" dirty="0">
                <a:solidFill>
                  <a:srgbClr val="000000"/>
                </a:solidFill>
              </a:rPr>
              <a:t>FPGA </a:t>
            </a:r>
            <a:r>
              <a:rPr lang="ko-KR" altLang="en-US" dirty="0">
                <a:solidFill>
                  <a:srgbClr val="000000"/>
                </a:solidFill>
              </a:rPr>
              <a:t>프로그래밍</a:t>
            </a: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968144-691C-5F6F-8B1B-A4B2FCFC6910}"/>
              </a:ext>
            </a:extLst>
          </p:cNvPr>
          <p:cNvSpPr/>
          <p:nvPr/>
        </p:nvSpPr>
        <p:spPr>
          <a:xfrm>
            <a:off x="6128598" y="1787317"/>
            <a:ext cx="5514457" cy="136830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HOST</a:t>
            </a:r>
            <a:r>
              <a:rPr lang="ko-KR" altLang="en-US" dirty="0"/>
              <a:t> </a:t>
            </a:r>
            <a:r>
              <a:rPr lang="en-US" altLang="ko-KR" dirty="0"/>
              <a:t>PC (x86)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Verilog/VHDL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Vivado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합성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구현 </a:t>
            </a:r>
            <a:r>
              <a:rPr lang="en-US" altLang="ko-KR" dirty="0">
                <a:sym typeface="Wingdings" panose="05000000000000000000" pitchFamily="2" charset="2"/>
              </a:rPr>
              <a:t> .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bit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sym typeface="Wingdings" panose="05000000000000000000" pitchFamily="2" charset="2"/>
              </a:rPr>
              <a:t>hwh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3EEA3CE-AC0A-12C4-75E8-7F6D108F9743}"/>
              </a:ext>
            </a:extLst>
          </p:cNvPr>
          <p:cNvSpPr/>
          <p:nvPr/>
        </p:nvSpPr>
        <p:spPr>
          <a:xfrm>
            <a:off x="6128598" y="4443211"/>
            <a:ext cx="5514457" cy="136830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KV260 (ARM)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PYNQ Overlay </a:t>
            </a:r>
            <a:r>
              <a:rPr lang="en-US" altLang="ko-KR" dirty="0">
                <a:sym typeface="Wingdings" panose="05000000000000000000" pitchFamily="2" charset="2"/>
              </a:rPr>
              <a:t> FPGA PL </a:t>
            </a:r>
            <a:r>
              <a:rPr lang="ko-KR" altLang="en-US" dirty="0">
                <a:sym typeface="Wingdings" panose="05000000000000000000" pitchFamily="2" charset="2"/>
              </a:rPr>
              <a:t>프로그래밍 </a:t>
            </a:r>
            <a:r>
              <a:rPr lang="en-US" altLang="ko-KR" dirty="0">
                <a:sym typeface="Wingdings" panose="05000000000000000000" pitchFamily="2" charset="2"/>
              </a:rPr>
              <a:t> LED</a:t>
            </a:r>
            <a:r>
              <a:rPr lang="ko-KR" altLang="en-US" dirty="0">
                <a:sym typeface="Wingdings" panose="05000000000000000000" pitchFamily="2" charset="2"/>
              </a:rPr>
              <a:t> 동작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7843D11-623C-1E1C-53F8-0B0C4E6B2AE9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885827" y="3155626"/>
            <a:ext cx="0" cy="1287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39DDE10-6D6E-AC4E-BF8E-49FE7AB5CF1D}"/>
              </a:ext>
            </a:extLst>
          </p:cNvPr>
          <p:cNvSpPr txBox="1"/>
          <p:nvPr/>
        </p:nvSpPr>
        <p:spPr>
          <a:xfrm>
            <a:off x="8885826" y="3655114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SCP/</a:t>
            </a:r>
            <a:r>
              <a:rPr lang="ko-KR" altLang="en-US" dirty="0"/>
              <a:t> </a:t>
            </a:r>
            <a:r>
              <a:rPr lang="en-US" altLang="ko-KR" dirty="0"/>
              <a:t>USB</a:t>
            </a:r>
            <a:r>
              <a:rPr lang="ko-KR" altLang="en-US" dirty="0"/>
              <a:t> 전송</a:t>
            </a:r>
          </a:p>
        </p:txBody>
      </p:sp>
    </p:spTree>
    <p:extLst>
      <p:ext uri="{BB962C8B-B14F-4D97-AF65-F5344CB8AC3E}">
        <p14:creationId xmlns:p14="http://schemas.microsoft.com/office/powerpoint/2010/main" val="411462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312" y="1873877"/>
            <a:ext cx="5312535" cy="1751527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 err="1">
                <a:solidFill>
                  <a:srgbClr val="000000"/>
                </a:solidFill>
              </a:rPr>
              <a:t>Vivado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실행 → </a:t>
            </a:r>
            <a:r>
              <a:rPr lang="en-US" altLang="ko-KR" sz="2000" b="1" dirty="0">
                <a:solidFill>
                  <a:srgbClr val="000000"/>
                </a:solidFill>
              </a:rPr>
              <a:t>Create Project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클릭 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400" dirty="0">
                <a:solidFill>
                  <a:srgbClr val="000000"/>
                </a:solidFill>
              </a:rPr>
              <a:t>Project name: </a:t>
            </a:r>
            <a:r>
              <a:rPr lang="en-US" altLang="ko-KR" sz="2000" dirty="0">
                <a:solidFill>
                  <a:srgbClr val="0066CC"/>
                </a:solidFill>
                <a:latin typeface="Courier New"/>
              </a:rPr>
              <a:t>kv260_led_blink 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Project Type: </a:t>
            </a:r>
            <a:r>
              <a:rPr lang="en-US" altLang="ko-KR" sz="2000" b="1" dirty="0">
                <a:solidFill>
                  <a:srgbClr val="000000"/>
                </a:solidFill>
              </a:rPr>
              <a:t>RTL Project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선택 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Default Part → </a:t>
            </a:r>
            <a:r>
              <a:rPr lang="en-US" altLang="ko-KR" sz="2000" b="1" dirty="0">
                <a:solidFill>
                  <a:srgbClr val="000000"/>
                </a:solidFill>
              </a:rPr>
              <a:t>Boards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탭 → </a:t>
            </a:r>
            <a:r>
              <a:rPr lang="en-US" altLang="ko-KR" sz="2000" b="1" dirty="0">
                <a:solidFill>
                  <a:srgbClr val="000000"/>
                </a:solidFill>
              </a:rPr>
              <a:t>Kria KV260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선택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dirty="0"/>
              <a:t>Finish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07AC3D8-53E8-C8A4-DC89-E76D801E952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37716C-0FA4-F0C0-F861-C8F53F60F576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759A2-7019-7DB3-20B0-1F06F7403711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Vivado 프로젝트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23BBA-7065-9384-1EAA-D1D99CE121DB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GUI 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방식</a:t>
            </a:r>
            <a:endParaRPr sz="1800" b="1" dirty="0">
              <a:solidFill>
                <a:srgbClr val="003366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08DD3-2FE8-1A5D-5F69-43F0D29BED34}"/>
              </a:ext>
            </a:extLst>
          </p:cNvPr>
          <p:cNvSpPr txBox="1"/>
          <p:nvPr/>
        </p:nvSpPr>
        <p:spPr>
          <a:xfrm>
            <a:off x="457199" y="4071334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TCL 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방식</a:t>
            </a:r>
            <a:r>
              <a:rPr sz="1800" b="1" dirty="0">
                <a:solidFill>
                  <a:srgbClr val="003366"/>
                </a:solidFill>
                <a:latin typeface="Calibri"/>
              </a:rPr>
              <a:t> (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자동화</a:t>
            </a:r>
            <a:r>
              <a:rPr sz="1800" b="1" dirty="0">
                <a:solidFill>
                  <a:srgbClr val="003366"/>
                </a:solidFill>
                <a:latin typeface="Calibri"/>
              </a:rPr>
              <a:t>)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F5FD4535-EF07-CDA5-6657-ED4A55789B6F}"/>
              </a:ext>
            </a:extLst>
          </p:cNvPr>
          <p:cNvSpPr/>
          <p:nvPr/>
        </p:nvSpPr>
        <p:spPr>
          <a:xfrm>
            <a:off x="457200" y="4561054"/>
            <a:ext cx="11277295" cy="13716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E586B439-F195-0FF8-90D1-AC2C92544913}"/>
              </a:ext>
            </a:extLst>
          </p:cNvPr>
          <p:cNvSpPr/>
          <p:nvPr/>
        </p:nvSpPr>
        <p:spPr>
          <a:xfrm>
            <a:off x="10682935" y="4634206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tcl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1A941-3C28-651C-477D-B797B3471E89}"/>
              </a:ext>
            </a:extLst>
          </p:cNvPr>
          <p:cNvSpPr txBox="1"/>
          <p:nvPr/>
        </p:nvSpPr>
        <p:spPr>
          <a:xfrm>
            <a:off x="640080" y="4698214"/>
            <a:ext cx="10911535" cy="10972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D4D4D4"/>
                </a:solidFill>
                <a:latin typeface="Courier New"/>
              </a:rPr>
              <a:t>create_project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kv260_led_blink ./kv260_led_blink \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-part xck26-sfvc784-2LV-c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D4D4D4"/>
                </a:solidFill>
                <a:latin typeface="Courier New"/>
              </a:rPr>
              <a:t>set_property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board_part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xilinx.com:kv260_som:part0:</a:t>
            </a:r>
            <a:r>
              <a:rPr sz="1200" b="0" dirty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.</a:t>
            </a:r>
            <a:r>
              <a:rPr sz="1200" b="0" dirty="0">
                <a:solidFill>
                  <a:srgbClr val="B5CEA8"/>
                </a:solidFill>
                <a:latin typeface="Courier New"/>
              </a:rPr>
              <a:t>4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\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[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current_project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48BB7-A5DF-E4E8-6C01-8075ECFC13DA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4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5CC1763-7EA1-4B7E-3E79-1323EA8362F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D7B59-FF61-210B-49BA-4EF522BFE92D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716" y="1310650"/>
            <a:ext cx="8229600" cy="1298263"/>
          </a:xfrm>
        </p:spPr>
        <p:txBody>
          <a:bodyPr/>
          <a:lstStyle/>
          <a:p>
            <a:pPr>
              <a:spcBef>
                <a:spcPts val="800"/>
              </a:spcBef>
              <a:defRPr sz="2000"/>
            </a:pPr>
            <a:r>
              <a:rPr dirty="0" err="1"/>
              <a:t>led_on.v</a:t>
            </a:r>
            <a:r>
              <a:rPr dirty="0"/>
              <a:t>: LED </a:t>
            </a:r>
            <a:r>
              <a:rPr dirty="0" err="1"/>
              <a:t>항상</a:t>
            </a:r>
            <a:r>
              <a:rPr dirty="0"/>
              <a:t> ON</a:t>
            </a:r>
          </a:p>
          <a:p>
            <a:pPr>
              <a:spcBef>
                <a:spcPts val="800"/>
              </a:spcBef>
              <a:defRPr sz="2000"/>
            </a:pPr>
            <a:r>
              <a:rPr dirty="0" err="1"/>
              <a:t>led_blinker.v</a:t>
            </a:r>
            <a:r>
              <a:rPr dirty="0"/>
              <a:t>: 1Hz </a:t>
            </a:r>
            <a:r>
              <a:rPr dirty="0" err="1"/>
              <a:t>깜빡임</a:t>
            </a:r>
            <a:endParaRPr dirty="0"/>
          </a:p>
          <a:p>
            <a:pPr>
              <a:spcBef>
                <a:spcPts val="800"/>
              </a:spcBef>
              <a:defRPr sz="2000"/>
            </a:pPr>
            <a:r>
              <a:rPr dirty="0" err="1"/>
              <a:t>top_module.v</a:t>
            </a:r>
            <a:r>
              <a:rPr dirty="0"/>
              <a:t>: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모듈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F613D8D-E771-9FBB-3AAB-4B92B892DB1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0C53B51-64FE-3EF8-97BA-74A2BD124EC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DF6DD-9EAD-8E56-4D80-A2C5D4D4E70F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/>
              </a:rPr>
              <a:t>RTL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모듈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작성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led_blinker.v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/ </a:t>
            </a:r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top_module.v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D8084C01-E04E-369E-55D8-9F6FB0F59186}"/>
              </a:ext>
            </a:extLst>
          </p:cNvPr>
          <p:cNvSpPr/>
          <p:nvPr/>
        </p:nvSpPr>
        <p:spPr>
          <a:xfrm>
            <a:off x="457200" y="2563540"/>
            <a:ext cx="11277295" cy="416052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045166AC-11C0-24CD-63B0-3B395A62AB2C}"/>
              </a:ext>
            </a:extLst>
          </p:cNvPr>
          <p:cNvSpPr/>
          <p:nvPr/>
        </p:nvSpPr>
        <p:spPr>
          <a:xfrm>
            <a:off x="10682935" y="2636692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verilog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722FB5-99F5-3ABC-4CFF-69858160A25C}"/>
              </a:ext>
            </a:extLst>
          </p:cNvPr>
          <p:cNvSpPr txBox="1"/>
          <p:nvPr/>
        </p:nvSpPr>
        <p:spPr>
          <a:xfrm>
            <a:off x="640080" y="2700700"/>
            <a:ext cx="10911535" cy="388620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69CD6"/>
                </a:solidFill>
                <a:latin typeface="Courier New"/>
              </a:rPr>
              <a:t>module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led_blinker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#(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parameter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REF_CLK   = </a:t>
            </a:r>
            <a:r>
              <a:rPr lang="en-US" sz="1200" b="0" dirty="0">
                <a:solidFill>
                  <a:srgbClr val="B5CEA8"/>
                </a:solidFill>
                <a:latin typeface="Courier New"/>
              </a:rPr>
              <a:t>100_000_000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,  </a:t>
            </a:r>
            <a:r>
              <a:rPr lang="en-US" sz="1200" b="0" dirty="0">
                <a:solidFill>
                  <a:srgbClr val="6A9955"/>
                </a:solidFill>
                <a:latin typeface="Courier New"/>
              </a:rPr>
              <a:t>// 100MHz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)(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input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wire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sysclk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,      </a:t>
            </a:r>
            <a:r>
              <a:rPr lang="en-US" sz="1200" b="0" dirty="0">
                <a:solidFill>
                  <a:srgbClr val="6A9955"/>
                </a:solidFill>
                <a:latin typeface="Courier New"/>
              </a:rPr>
              <a:t>// </a:t>
            </a:r>
            <a:r>
              <a:rPr lang="ko-KR" altLang="en-US" sz="1200" b="0" dirty="0">
                <a:solidFill>
                  <a:srgbClr val="6A9955"/>
                </a:solidFill>
                <a:latin typeface="Courier New"/>
              </a:rPr>
              <a:t>시스템 클럭</a:t>
            </a:r>
            <a:endParaRPr lang="en-US" altLang="ko-KR" sz="1200" b="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output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reg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o_led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= 1’b0 </a:t>
            </a:r>
            <a:r>
              <a:rPr lang="en-US" sz="1200" b="0" dirty="0">
                <a:solidFill>
                  <a:srgbClr val="6A9955"/>
                </a:solidFill>
                <a:latin typeface="Courier New"/>
              </a:rPr>
              <a:t>// LED </a:t>
            </a:r>
            <a:r>
              <a:rPr lang="ko-KR" altLang="en-US" sz="1200" b="0" dirty="0">
                <a:solidFill>
                  <a:srgbClr val="6A9955"/>
                </a:solidFill>
                <a:latin typeface="Courier New"/>
              </a:rPr>
              <a:t>출력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dirty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altLang="ko-KR" sz="1200" dirty="0">
                <a:solidFill>
                  <a:srgbClr val="6A9955"/>
                </a:solidFill>
                <a:latin typeface="Courier New"/>
              </a:rPr>
              <a:t>// </a:t>
            </a:r>
            <a:r>
              <a:rPr lang="ko-KR" altLang="en-US" sz="1200" dirty="0">
                <a:solidFill>
                  <a:srgbClr val="6A9955"/>
                </a:solidFill>
                <a:latin typeface="Courier New"/>
              </a:rPr>
              <a:t>클럭 카운트를 위한 레지스터</a:t>
            </a:r>
            <a:endParaRPr lang="en-US" altLang="ko-KR" sz="120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dirty="0">
                <a:solidFill>
                  <a:srgbClr val="569CD6"/>
                </a:solidFill>
                <a:latin typeface="Courier New"/>
              </a:rPr>
              <a:t>integer</a:t>
            </a:r>
            <a:r>
              <a:rPr lang="ko-KR" altLang="en-US" sz="1200" dirty="0">
                <a:solidFill>
                  <a:srgbClr val="569CD6"/>
                </a:solidFill>
                <a:latin typeface="Courier New"/>
              </a:rPr>
              <a:t>   </a:t>
            </a:r>
            <a:r>
              <a:rPr lang="en-US" altLang="ko-KR" sz="1200" dirty="0" err="1">
                <a:solidFill>
                  <a:srgbClr val="D4D4D4"/>
                </a:solidFill>
                <a:latin typeface="Courier New"/>
              </a:rPr>
              <a:t>r_c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ounter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= 0;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69CD6"/>
                </a:solidFill>
                <a:latin typeface="Courier New"/>
              </a:rPr>
              <a:t>    always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@(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posedge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clk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) </a:t>
            </a:r>
            <a:r>
              <a:rPr lang="en-US" sz="1200" b="0" dirty="0">
                <a:solidFill>
                  <a:srgbClr val="FFC000"/>
                </a:solidFill>
                <a:latin typeface="Courier New"/>
              </a:rPr>
              <a:t>begin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69CD6"/>
                </a:solidFill>
                <a:latin typeface="Courier New"/>
              </a:rPr>
              <a:t>        if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(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r_count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&lt; (REF_CLK / 2 -1))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begin</a:t>
            </a:r>
            <a:endParaRPr lang="en-US"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r_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count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&lt;= </a:t>
            </a:r>
            <a:r>
              <a:rPr lang="en-US" sz="1200" b="0" dirty="0" err="1">
                <a:solidFill>
                  <a:srgbClr val="B5CEA8"/>
                </a:solidFill>
                <a:latin typeface="Courier New"/>
              </a:rPr>
              <a:t>r_count</a:t>
            </a:r>
            <a:r>
              <a:rPr lang="en-US" sz="1200" b="0" dirty="0">
                <a:solidFill>
                  <a:srgbClr val="B5CEA8"/>
                </a:solidFill>
                <a:latin typeface="Courier New"/>
              </a:rPr>
              <a:t> + 1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end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else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begin</a:t>
            </a:r>
            <a:endParaRPr lang="en-US" sz="1200" b="0" dirty="0">
              <a:solidFill>
                <a:srgbClr val="569CD6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569CD6"/>
                </a:solidFill>
                <a:latin typeface="Courier New"/>
              </a:rPr>
              <a:t>           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r_count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&lt;= 0;</a:t>
            </a:r>
          </a:p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o_led</a:t>
            </a:r>
            <a:r>
              <a:rPr lang="en-US" sz="1200" dirty="0">
                <a:solidFill>
                  <a:srgbClr val="D4D4D4"/>
                </a:solidFill>
                <a:latin typeface="Courier New"/>
              </a:rPr>
              <a:t> &lt;= ~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o_led</a:t>
            </a:r>
            <a:r>
              <a:rPr lang="en-US" sz="1200" dirty="0">
                <a:solidFill>
                  <a:srgbClr val="D4D4D4"/>
                </a:solidFill>
                <a:latin typeface="Courier New"/>
              </a:rPr>
              <a:t>; </a:t>
            </a:r>
            <a:r>
              <a:rPr lang="en-US" altLang="ko-KR" sz="1200" dirty="0">
                <a:solidFill>
                  <a:srgbClr val="6A9955"/>
                </a:solidFill>
                <a:latin typeface="Courier New"/>
              </a:rPr>
              <a:t>// </a:t>
            </a:r>
            <a:r>
              <a:rPr lang="ko-KR" altLang="en-US" sz="1200" dirty="0">
                <a:solidFill>
                  <a:srgbClr val="6A9955"/>
                </a:solidFill>
                <a:latin typeface="Courier New"/>
              </a:rPr>
              <a:t>상태 반전 </a:t>
            </a:r>
            <a:r>
              <a:rPr lang="en-US" altLang="ko-KR" sz="1200" dirty="0">
                <a:solidFill>
                  <a:srgbClr val="6A9955"/>
                </a:solidFill>
                <a:latin typeface="Courier New"/>
              </a:rPr>
              <a:t>(Toggling)</a:t>
            </a:r>
            <a:endParaRPr lang="ko-KR" altLang="en-US" sz="120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end</a:t>
            </a:r>
            <a:endParaRPr lang="en-US"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dirty="0">
                <a:solidFill>
                  <a:srgbClr val="FFC000"/>
                </a:solidFill>
                <a:latin typeface="Courier New"/>
              </a:rPr>
              <a:t>end</a:t>
            </a:r>
            <a:endParaRPr lang="en-US" sz="1200" b="0" dirty="0">
              <a:solidFill>
                <a:srgbClr val="FFC000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 err="1">
                <a:solidFill>
                  <a:srgbClr val="569CD6"/>
                </a:solidFill>
                <a:latin typeface="Courier New"/>
              </a:rPr>
              <a:t>endmodule</a:t>
            </a:r>
            <a:endParaRPr lang="en-US" sz="1200" b="0" dirty="0">
              <a:solidFill>
                <a:srgbClr val="569CD6"/>
              </a:solidFill>
              <a:latin typeface="Courier Ne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9B40A-0179-7B8B-8779-F879393B11E9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5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0D21FB7-E7FC-EBD4-B9F8-62C913AB7894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DF021-D353-28D2-EC7D-F6464534752E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8953" y="4340823"/>
            <a:ext cx="8229600" cy="1828800"/>
          </a:xfrm>
        </p:spPr>
        <p:txBody>
          <a:bodyPr/>
          <a:lstStyle/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Create Block Design → </a:t>
            </a:r>
            <a:r>
              <a:rPr lang="en-US" altLang="ko-KR" sz="1800" dirty="0" err="1">
                <a:solidFill>
                  <a:srgbClr val="0066CC"/>
                </a:solidFill>
                <a:latin typeface="Courier New"/>
              </a:rPr>
              <a:t>led_blink_bd</a:t>
            </a:r>
            <a:r>
              <a:rPr lang="en-US" altLang="ko-KR" sz="1800" dirty="0">
                <a:solidFill>
                  <a:srgbClr val="0066CC"/>
                </a:solidFill>
                <a:latin typeface="Courier New"/>
              </a:rPr>
              <a:t> 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</a:rPr>
              <a:t>Zynq </a:t>
            </a:r>
            <a:r>
              <a:rPr lang="en-US" altLang="ko-KR" sz="2000" b="1" dirty="0" err="1">
                <a:solidFill>
                  <a:srgbClr val="000000"/>
                </a:solidFill>
              </a:rPr>
              <a:t>UltraScale</a:t>
            </a:r>
            <a:r>
              <a:rPr lang="en-US" altLang="ko-KR" sz="2000" b="1" dirty="0">
                <a:solidFill>
                  <a:srgbClr val="000000"/>
                </a:solidFill>
              </a:rPr>
              <a:t>+ </a:t>
            </a:r>
            <a:r>
              <a:rPr lang="en-US" altLang="ko-KR" sz="2000" b="1" dirty="0" err="1">
                <a:solidFill>
                  <a:srgbClr val="000000"/>
                </a:solidFill>
              </a:rPr>
              <a:t>MPSoC</a:t>
            </a:r>
            <a:r>
              <a:rPr lang="en-US" altLang="ko-KR" sz="2000" dirty="0">
                <a:solidFill>
                  <a:srgbClr val="000000"/>
                </a:solidFill>
              </a:rPr>
              <a:t> IP </a:t>
            </a:r>
            <a:r>
              <a:rPr lang="ko-KR" altLang="en-US" sz="2000" dirty="0">
                <a:solidFill>
                  <a:srgbClr val="000000"/>
                </a:solidFill>
              </a:rPr>
              <a:t>추가 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</a:rPr>
              <a:t>Run Block Automation</a:t>
            </a:r>
            <a:r>
              <a:rPr lang="en-US" altLang="ko-KR" sz="2000" dirty="0">
                <a:solidFill>
                  <a:srgbClr val="000000"/>
                </a:solidFill>
              </a:rPr>
              <a:t> (KV260 </a:t>
            </a:r>
            <a:r>
              <a:rPr lang="ko-KR" altLang="en-US" sz="2000" dirty="0" err="1">
                <a:solidFill>
                  <a:srgbClr val="000000"/>
                </a:solidFill>
              </a:rPr>
              <a:t>프리셋</a:t>
            </a:r>
            <a:r>
              <a:rPr lang="ko-KR" altLang="en-US" sz="2000" dirty="0">
                <a:solidFill>
                  <a:srgbClr val="000000"/>
                </a:solidFill>
              </a:rPr>
              <a:t> 적용</a:t>
            </a:r>
            <a:r>
              <a:rPr lang="en-US" altLang="ko-KR" sz="2000" dirty="0">
                <a:solidFill>
                  <a:srgbClr val="000000"/>
                </a:solidFill>
              </a:rPr>
              <a:t>) 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연결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1BDCF7-50C6-2833-0B00-73F944FA93B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A6BDCD-D340-E930-4910-CD8765FB43F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36687-B0FE-ECDD-10D8-55201D9A32B9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Block Design 구성 (PS + PL 연결)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8681B8-B5D5-7961-1127-E4BF3A442592}"/>
              </a:ext>
            </a:extLst>
          </p:cNvPr>
          <p:cNvSpPr/>
          <p:nvPr/>
        </p:nvSpPr>
        <p:spPr>
          <a:xfrm>
            <a:off x="2749641" y="1325880"/>
            <a:ext cx="5930720" cy="25113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Block Design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79730F-0D7B-BA4D-53CA-92484E329738}"/>
              </a:ext>
            </a:extLst>
          </p:cNvPr>
          <p:cNvSpPr/>
          <p:nvPr/>
        </p:nvSpPr>
        <p:spPr>
          <a:xfrm>
            <a:off x="3268935" y="1555769"/>
            <a:ext cx="1617914" cy="198012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Zynq PS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MPSoC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‘pl_clk0</a:t>
            </a: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pl_rstn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E9F48B-905E-50F6-FAA4-BD78B4753586}"/>
              </a:ext>
            </a:extLst>
          </p:cNvPr>
          <p:cNvSpPr/>
          <p:nvPr/>
        </p:nvSpPr>
        <p:spPr>
          <a:xfrm>
            <a:off x="6549828" y="1651717"/>
            <a:ext cx="1798902" cy="198012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Led_blinker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(Custom RTL)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clk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resetn</a:t>
            </a:r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o_led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600EDF8-FCF4-847F-5D38-11C149926C0E}"/>
              </a:ext>
            </a:extLst>
          </p:cNvPr>
          <p:cNvCxnSpPr/>
          <p:nvPr/>
        </p:nvCxnSpPr>
        <p:spPr>
          <a:xfrm>
            <a:off x="4922266" y="2833351"/>
            <a:ext cx="1627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F4EAFBA-9F52-C273-C675-219B9474A465}"/>
              </a:ext>
            </a:extLst>
          </p:cNvPr>
          <p:cNvCxnSpPr/>
          <p:nvPr/>
        </p:nvCxnSpPr>
        <p:spPr>
          <a:xfrm>
            <a:off x="4922266" y="3103808"/>
            <a:ext cx="1627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DE5A499-DF4D-49C5-1A0B-3F769FE24B47}"/>
              </a:ext>
            </a:extLst>
          </p:cNvPr>
          <p:cNvCxnSpPr>
            <a:cxnSpLocks/>
          </p:cNvCxnSpPr>
          <p:nvPr/>
        </p:nvCxnSpPr>
        <p:spPr>
          <a:xfrm>
            <a:off x="8348730" y="3322749"/>
            <a:ext cx="492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F2C25C8-5F23-4991-7229-2B757062D823}"/>
              </a:ext>
            </a:extLst>
          </p:cNvPr>
          <p:cNvSpPr txBox="1"/>
          <p:nvPr/>
        </p:nvSpPr>
        <p:spPr>
          <a:xfrm>
            <a:off x="8841347" y="3166563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외부 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1FF8C-816A-E2CF-CAE1-2F4A392FC011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6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5124F0E-8EB4-23B8-74D1-0F1C46CC0A9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35E7D-6489-E137-52A2-96534E59FD4D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0237" y="1286349"/>
            <a:ext cx="8229600" cy="1349062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  <a:defRPr sz="2000"/>
            </a:pPr>
            <a:r>
              <a:rPr dirty="0"/>
              <a:t>XDC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  <a:p>
            <a:pPr>
              <a:spcBef>
                <a:spcPts val="800"/>
              </a:spcBef>
              <a:defRPr sz="2000"/>
            </a:pPr>
            <a:r>
              <a:rPr dirty="0"/>
              <a:t>PMOD 핀 </a:t>
            </a:r>
            <a:r>
              <a:rPr dirty="0" err="1"/>
              <a:t>할당</a:t>
            </a:r>
            <a:r>
              <a:rPr dirty="0"/>
              <a:t> (H12)</a:t>
            </a:r>
          </a:p>
          <a:p>
            <a:pPr>
              <a:spcBef>
                <a:spcPts val="800"/>
              </a:spcBef>
              <a:defRPr sz="2000"/>
            </a:pPr>
            <a:r>
              <a:rPr dirty="0"/>
              <a:t>I/O Standard </a:t>
            </a:r>
            <a:r>
              <a:rPr dirty="0" err="1"/>
              <a:t>설정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51D817-5752-8866-F700-92AC71B53BF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467E7CF-EBF4-4EFC-4B98-A50B16C7C064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ECB9E-F503-C8DF-AFAC-B1341AD2E90A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XDC 핀 제약 조건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E9377-2B7C-ED7C-4B7B-F31D1E4228CC}"/>
              </a:ext>
            </a:extLst>
          </p:cNvPr>
          <p:cNvSpPr txBox="1"/>
          <p:nvPr/>
        </p:nvSpPr>
        <p:spPr>
          <a:xfrm>
            <a:off x="502920" y="2678832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 dirty="0" err="1">
                <a:solidFill>
                  <a:srgbClr val="003366"/>
                </a:solidFill>
                <a:latin typeface="Calibri"/>
              </a:rPr>
              <a:t>핵심</a:t>
            </a:r>
            <a:r>
              <a:rPr sz="1800" b="1" dirty="0">
                <a:solidFill>
                  <a:srgbClr val="003366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코드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altLang="ko-KR" sz="1800" b="0" dirty="0">
                <a:solidFill>
                  <a:srgbClr val="000000"/>
                </a:solidFill>
                <a:latin typeface="Calibri"/>
              </a:rPr>
              <a:t>kv260_pin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.xdc):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D87E640E-68C7-9CCA-DC48-F07BA5C8297D}"/>
              </a:ext>
            </a:extLst>
          </p:cNvPr>
          <p:cNvSpPr/>
          <p:nvPr/>
        </p:nvSpPr>
        <p:spPr>
          <a:xfrm>
            <a:off x="502920" y="3090312"/>
            <a:ext cx="11277295" cy="3359311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605C1361-FE39-3EBA-5561-41BA88A7B827}"/>
              </a:ext>
            </a:extLst>
          </p:cNvPr>
          <p:cNvSpPr/>
          <p:nvPr/>
        </p:nvSpPr>
        <p:spPr>
          <a:xfrm>
            <a:off x="10728655" y="3163464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xdc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C0AFC-43FD-0408-B245-B7146F793849}"/>
              </a:ext>
            </a:extLst>
          </p:cNvPr>
          <p:cNvSpPr txBox="1"/>
          <p:nvPr/>
        </p:nvSpPr>
        <p:spPr>
          <a:xfrm>
            <a:off x="685800" y="3227472"/>
            <a:ext cx="10911535" cy="3138438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DRC </a:t>
            </a:r>
            <a:r>
              <a:rPr lang="ko-KR" altLang="en-US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에러를 경고로 변경 </a:t>
            </a: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(sysclk</a:t>
            </a:r>
            <a:r>
              <a:rPr lang="ko-KR" altLang="en-US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ko-KR" altLang="en-US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에서 제공됨</a:t>
            </a: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SEVERITY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get_drc_checks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NSTD-1]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SEVERITY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get_drc_checks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UCIO-1]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 Output Pin Assignment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PMOD Pin 1 (PMOD_HDA11) -&gt; FPGA Pin H12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PACKAGE_PIN H12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IOSTANDARD LVCMOS33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SLEW SLOW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DRIVE </a:t>
            </a:r>
            <a:r>
              <a:rPr lang="en-US" altLang="ko-KR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System Clock Constraint (100MHz from PS - internal, no pin needed)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create_clock -period 10.000 -name sysclk [get_ports sysclk]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58FE3-A13E-71F8-2F5C-7FEBA01474E2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7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9D4ABDC-9071-C440-BC98-A35FBD431484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95CBC-59FD-50D0-AFF3-7BDD11FBFCAE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364CC9AF-A57C-B4BA-E401-96FC255A00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CA218-82A3-469E-7C14-09D524383476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합성 → 구현 → 비트스트림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13C24-2F74-35A1-700C-C35E11E5D8B1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빌드 3단계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CE9066-CB8B-03F6-CF2C-7EEB8750355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74520"/>
          <a:ext cx="11277292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2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단계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동작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소요 시간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확인 사항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합성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 (Synthesis)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RTL → 넷리스트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3~5분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LUT ~30개, FF ~35개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구현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 (Implementation)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배치 + 배선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5~10분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WNS &gt; 0 (타이밍 충족)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비트스트림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 (Bitstream)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바이너리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3~5분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.bit 파일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677FE3F-26B4-F925-2DEE-C589FFE7A42E}"/>
              </a:ext>
            </a:extLst>
          </p:cNvPr>
          <p:cNvSpPr txBox="1"/>
          <p:nvPr/>
        </p:nvSpPr>
        <p:spPr>
          <a:xfrm>
            <a:off x="457200" y="3401568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TCL 일괄 빌드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D06FEE3-7182-C839-F41E-AB8AC4AA63AF}"/>
              </a:ext>
            </a:extLst>
          </p:cNvPr>
          <p:cNvSpPr/>
          <p:nvPr/>
        </p:nvSpPr>
        <p:spPr>
          <a:xfrm>
            <a:off x="457200" y="3813048"/>
            <a:ext cx="11277295" cy="13716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0DD368-C949-4775-669F-BA815CAD3BE8}"/>
              </a:ext>
            </a:extLst>
          </p:cNvPr>
          <p:cNvSpPr/>
          <p:nvPr/>
        </p:nvSpPr>
        <p:spPr>
          <a:xfrm>
            <a:off x="10682935" y="3886200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tcl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6F3F6-F85C-2FAC-2A22-757D219392EA}"/>
              </a:ext>
            </a:extLst>
          </p:cNvPr>
          <p:cNvSpPr txBox="1"/>
          <p:nvPr/>
        </p:nvSpPr>
        <p:spPr>
          <a:xfrm>
            <a:off x="640080" y="3950208"/>
            <a:ext cx="10911535" cy="10972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launch_runs synth_1 -jobs </a:t>
            </a:r>
            <a:r>
              <a:rPr sz="1200" b="0">
                <a:solidFill>
                  <a:srgbClr val="B5CEA8"/>
                </a:solidFill>
                <a:latin typeface="Courier New"/>
              </a:rPr>
              <a:t>4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wait_on_run synth_1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launch_runs impl_1 -to_step write_bitstream -jobs </a:t>
            </a:r>
            <a:r>
              <a:rPr sz="1200" b="0">
                <a:solidFill>
                  <a:srgbClr val="B5CEA8"/>
                </a:solidFill>
                <a:latin typeface="Courier New"/>
              </a:rPr>
              <a:t>4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wait_on_run impl_1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D6362-5976-49C6-FE76-258FF41E4BA2}"/>
              </a:ext>
            </a:extLst>
          </p:cNvPr>
          <p:cNvSpPr txBox="1"/>
          <p:nvPr/>
        </p:nvSpPr>
        <p:spPr>
          <a:xfrm>
            <a:off x="457200" y="5276088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체크포인트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98AE09-375A-E58C-4F10-75730439C4E0}"/>
              </a:ext>
            </a:extLst>
          </p:cNvPr>
          <p:cNvSpPr txBox="1"/>
          <p:nvPr/>
        </p:nvSpPr>
        <p:spPr>
          <a:xfrm>
            <a:off x="457200" y="5596128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✅ Critical Warning 없음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C797CB-0C08-4631-4E95-42BABFC4FAE3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8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C4B7BAF0-514A-C0BA-762B-E42CAACA5A44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ADA97-EDD0-F001-CDB1-0E642B383318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  <p:extLst>
      <p:ext uri="{BB962C8B-B14F-4D97-AF65-F5344CB8AC3E}">
        <p14:creationId xmlns:p14="http://schemas.microsoft.com/office/powerpoint/2010/main" val="159605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33DE870-EF46-1ADC-B130-65309255FB2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7D515AC-2A53-4558-8095-917C56262DC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B9C12-10B0-A13B-E2CC-7537B89EB63C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하드웨어 파일 내보내기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EF47D-A25B-610B-589F-5BCA21ADF338}"/>
              </a:ext>
            </a:extLst>
          </p:cNvPr>
          <p:cNvSpPr txBox="1"/>
          <p:nvPr/>
        </p:nvSpPr>
        <p:spPr>
          <a:xfrm>
            <a:off x="457200" y="133335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PYNQ에 필요한 파일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C0A7AE19-59EF-0E20-6029-B7CD449C0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221676"/>
              </p:ext>
            </p:extLst>
          </p:nvPr>
        </p:nvGraphicFramePr>
        <p:xfrm>
          <a:off x="457200" y="1744830"/>
          <a:ext cx="11277293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9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7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파일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설명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생성 위치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66CC"/>
                          </a:solidFill>
                          <a:latin typeface="Courier New"/>
                        </a:rPr>
                        <a:t>.bit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FPGA 비트스트림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66CC"/>
                          </a:solidFill>
                          <a:latin typeface="Courier New"/>
                        </a:rPr>
                        <a:t>runs/impl_1/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66CC"/>
                          </a:solidFill>
                          <a:latin typeface="Courier New"/>
                        </a:rPr>
                        <a:t>.</a:t>
                      </a:r>
                      <a:r>
                        <a:rPr sz="1200" b="0" dirty="0" err="1">
                          <a:solidFill>
                            <a:srgbClr val="0066CC"/>
                          </a:solidFill>
                          <a:latin typeface="Courier New"/>
                        </a:rPr>
                        <a:t>hwh</a:t>
                      </a:r>
                      <a:endParaRPr sz="1200" b="0" dirty="0">
                        <a:solidFill>
                          <a:srgbClr val="0066CC"/>
                        </a:solidFill>
                        <a:latin typeface="Courier New"/>
                      </a:endParaRP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하드웨어 핸드오프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66CC"/>
                          </a:solidFill>
                          <a:latin typeface="Courier New"/>
                        </a:rPr>
                        <a:t>gen/.../</a:t>
                      </a:r>
                      <a:r>
                        <a:rPr sz="1200" b="0" dirty="0" err="1">
                          <a:solidFill>
                            <a:srgbClr val="0066CC"/>
                          </a:solidFill>
                          <a:latin typeface="Courier New"/>
                        </a:rPr>
                        <a:t>hw_handoff</a:t>
                      </a:r>
                      <a:r>
                        <a:rPr sz="1200" b="0" dirty="0">
                          <a:solidFill>
                            <a:srgbClr val="0066CC"/>
                          </a:solidFill>
                          <a:latin typeface="Courier New"/>
                        </a:rPr>
                        <a:t>/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6D96422-35E0-E6BE-B25F-81E57454F077}"/>
              </a:ext>
            </a:extLst>
          </p:cNvPr>
          <p:cNvSpPr txBox="1"/>
          <p:nvPr/>
        </p:nvSpPr>
        <p:spPr>
          <a:xfrm>
            <a:off x="457200" y="3054096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파일 준비 및 전송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FDD8DC6-237F-20C4-8A49-5EBEEA04BE27}"/>
              </a:ext>
            </a:extLst>
          </p:cNvPr>
          <p:cNvSpPr/>
          <p:nvPr/>
        </p:nvSpPr>
        <p:spPr>
          <a:xfrm>
            <a:off x="457200" y="3465576"/>
            <a:ext cx="11277295" cy="1769686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CC327525-B8DB-460C-0611-939D012F7312}"/>
              </a:ext>
            </a:extLst>
          </p:cNvPr>
          <p:cNvSpPr/>
          <p:nvPr/>
        </p:nvSpPr>
        <p:spPr>
          <a:xfrm>
            <a:off x="10682935" y="3538728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bash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FC4724-D07D-D2B9-E2D3-43ED6BA3223C}"/>
              </a:ext>
            </a:extLst>
          </p:cNvPr>
          <p:cNvSpPr txBox="1"/>
          <p:nvPr/>
        </p:nvSpPr>
        <p:spPr>
          <a:xfrm>
            <a:off x="640080" y="3602736"/>
            <a:ext cx="10911535" cy="147154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A9955"/>
                </a:solidFill>
                <a:latin typeface="Courier New"/>
              </a:rPr>
              <a:t>#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파일명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통일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 (PYNQ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필수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조건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!)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69CD6"/>
                </a:solidFill>
                <a:latin typeface="Courier New"/>
              </a:rPr>
              <a:t>cp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...impl_1/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led_blink_bd_wrapper.bit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 ./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led_blink.bit</a:t>
            </a:r>
            <a:endParaRPr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69CD6"/>
                </a:solidFill>
                <a:latin typeface="Courier New"/>
              </a:rPr>
              <a:t>cp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...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hw_handoff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led_blink_bd.hwh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     ./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led_blink.hwh</a:t>
            </a:r>
            <a:endParaRPr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A9955"/>
                </a:solidFill>
                <a:latin typeface="Courier New"/>
              </a:rPr>
              <a:t># KV260으로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전송</a:t>
            </a:r>
            <a:endParaRPr sz="1200" b="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D4D4D4"/>
                </a:solidFill>
                <a:latin typeface="Courier New"/>
              </a:rPr>
              <a:t>scp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led_blink.bit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led_blink.hwh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ubuntu@&lt;KV260_IP&gt;:~/overlays/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AA34E9-8812-563C-C091-880368B06D55}"/>
              </a:ext>
            </a:extLst>
          </p:cNvPr>
          <p:cNvSpPr txBox="1"/>
          <p:nvPr/>
        </p:nvSpPr>
        <p:spPr>
          <a:xfrm>
            <a:off x="457200" y="5538216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주의: </a:t>
            </a:r>
            <a:r>
              <a:rPr sz="1600" b="0">
                <a:solidFill>
                  <a:srgbClr val="0066CC"/>
                </a:solidFill>
                <a:latin typeface="Courier New"/>
              </a:rPr>
              <a:t>.bit</a:t>
            </a:r>
            <a:r>
              <a:rPr sz="1800" b="0">
                <a:solidFill>
                  <a:srgbClr val="000000"/>
                </a:solidFill>
                <a:latin typeface="Calibri"/>
              </a:rPr>
              <a:t>과 </a:t>
            </a:r>
            <a:r>
              <a:rPr sz="1600" b="0">
                <a:solidFill>
                  <a:srgbClr val="0066CC"/>
                </a:solidFill>
                <a:latin typeface="Courier New"/>
              </a:rPr>
              <a:t>.hwh</a:t>
            </a:r>
            <a:r>
              <a:rPr sz="1800" b="0">
                <a:solidFill>
                  <a:srgbClr val="000000"/>
                </a:solidFill>
                <a:latin typeface="Calibri"/>
              </a:rPr>
              <a:t>의 </a:t>
            </a:r>
            <a:r>
              <a:rPr sz="1800" b="1">
                <a:solidFill>
                  <a:srgbClr val="003366"/>
                </a:solidFill>
                <a:latin typeface="Calibri"/>
              </a:rPr>
              <a:t>파일명(확장자 제외)이 반드시 동일</a:t>
            </a:r>
            <a:r>
              <a:rPr sz="1800" b="0">
                <a:solidFill>
                  <a:srgbClr val="000000"/>
                </a:solidFill>
                <a:latin typeface="Calibri"/>
              </a:rPr>
              <a:t>해야 함!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CCEE6-3153-31ED-BF51-7BB971BF24E6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9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2641699F-3730-B9A8-CB71-EFDBE0A9E42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A50F4-828B-4506-A6C3-02387C073EF1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B1095BE-6179-713F-458C-7BC4A8A31E8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C508AEB-DA0F-EBAA-5FBB-30B6903DFEBB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BF180-966D-A279-AB01-C490CF9AC262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PYNQ로 FPGA 프로그래밍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171E8-E7F1-08E1-6239-244A827AF831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Python 코드</a:t>
            </a:r>
            <a:r>
              <a:rPr sz="1800" b="0">
                <a:solidFill>
                  <a:srgbClr val="000000"/>
                </a:solidFill>
                <a:latin typeface="Calibri"/>
              </a:rPr>
              <a:t> (Jupyter Notebook):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32131C03-257E-3311-93EE-151A12D84EB8}"/>
              </a:ext>
            </a:extLst>
          </p:cNvPr>
          <p:cNvSpPr/>
          <p:nvPr/>
        </p:nvSpPr>
        <p:spPr>
          <a:xfrm>
            <a:off x="457200" y="1874520"/>
            <a:ext cx="11277295" cy="21844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5CE9BA6-D9EE-E6CC-E616-D83A96305547}"/>
              </a:ext>
            </a:extLst>
          </p:cNvPr>
          <p:cNvSpPr/>
          <p:nvPr/>
        </p:nvSpPr>
        <p:spPr>
          <a:xfrm>
            <a:off x="10682935" y="1947672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6648DF-4583-7D8E-EAE9-76E5FBC612FD}"/>
              </a:ext>
            </a:extLst>
          </p:cNvPr>
          <p:cNvSpPr txBox="1"/>
          <p:nvPr/>
        </p:nvSpPr>
        <p:spPr>
          <a:xfrm>
            <a:off x="640080" y="2011680"/>
            <a:ext cx="10911535" cy="19100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from pynq import Overlay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urier New"/>
              </a:rPr>
              <a:t># FPGA 프로그래밍 (Overlay 로드)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ol = Overlay(</a:t>
            </a:r>
            <a:r>
              <a:rPr sz="1200" b="0">
                <a:solidFill>
                  <a:srgbClr val="CE9178"/>
                </a:solidFill>
                <a:latin typeface="Courier New"/>
              </a:rPr>
              <a:t>"/home/ubuntu/overlays/led_blink.bit"</a:t>
            </a:r>
            <a:r>
              <a:rPr sz="1200" b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print(</a:t>
            </a:r>
            <a:r>
              <a:rPr sz="1200" b="0">
                <a:solidFill>
                  <a:srgbClr val="CE9178"/>
                </a:solidFill>
                <a:latin typeface="Courier New"/>
              </a:rPr>
              <a:t>"FPGA 프로그래밍 완료!"</a:t>
            </a:r>
            <a:r>
              <a:rPr sz="1200" b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urier New"/>
              </a:rPr>
              <a:t># 로드된 IP 목록 확인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print(ol.ip_dict)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E0A725-7D12-A879-E2D1-AE49765B2AD5}"/>
              </a:ext>
            </a:extLst>
          </p:cNvPr>
          <p:cNvSpPr txBox="1"/>
          <p:nvPr/>
        </p:nvSpPr>
        <p:spPr>
          <a:xfrm>
            <a:off x="457200" y="415036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동작 확인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154428-331B-93D8-0DBE-F5376CC62F70}"/>
              </a:ext>
            </a:extLst>
          </p:cNvPr>
          <p:cNvSpPr txBox="1"/>
          <p:nvPr/>
        </p:nvSpPr>
        <p:spPr>
          <a:xfrm>
            <a:off x="457200" y="447040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Overlay 로드 즉시 LED 점멸 시작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D9299-DE14-00D4-3CBD-BC65EA0606AF}"/>
              </a:ext>
            </a:extLst>
          </p:cNvPr>
          <p:cNvSpPr txBox="1"/>
          <p:nvPr/>
        </p:nvSpPr>
        <p:spPr>
          <a:xfrm>
            <a:off x="457200" y="47904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led_blinker 모듈이 자동으로 동작 (클럭 + 리셋 자동 공급)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3B150-564E-278B-18B3-292BF92B2DFD}"/>
              </a:ext>
            </a:extLst>
          </p:cNvPr>
          <p:cNvSpPr txBox="1"/>
          <p:nvPr/>
        </p:nvSpPr>
        <p:spPr>
          <a:xfrm>
            <a:off x="457200" y="511048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Knight Rider 패턴: LED가 좌→우→좌 순차 점멸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E6579C-FAEE-0AE0-04FE-8F27B650531D}"/>
              </a:ext>
            </a:extLst>
          </p:cNvPr>
          <p:cNvSpPr txBox="1"/>
          <p:nvPr/>
        </p:nvSpPr>
        <p:spPr>
          <a:xfrm>
            <a:off x="457200" y="543052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대안: fpgautil 사용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4EF97-BF20-9AEB-03C7-1D18F572D249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10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4DB7528-A80D-995C-ECC6-9954F1853411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98DB6-AD0B-0EB7-2776-8C9087574C9E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D33868B2-8DB5-0A33-EDF6-8A5E62C7B37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707A440-18F1-AA43-49A2-8E6C51C1F155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99EFF-47D5-BBAE-905A-5D1011091E63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47D7A-8A5D-4FE3-5A41-AC6F1D7F7D1D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KV260 공식 문서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B58EA-2FEA-C017-047F-BE5D301FD97A}"/>
              </a:ext>
            </a:extLst>
          </p:cNvPr>
          <p:cNvSpPr txBox="1"/>
          <p:nvPr/>
        </p:nvSpPr>
        <p:spPr>
          <a:xfrm>
            <a:off x="457200" y="178308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PYNQ 공식 문서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65151-E876-5354-6CAE-83DF28821BB6}"/>
              </a:ext>
            </a:extLst>
          </p:cNvPr>
          <p:cNvSpPr txBox="1"/>
          <p:nvPr/>
        </p:nvSpPr>
        <p:spPr>
          <a:xfrm>
            <a:off x="457200" y="210312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Vivado Design Suite User Guide (UG910)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42FE4-01CB-280A-6975-EF9D772358A1}"/>
              </a:ext>
            </a:extLst>
          </p:cNvPr>
          <p:cNvSpPr txBox="1"/>
          <p:nvPr/>
        </p:nvSpPr>
        <p:spPr>
          <a:xfrm>
            <a:off x="457200" y="242316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Zynq UltraScale+ MPSoC TRM (UG1085)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C47A2D-F747-3D96-717D-B2DF37F507B2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11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A3A354CA-34DE-CF92-E840-CCAF77B008AE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DE4C2-FBCB-B81A-D3E1-59B68ADA494F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EAF76-CB60-13F0-65DA-87407DA8E368}"/>
              </a:ext>
            </a:extLst>
          </p:cNvPr>
          <p:cNvSpPr txBox="1"/>
          <p:nvPr/>
        </p:nvSpPr>
        <p:spPr>
          <a:xfrm>
            <a:off x="626165" y="4055165"/>
            <a:ext cx="15105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PYNQ Installation completed.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To continue with the PYNQ experience, connect to </a:t>
            </a:r>
            <a:r>
              <a:rPr lang="en-US" altLang="ko-KR" dirty="0" err="1"/>
              <a:t>JupyterLab</a:t>
            </a:r>
            <a:r>
              <a:rPr lang="en-US" altLang="ko-KR" dirty="0"/>
              <a:t> via a web browser using this url: 192.168.1.232:9090/lab or kria:9090/lab - The password is </a:t>
            </a:r>
            <a:r>
              <a:rPr lang="en-US" altLang="ko-KR"/>
              <a:t>xilinx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1176</Words>
  <Application>Microsoft Office PowerPoint</Application>
  <PresentationFormat>와이드스크린</PresentationFormat>
  <Paragraphs>196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Consolas</vt:lpstr>
      <vt:lpstr>Courier New</vt:lpstr>
      <vt:lpstr>Wingdings</vt:lpstr>
      <vt:lpstr>Office Theme</vt:lpstr>
      <vt:lpstr>Step 01: LED Blink Basics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12</cp:revision>
  <dcterms:created xsi:type="dcterms:W3CDTF">2013-01-27T09:14:16Z</dcterms:created>
  <dcterms:modified xsi:type="dcterms:W3CDTF">2026-03-30T08:05:41Z</dcterms:modified>
  <cp:category/>
</cp:coreProperties>
</file>