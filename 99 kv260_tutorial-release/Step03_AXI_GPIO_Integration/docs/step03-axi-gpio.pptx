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84" r:id="rId4"/>
    <p:sldId id="263" r:id="rId5"/>
    <p:sldId id="264" r:id="rId6"/>
    <p:sldId id="265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81" r:id="rId16"/>
    <p:sldId id="275" r:id="rId17"/>
    <p:sldId id="276" r:id="rId18"/>
    <p:sldId id="277" r:id="rId19"/>
    <p:sldId id="282" r:id="rId20"/>
    <p:sldId id="278" r:id="rId21"/>
    <p:sldId id="283" r:id="rId22"/>
    <p:sldId id="279" r:id="rId23"/>
    <p:sldId id="280" r:id="rId24"/>
    <p:sldId id="285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35" autoAdjust="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954" y="3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F6929D-D365-4260-B6C1-887D9FA65A07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C60323-6B2C-4963-BD25-2FABC0EBD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9950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C60323-6B2C-4963-BD25-2FABC0EBD68F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1573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mailto:xilinx@192.168.1.100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mailto:xilinx@192.168.1.100" TargetMode="External"/><Relationship Id="rId2" Type="http://schemas.openxmlformats.org/officeDocument/2006/relationships/hyperlink" Target="mailto:xilinx@192.168.1.100:~/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7AE5EBBA-94A5-5413-1748-6C34CD683BF0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D32C77F-62A5-00C3-BE91-FDE3E072C130}"/>
              </a:ext>
            </a:extLst>
          </p:cNvPr>
          <p:cNvSpPr/>
          <p:nvPr/>
        </p:nvSpPr>
        <p:spPr>
          <a:xfrm>
            <a:off x="0" y="0"/>
            <a:ext cx="12191695" cy="3200400"/>
          </a:xfrm>
          <a:prstGeom prst="rect">
            <a:avLst/>
          </a:prstGeom>
          <a:gradFill rotWithShape="1">
            <a:gsLst>
              <a:gs pos="0">
                <a:srgbClr val="001A40"/>
              </a:gs>
              <a:gs pos="100000">
                <a:srgbClr val="00336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36FA7F-4EEC-CB30-23B8-EB16C0D65ED6}"/>
              </a:ext>
            </a:extLst>
          </p:cNvPr>
          <p:cNvSpPr txBox="1"/>
          <p:nvPr/>
        </p:nvSpPr>
        <p:spPr>
          <a:xfrm>
            <a:off x="1745088" y="1249250"/>
            <a:ext cx="669701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rPr lang="en-US" dirty="0"/>
              <a:t>AXI GPIO Integration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0BF946-9C90-E233-5248-09147FE5578D}"/>
              </a:ext>
            </a:extLst>
          </p:cNvPr>
          <p:cNvSpPr txBox="1"/>
          <p:nvPr/>
        </p:nvSpPr>
        <p:spPr>
          <a:xfrm>
            <a:off x="2524258" y="3821720"/>
            <a:ext cx="60917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AACCEE"/>
                </a:solidFill>
              </a:defRPr>
            </a:pPr>
            <a:r>
              <a:rPr dirty="0"/>
              <a:t>PS-PL </a:t>
            </a:r>
            <a:r>
              <a:rPr lang="ko-KR" altLang="en-US" dirty="0"/>
              <a:t>통신 구현 및 </a:t>
            </a:r>
            <a:r>
              <a:rPr lang="en-US" altLang="ko-KR" dirty="0"/>
              <a:t>LED</a:t>
            </a:r>
            <a:r>
              <a:rPr lang="ko-KR" altLang="en-US" dirty="0"/>
              <a:t>제어</a:t>
            </a:r>
            <a:endParaRPr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93753E-67C1-5B32-60B3-F5F47D6D836F}"/>
              </a:ext>
            </a:extLst>
          </p:cNvPr>
          <p:cNvSpPr txBox="1"/>
          <p:nvPr/>
        </p:nvSpPr>
        <p:spPr>
          <a:xfrm>
            <a:off x="1371600" y="6035040"/>
            <a:ext cx="94484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dirty="0">
                <a:solidFill>
                  <a:srgbClr val="5588BB"/>
                </a:solidFill>
                <a:latin typeface="Calibri"/>
              </a:rPr>
              <a:t>KV260 FPGA Training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C0D373C9-B813-5E47-5A9F-F21B152EBC1B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BE4C685B-E609-A1D6-3397-87F15458F397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34E916-5F27-18DD-BB69-D23E0AC62C0B}"/>
              </a:ext>
            </a:extLst>
          </p:cNvPr>
          <p:cNvSpPr txBox="1"/>
          <p:nvPr/>
        </p:nvSpPr>
        <p:spPr>
          <a:xfrm>
            <a:off x="457200" y="228600"/>
            <a:ext cx="11277295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학습 목표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A7776D-F247-E32F-0D44-63E44B664B9C}"/>
              </a:ext>
            </a:extLst>
          </p:cNvPr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C8F012C9-EE78-B74D-F843-2D76349F1F4C}"/>
              </a:ext>
            </a:extLst>
          </p:cNvPr>
          <p:cNvSpPr/>
          <p:nvPr/>
        </p:nvSpPr>
        <p:spPr>
          <a:xfrm>
            <a:off x="457200" y="6446520"/>
            <a:ext cx="1127729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400DC1-15D0-C5D2-E043-22CEFE939C3E}"/>
              </a:ext>
            </a:extLst>
          </p:cNvPr>
          <p:cNvSpPr txBox="1"/>
          <p:nvPr/>
        </p:nvSpPr>
        <p:spPr>
          <a:xfrm>
            <a:off x="457200" y="6492240"/>
            <a:ext cx="326403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dirty="0">
                <a:solidFill>
                  <a:srgbClr val="666666"/>
                </a:solidFill>
                <a:latin typeface="Calibri"/>
              </a:rPr>
              <a:t>Step 0</a:t>
            </a:r>
            <a:r>
              <a:rPr lang="en-US" sz="1000" b="0" dirty="0">
                <a:solidFill>
                  <a:srgbClr val="666666"/>
                </a:solidFill>
                <a:latin typeface="Calibri"/>
              </a:rPr>
              <a:t>3</a:t>
            </a:r>
            <a:r>
              <a:rPr sz="1000" b="0" dirty="0">
                <a:solidFill>
                  <a:srgbClr val="666666"/>
                </a:solidFill>
                <a:latin typeface="Calibri"/>
              </a:rPr>
              <a:t>: </a:t>
            </a:r>
            <a:r>
              <a:rPr lang="en-US" altLang="ko-KR" sz="1000" b="0" dirty="0">
                <a:solidFill>
                  <a:srgbClr val="666666"/>
                </a:solidFill>
                <a:latin typeface="Calibri"/>
              </a:rPr>
              <a:t>AXI GPIO Integration</a:t>
            </a:r>
            <a:r>
              <a:rPr sz="1000" b="0" dirty="0">
                <a:solidFill>
                  <a:srgbClr val="666666"/>
                </a:solidFill>
                <a:latin typeface="Calibri"/>
              </a:rPr>
              <a:t> —</a:t>
            </a:r>
            <a:r>
              <a:rPr lang="en-US" sz="1000" b="0" dirty="0">
                <a:solidFill>
                  <a:srgbClr val="666666"/>
                </a:solidFill>
                <a:latin typeface="Calibri"/>
              </a:rPr>
              <a:t> </a:t>
            </a:r>
            <a:r>
              <a:rPr lang="en-US" sz="1000" dirty="0">
                <a:solidFill>
                  <a:srgbClr val="666666"/>
                </a:solidFill>
                <a:latin typeface="Calibri"/>
              </a:rPr>
              <a:t>PS/PL </a:t>
            </a:r>
            <a:r>
              <a:rPr lang="ko-KR" altLang="en-US" sz="1000" dirty="0">
                <a:solidFill>
                  <a:srgbClr val="666666"/>
                </a:solidFill>
                <a:latin typeface="Calibri"/>
              </a:rPr>
              <a:t>통신 구현 </a:t>
            </a:r>
            <a:r>
              <a:rPr lang="en-US" altLang="ko-KR" sz="1000" dirty="0">
                <a:solidFill>
                  <a:srgbClr val="666666"/>
                </a:solidFill>
                <a:latin typeface="Calibri"/>
              </a:rPr>
              <a:t>LED </a:t>
            </a:r>
            <a:r>
              <a:rPr lang="ko-KR" altLang="en-US" sz="1000" dirty="0">
                <a:solidFill>
                  <a:srgbClr val="666666"/>
                </a:solidFill>
                <a:latin typeface="Calibri"/>
              </a:rPr>
              <a:t>제어</a:t>
            </a:r>
            <a:endParaRPr sz="1000" b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A49B12-50D8-9D71-D15F-76976DABE982}"/>
              </a:ext>
            </a:extLst>
          </p:cNvPr>
          <p:cNvSpPr txBox="1"/>
          <p:nvPr/>
        </p:nvSpPr>
        <p:spPr>
          <a:xfrm>
            <a:off x="457200" y="1473663"/>
            <a:ext cx="11277295" cy="2377119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28575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rgbClr val="000000"/>
                </a:solidFill>
                <a:latin typeface="Calibri"/>
              </a:rPr>
              <a:t>AXI GPIO IP </a:t>
            </a:r>
            <a:r>
              <a:rPr lang="ko-KR" altLang="en-US" sz="1800" b="0" dirty="0">
                <a:solidFill>
                  <a:srgbClr val="000000"/>
                </a:solidFill>
                <a:latin typeface="Calibri"/>
              </a:rPr>
              <a:t>사용</a:t>
            </a:r>
            <a:endParaRPr lang="en-US" sz="1800" b="0" dirty="0">
              <a:solidFill>
                <a:srgbClr val="000000"/>
              </a:solidFill>
              <a:latin typeface="Calibri"/>
            </a:endParaRPr>
          </a:p>
          <a:p>
            <a:pPr marL="285750" indent="-28575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000000"/>
                </a:solidFill>
              </a:rPr>
              <a:t>PS-PL</a:t>
            </a:r>
            <a:r>
              <a:rPr lang="ko-KR" altLang="en-US" dirty="0">
                <a:solidFill>
                  <a:srgbClr val="000000"/>
                </a:solidFill>
              </a:rPr>
              <a:t> 통신 구현</a:t>
            </a:r>
            <a:endParaRPr lang="en-US" altLang="ko-KR" dirty="0">
              <a:solidFill>
                <a:srgbClr val="000000"/>
              </a:solidFill>
            </a:endParaRPr>
          </a:p>
          <a:p>
            <a:pPr marL="285750" indent="-28575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000000"/>
                </a:solidFill>
              </a:rPr>
              <a:t>Python(PYNQ) </a:t>
            </a:r>
            <a:r>
              <a:rPr lang="ko-KR" altLang="en-US" dirty="0">
                <a:solidFill>
                  <a:srgbClr val="000000"/>
                </a:solidFill>
              </a:rPr>
              <a:t>으로 </a:t>
            </a:r>
            <a:r>
              <a:rPr lang="en-US" altLang="ko-KR" dirty="0">
                <a:solidFill>
                  <a:srgbClr val="000000"/>
                </a:solidFill>
              </a:rPr>
              <a:t>LED </a:t>
            </a:r>
            <a:r>
              <a:rPr lang="ko-KR" altLang="en-US" dirty="0">
                <a:solidFill>
                  <a:srgbClr val="000000"/>
                </a:solidFill>
              </a:rPr>
              <a:t>제어</a:t>
            </a:r>
            <a:endParaRPr lang="en-US" altLang="ko-KR" dirty="0">
              <a:solidFill>
                <a:srgbClr val="000000"/>
              </a:solidFill>
            </a:endParaRPr>
          </a:p>
          <a:p>
            <a:pPr marL="285750" indent="-28575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</a:pPr>
            <a:r>
              <a:rPr lang="ko-KR" altLang="en-US" dirty="0">
                <a:solidFill>
                  <a:srgbClr val="000000"/>
                </a:solidFill>
              </a:rPr>
              <a:t>난이도</a:t>
            </a:r>
            <a:r>
              <a:rPr lang="en-US" altLang="ko-KR" dirty="0">
                <a:solidFill>
                  <a:srgbClr val="000000"/>
                </a:solidFill>
              </a:rPr>
              <a:t>: ★★★☆☆ (</a:t>
            </a:r>
            <a:r>
              <a:rPr lang="ko-KR" altLang="en-US" dirty="0">
                <a:solidFill>
                  <a:srgbClr val="000000"/>
                </a:solidFill>
              </a:rPr>
              <a:t>중급</a:t>
            </a:r>
            <a:r>
              <a:rPr lang="en-US" altLang="ko-KR" dirty="0">
                <a:solidFill>
                  <a:srgbClr val="000000"/>
                </a:solidFill>
              </a:rPr>
              <a:t>) | </a:t>
            </a:r>
            <a:r>
              <a:rPr lang="ko-KR" altLang="en-US" b="1" dirty="0">
                <a:solidFill>
                  <a:srgbClr val="003366"/>
                </a:solidFill>
              </a:rPr>
              <a:t>소요 시간</a:t>
            </a:r>
            <a:r>
              <a:rPr lang="en-US" altLang="ko-KR" dirty="0">
                <a:solidFill>
                  <a:srgbClr val="000000"/>
                </a:solidFill>
              </a:rPr>
              <a:t>: </a:t>
            </a:r>
            <a:r>
              <a:rPr lang="ko-KR" altLang="en-US" dirty="0">
                <a:solidFill>
                  <a:srgbClr val="000000"/>
                </a:solidFill>
              </a:rPr>
              <a:t>약 </a:t>
            </a:r>
            <a:r>
              <a:rPr lang="en-US" altLang="ko-KR" dirty="0">
                <a:solidFill>
                  <a:srgbClr val="000000"/>
                </a:solidFill>
              </a:rPr>
              <a:t>3~4</a:t>
            </a:r>
            <a:r>
              <a:rPr lang="ko-KR" altLang="en-US" dirty="0">
                <a:solidFill>
                  <a:srgbClr val="000000"/>
                </a:solidFill>
              </a:rPr>
              <a:t>시간</a:t>
            </a:r>
            <a:endParaRPr lang="en-US" altLang="ko-KR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</a:pPr>
            <a:endParaRPr sz="1800" b="0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9FBA3762-C8A0-1365-02B2-E9C585BD06EB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B7335C7-4266-5399-6766-537DC5516DE4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173CF9-C41A-CCD3-E970-B8C84227A1FC}"/>
              </a:ext>
            </a:extLst>
          </p:cNvPr>
          <p:cNvSpPr txBox="1"/>
          <p:nvPr/>
        </p:nvSpPr>
        <p:spPr>
          <a:xfrm>
            <a:off x="457200" y="309890"/>
            <a:ext cx="1127729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  <a:latin typeface="Calibri"/>
              </a:rPr>
              <a:t>System Architecture (Block Diagram)</a:t>
            </a:r>
            <a:endParaRPr sz="28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AA3EE5-F0B1-A651-C75D-DAD716EB121F}"/>
              </a:ext>
            </a:extLst>
          </p:cNvPr>
          <p:cNvSpPr txBox="1"/>
          <p:nvPr/>
        </p:nvSpPr>
        <p:spPr>
          <a:xfrm>
            <a:off x="11758425" y="6492240"/>
            <a:ext cx="25039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000" b="0" dirty="0">
                <a:solidFill>
                  <a:srgbClr val="666666"/>
                </a:solidFill>
                <a:latin typeface="Calibri"/>
              </a:rPr>
              <a:t>3</a:t>
            </a:r>
            <a:endParaRPr sz="1000" b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D872B433-32B6-0F42-DFF1-69727ADBB350}"/>
              </a:ext>
            </a:extLst>
          </p:cNvPr>
          <p:cNvSpPr/>
          <p:nvPr/>
        </p:nvSpPr>
        <p:spPr>
          <a:xfrm>
            <a:off x="457200" y="6446520"/>
            <a:ext cx="1127729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BF80BD-343A-313C-E56E-5B42DCF3E91D}"/>
              </a:ext>
            </a:extLst>
          </p:cNvPr>
          <p:cNvSpPr txBox="1"/>
          <p:nvPr/>
        </p:nvSpPr>
        <p:spPr>
          <a:xfrm>
            <a:off x="457200" y="6492240"/>
            <a:ext cx="326403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dirty="0">
                <a:solidFill>
                  <a:srgbClr val="666666"/>
                </a:solidFill>
                <a:latin typeface="Calibri"/>
              </a:rPr>
              <a:t>Step 0</a:t>
            </a:r>
            <a:r>
              <a:rPr lang="en-US" sz="1000" b="0" dirty="0">
                <a:solidFill>
                  <a:srgbClr val="666666"/>
                </a:solidFill>
                <a:latin typeface="Calibri"/>
              </a:rPr>
              <a:t>3</a:t>
            </a:r>
            <a:r>
              <a:rPr sz="1000" b="0" dirty="0">
                <a:solidFill>
                  <a:srgbClr val="666666"/>
                </a:solidFill>
                <a:latin typeface="Calibri"/>
              </a:rPr>
              <a:t>: </a:t>
            </a:r>
            <a:r>
              <a:rPr lang="en-US" altLang="ko-KR" sz="1000" b="0" dirty="0">
                <a:solidFill>
                  <a:srgbClr val="666666"/>
                </a:solidFill>
                <a:latin typeface="Calibri"/>
              </a:rPr>
              <a:t>AXI GPIO Integration</a:t>
            </a:r>
            <a:r>
              <a:rPr sz="1000" b="0" dirty="0">
                <a:solidFill>
                  <a:srgbClr val="666666"/>
                </a:solidFill>
                <a:latin typeface="Calibri"/>
              </a:rPr>
              <a:t> —</a:t>
            </a:r>
            <a:r>
              <a:rPr lang="en-US" sz="1000" b="0" dirty="0">
                <a:solidFill>
                  <a:srgbClr val="666666"/>
                </a:solidFill>
                <a:latin typeface="Calibri"/>
              </a:rPr>
              <a:t> </a:t>
            </a:r>
            <a:r>
              <a:rPr lang="en-US" sz="1000" dirty="0">
                <a:solidFill>
                  <a:srgbClr val="666666"/>
                </a:solidFill>
                <a:latin typeface="Calibri"/>
              </a:rPr>
              <a:t>PS/PL </a:t>
            </a:r>
            <a:r>
              <a:rPr lang="ko-KR" altLang="en-US" sz="1000" dirty="0">
                <a:solidFill>
                  <a:srgbClr val="666666"/>
                </a:solidFill>
                <a:latin typeface="Calibri"/>
              </a:rPr>
              <a:t>통신 구현 </a:t>
            </a:r>
            <a:r>
              <a:rPr lang="en-US" altLang="ko-KR" sz="1000" dirty="0">
                <a:solidFill>
                  <a:srgbClr val="666666"/>
                </a:solidFill>
                <a:latin typeface="Calibri"/>
              </a:rPr>
              <a:t>LED </a:t>
            </a:r>
            <a:r>
              <a:rPr lang="ko-KR" altLang="en-US" sz="1000" dirty="0">
                <a:solidFill>
                  <a:srgbClr val="666666"/>
                </a:solidFill>
                <a:latin typeface="Calibri"/>
              </a:rPr>
              <a:t>제어</a:t>
            </a:r>
            <a:endParaRPr sz="1000" b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E9475866-CBDC-1B92-EB3A-9E20C4C1B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10650"/>
            <a:ext cx="8229600" cy="1828799"/>
          </a:xfrm>
        </p:spPr>
        <p:txBody>
          <a:bodyPr>
            <a:normAutofit lnSpcReduction="10000"/>
          </a:bodyPr>
          <a:lstStyle/>
          <a:p>
            <a:pPr>
              <a:defRPr sz="2000"/>
            </a:pPr>
            <a:r>
              <a:rPr dirty="0"/>
              <a:t>Zynq PS (M_AXI_HPM0)</a:t>
            </a:r>
          </a:p>
          <a:p>
            <a:pPr>
              <a:defRPr sz="2000"/>
            </a:pPr>
            <a:r>
              <a:rPr dirty="0"/>
              <a:t>AXI GPIO (4-bit)</a:t>
            </a:r>
          </a:p>
          <a:p>
            <a:pPr>
              <a:defRPr sz="2000"/>
            </a:pPr>
            <a:r>
              <a:rPr dirty="0"/>
              <a:t>AXI SmartConnect</a:t>
            </a:r>
            <a:endParaRPr lang="en-US" dirty="0"/>
          </a:p>
          <a:p>
            <a:pPr>
              <a:defRPr sz="2000"/>
            </a:pPr>
            <a:r>
              <a:rPr lang="en-US" altLang="ko-KR" dirty="0"/>
              <a:t>Zynq PS + AXI GPIO + LED</a:t>
            </a:r>
          </a:p>
          <a:p>
            <a:pPr>
              <a:defRPr sz="2000"/>
            </a:pPr>
            <a:r>
              <a:rPr lang="en-US" altLang="ko-KR" dirty="0"/>
              <a:t>AXI </a:t>
            </a:r>
            <a:r>
              <a:rPr lang="ko-KR" altLang="en-US" dirty="0"/>
              <a:t>버스로 데이터 통신</a:t>
            </a:r>
            <a:endParaRPr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CAE5022-624E-6BA7-CD5A-6C183795F6A2}"/>
              </a:ext>
            </a:extLst>
          </p:cNvPr>
          <p:cNvSpPr/>
          <p:nvPr/>
        </p:nvSpPr>
        <p:spPr>
          <a:xfrm>
            <a:off x="1357631" y="3821986"/>
            <a:ext cx="1246777" cy="1459425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Processing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System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(PS)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D6890C4-76B9-52A6-12D0-A21F03BD7A3A}"/>
              </a:ext>
            </a:extLst>
          </p:cNvPr>
          <p:cNvSpPr/>
          <p:nvPr/>
        </p:nvSpPr>
        <p:spPr>
          <a:xfrm>
            <a:off x="3227252" y="3821986"/>
            <a:ext cx="1246777" cy="1459425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AXI Bus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9494F17-40D2-BCD6-3EC0-950421265EEE}"/>
              </a:ext>
            </a:extLst>
          </p:cNvPr>
          <p:cNvSpPr/>
          <p:nvPr/>
        </p:nvSpPr>
        <p:spPr>
          <a:xfrm>
            <a:off x="5096873" y="3821985"/>
            <a:ext cx="1246777" cy="1459425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GPIO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(4bit)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600B81A-5255-6F2A-E985-11E13208B4C6}"/>
              </a:ext>
            </a:extLst>
          </p:cNvPr>
          <p:cNvSpPr/>
          <p:nvPr/>
        </p:nvSpPr>
        <p:spPr>
          <a:xfrm>
            <a:off x="7133862" y="3821985"/>
            <a:ext cx="1246777" cy="1459425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PMOD</a:t>
            </a: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79EEBF75-D8C6-93A2-B2F6-70ED4A2E8E68}"/>
              </a:ext>
            </a:extLst>
          </p:cNvPr>
          <p:cNvCxnSpPr>
            <a:stCxn id="19" idx="3"/>
            <a:endCxn id="20" idx="1"/>
          </p:cNvCxnSpPr>
          <p:nvPr/>
        </p:nvCxnSpPr>
        <p:spPr>
          <a:xfrm>
            <a:off x="2604408" y="4551699"/>
            <a:ext cx="622844" cy="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9428C484-7A22-CCF5-C04D-EC95B710AA26}"/>
              </a:ext>
            </a:extLst>
          </p:cNvPr>
          <p:cNvCxnSpPr>
            <a:stCxn id="20" idx="3"/>
            <a:endCxn id="21" idx="1"/>
          </p:cNvCxnSpPr>
          <p:nvPr/>
        </p:nvCxnSpPr>
        <p:spPr>
          <a:xfrm flipV="1">
            <a:off x="4474029" y="4551698"/>
            <a:ext cx="622844" cy="1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82931F17-49F4-8DEF-2826-D88B92D31768}"/>
              </a:ext>
            </a:extLst>
          </p:cNvPr>
          <p:cNvCxnSpPr>
            <a:stCxn id="21" idx="3"/>
            <a:endCxn id="22" idx="1"/>
          </p:cNvCxnSpPr>
          <p:nvPr/>
        </p:nvCxnSpPr>
        <p:spPr>
          <a:xfrm>
            <a:off x="6343650" y="4551698"/>
            <a:ext cx="790212" cy="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13B3F98-49F6-9201-AB88-A6F467B9E343}"/>
              </a:ext>
            </a:extLst>
          </p:cNvPr>
          <p:cNvSpPr/>
          <p:nvPr/>
        </p:nvSpPr>
        <p:spPr>
          <a:xfrm>
            <a:off x="9453880" y="3821986"/>
            <a:ext cx="1246777" cy="1459425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Extend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Board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(LED/SW)</a:t>
            </a: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629E71AB-792A-8137-8E27-0A02052186EC}"/>
              </a:ext>
            </a:extLst>
          </p:cNvPr>
          <p:cNvCxnSpPr>
            <a:cxnSpLocks/>
            <a:stCxn id="22" idx="3"/>
            <a:endCxn id="29" idx="1"/>
          </p:cNvCxnSpPr>
          <p:nvPr/>
        </p:nvCxnSpPr>
        <p:spPr>
          <a:xfrm>
            <a:off x="8380639" y="4551698"/>
            <a:ext cx="1073241" cy="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0D8252E-CA13-DB0A-43B0-F031CFB0345E}"/>
              </a:ext>
            </a:extLst>
          </p:cNvPr>
          <p:cNvSpPr/>
          <p:nvPr/>
        </p:nvSpPr>
        <p:spPr>
          <a:xfrm>
            <a:off x="1065440" y="3352819"/>
            <a:ext cx="9934270" cy="2481943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508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71D1D2CC-B310-F66B-7ED2-FE82385D48B5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F758753-F236-58CF-D221-0388290B46C1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CA29C2-85C7-03A5-90F4-CEF8918171EC}"/>
              </a:ext>
            </a:extLst>
          </p:cNvPr>
          <p:cNvSpPr txBox="1"/>
          <p:nvPr/>
        </p:nvSpPr>
        <p:spPr>
          <a:xfrm>
            <a:off x="457200" y="309890"/>
            <a:ext cx="1127729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2800" b="1" dirty="0" err="1">
                <a:solidFill>
                  <a:srgbClr val="FFFFFF"/>
                </a:solidFill>
                <a:latin typeface="Calibri"/>
              </a:rPr>
              <a:t>Vivado</a:t>
            </a:r>
            <a:r>
              <a:rPr lang="en-US" sz="2800" b="1" dirty="0">
                <a:solidFill>
                  <a:srgbClr val="FFFFFF"/>
                </a:solidFill>
                <a:latin typeface="Calibri"/>
              </a:rPr>
              <a:t> GUI</a:t>
            </a:r>
            <a:endParaRPr sz="28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384150-B0F7-9465-2DFE-65B177D05E58}"/>
              </a:ext>
            </a:extLst>
          </p:cNvPr>
          <p:cNvSpPr txBox="1"/>
          <p:nvPr/>
        </p:nvSpPr>
        <p:spPr>
          <a:xfrm>
            <a:off x="842801" y="1407170"/>
            <a:ext cx="613610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00B050"/>
                </a:solidFill>
              </a:rPr>
              <a:t>Step 1: </a:t>
            </a:r>
            <a:r>
              <a:rPr lang="ko-KR" altLang="en-US" b="1" dirty="0">
                <a:solidFill>
                  <a:srgbClr val="00B050"/>
                </a:solidFill>
              </a:rPr>
              <a:t>프로젝트 생성</a:t>
            </a:r>
            <a:endParaRPr lang="en-US" altLang="ko-KR" b="1" dirty="0">
              <a:solidFill>
                <a:srgbClr val="00B050"/>
              </a:solidFill>
            </a:endParaRPr>
          </a:p>
          <a:p>
            <a:pPr lvl="1"/>
            <a:r>
              <a:rPr lang="en-US" altLang="ko-KR" dirty="0"/>
              <a:t>1.1 </a:t>
            </a:r>
            <a:r>
              <a:rPr lang="en-US" altLang="ko-KR" dirty="0" err="1"/>
              <a:t>Vivado</a:t>
            </a:r>
            <a:r>
              <a:rPr lang="en-US" altLang="ko-KR" dirty="0"/>
              <a:t> </a:t>
            </a:r>
            <a:r>
              <a:rPr lang="ko-KR" altLang="en-US" dirty="0"/>
              <a:t>실행</a:t>
            </a:r>
            <a:endParaRPr lang="en-US" altLang="ko-KR" dirty="0"/>
          </a:p>
          <a:p>
            <a:pPr lvl="2"/>
            <a:r>
              <a:rPr lang="en-US" altLang="ko-KR" dirty="0"/>
              <a:t>source /tools/Xilinx/</a:t>
            </a:r>
            <a:r>
              <a:rPr lang="en-US" altLang="ko-KR" dirty="0">
                <a:solidFill>
                  <a:srgbClr val="FF0000"/>
                </a:solidFill>
              </a:rPr>
              <a:t>Vivado</a:t>
            </a:r>
            <a:r>
              <a:rPr lang="en-US" altLang="ko-KR" dirty="0"/>
              <a:t>/2021.2/settings64.sh</a:t>
            </a:r>
          </a:p>
          <a:p>
            <a:pPr lvl="2"/>
            <a:r>
              <a:rPr lang="en-US" altLang="ko-KR" dirty="0" err="1"/>
              <a:t>vivado</a:t>
            </a:r>
            <a:r>
              <a:rPr lang="en-US" altLang="ko-KR" dirty="0"/>
              <a:t> &amp;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1.2 </a:t>
            </a:r>
            <a:r>
              <a:rPr lang="ko-KR" altLang="en-US" dirty="0"/>
              <a:t>새 프로젝트 생성</a:t>
            </a:r>
            <a:endParaRPr lang="en-US" altLang="ko-KR" dirty="0"/>
          </a:p>
          <a:p>
            <a:pPr marL="1257300" lvl="2" indent="-342900">
              <a:buAutoNum type="arabicPeriod"/>
            </a:pPr>
            <a:r>
              <a:rPr lang="en-US" altLang="ko-KR" dirty="0"/>
              <a:t>Create Project </a:t>
            </a:r>
            <a:r>
              <a:rPr lang="ko-KR" altLang="en-US" dirty="0"/>
              <a:t>클릭</a:t>
            </a:r>
            <a:endParaRPr lang="en-US" altLang="ko-KR" dirty="0"/>
          </a:p>
          <a:p>
            <a:pPr marL="1257300" lvl="2" indent="-342900">
              <a:buAutoNum type="arabicPeriod"/>
            </a:pPr>
            <a:r>
              <a:rPr lang="en-US" altLang="ko-KR" dirty="0"/>
              <a:t>Next</a:t>
            </a:r>
          </a:p>
          <a:p>
            <a:pPr marL="1257300" lvl="2" indent="-342900">
              <a:buAutoNum type="arabicPeriod"/>
            </a:pPr>
            <a:r>
              <a:rPr lang="en-US" altLang="ko-KR" dirty="0"/>
              <a:t>RTL Project </a:t>
            </a:r>
            <a:r>
              <a:rPr lang="ko-KR" altLang="en-US" dirty="0"/>
              <a:t>선택 → </a:t>
            </a:r>
            <a:r>
              <a:rPr lang="en-US" altLang="ko-KR" dirty="0"/>
              <a:t>Next</a:t>
            </a:r>
          </a:p>
          <a:p>
            <a:pPr marL="1257300" lvl="2" indent="-342900">
              <a:buAutoNum type="arabicPeriod"/>
            </a:pPr>
            <a:r>
              <a:rPr lang="ko-KR" altLang="en-US" dirty="0"/>
              <a:t>프로젝트 이름</a:t>
            </a:r>
            <a:r>
              <a:rPr lang="en-US" altLang="ko-KR" dirty="0"/>
              <a:t>: kv260_axi_gpio</a:t>
            </a:r>
          </a:p>
          <a:p>
            <a:pPr marL="1257300" lvl="2" indent="-342900">
              <a:buAutoNum type="arabicPeriod"/>
            </a:pPr>
            <a:r>
              <a:rPr lang="ko-KR" altLang="en-US" dirty="0"/>
              <a:t>프로젝트 위치</a:t>
            </a:r>
            <a:r>
              <a:rPr lang="en-US" altLang="ko-KR" dirty="0"/>
              <a:t>: </a:t>
            </a:r>
            <a:r>
              <a:rPr lang="ko-KR" altLang="en-US" dirty="0"/>
              <a:t>원하는 경로 선택 → </a:t>
            </a:r>
            <a:r>
              <a:rPr lang="en-US" altLang="ko-KR" dirty="0"/>
              <a:t>Next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1.3 </a:t>
            </a:r>
            <a:r>
              <a:rPr lang="ko-KR" altLang="en-US" dirty="0"/>
              <a:t>보드 선택</a:t>
            </a:r>
            <a:endParaRPr lang="en-US" altLang="ko-KR" dirty="0"/>
          </a:p>
          <a:p>
            <a:pPr marL="1257300" lvl="2" indent="-342900">
              <a:buAutoNum type="arabicPeriod"/>
            </a:pPr>
            <a:r>
              <a:rPr lang="en-US" altLang="ko-KR" dirty="0"/>
              <a:t>Boards </a:t>
            </a:r>
            <a:r>
              <a:rPr lang="ko-KR" altLang="en-US" dirty="0"/>
              <a:t>탭 클릭</a:t>
            </a:r>
            <a:endParaRPr lang="en-US" altLang="ko-KR" dirty="0"/>
          </a:p>
          <a:p>
            <a:pPr marL="1257300" lvl="2" indent="-342900">
              <a:buAutoNum type="arabicPeriod"/>
            </a:pPr>
            <a:r>
              <a:rPr lang="ko-KR" altLang="en-US" dirty="0"/>
              <a:t>검색</a:t>
            </a:r>
            <a:r>
              <a:rPr lang="en-US" altLang="ko-KR" dirty="0"/>
              <a:t>: Kria KV260 </a:t>
            </a:r>
            <a:r>
              <a:rPr lang="ko-KR" altLang="en-US" dirty="0"/>
              <a:t>입력</a:t>
            </a:r>
            <a:endParaRPr lang="en-US" altLang="ko-KR" dirty="0"/>
          </a:p>
          <a:p>
            <a:pPr marL="1257300" lvl="2" indent="-342900">
              <a:buAutoNum type="arabicPeriod"/>
            </a:pPr>
            <a:r>
              <a:rPr lang="en-US" altLang="ko-KR" dirty="0"/>
              <a:t>Kria KV260 Vision AI Starter Kit </a:t>
            </a:r>
            <a:r>
              <a:rPr lang="ko-KR" altLang="en-US" dirty="0"/>
              <a:t>선택</a:t>
            </a:r>
            <a:endParaRPr lang="en-US" altLang="ko-KR" dirty="0"/>
          </a:p>
          <a:p>
            <a:pPr marL="1257300" lvl="2" indent="-342900">
              <a:buAutoNum type="arabicPeriod"/>
            </a:pPr>
            <a:r>
              <a:rPr lang="en-US" altLang="ko-KR" dirty="0"/>
              <a:t>Next → Finish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67795A-5CA2-5F47-3273-F90DFD37F522}"/>
              </a:ext>
            </a:extLst>
          </p:cNvPr>
          <p:cNvSpPr txBox="1"/>
          <p:nvPr/>
        </p:nvSpPr>
        <p:spPr>
          <a:xfrm>
            <a:off x="11758425" y="6492240"/>
            <a:ext cx="25039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000" b="0" dirty="0">
                <a:solidFill>
                  <a:srgbClr val="666666"/>
                </a:solidFill>
                <a:latin typeface="Calibri"/>
              </a:rPr>
              <a:t>4</a:t>
            </a:r>
            <a:endParaRPr sz="1000" b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5BD93C89-519D-0572-E4F9-CD61C89CDE2D}"/>
              </a:ext>
            </a:extLst>
          </p:cNvPr>
          <p:cNvSpPr/>
          <p:nvPr/>
        </p:nvSpPr>
        <p:spPr>
          <a:xfrm>
            <a:off x="457200" y="6446520"/>
            <a:ext cx="1127729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6BBDF3-8107-D31F-775E-2F1A29D4DA16}"/>
              </a:ext>
            </a:extLst>
          </p:cNvPr>
          <p:cNvSpPr txBox="1"/>
          <p:nvPr/>
        </p:nvSpPr>
        <p:spPr>
          <a:xfrm>
            <a:off x="457200" y="6492240"/>
            <a:ext cx="326403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dirty="0">
                <a:solidFill>
                  <a:srgbClr val="666666"/>
                </a:solidFill>
                <a:latin typeface="Calibri"/>
              </a:rPr>
              <a:t>Step 0</a:t>
            </a:r>
            <a:r>
              <a:rPr lang="en-US" sz="1000" b="0" dirty="0">
                <a:solidFill>
                  <a:srgbClr val="666666"/>
                </a:solidFill>
                <a:latin typeface="Calibri"/>
              </a:rPr>
              <a:t>3</a:t>
            </a:r>
            <a:r>
              <a:rPr sz="1000" b="0" dirty="0">
                <a:solidFill>
                  <a:srgbClr val="666666"/>
                </a:solidFill>
                <a:latin typeface="Calibri"/>
              </a:rPr>
              <a:t>: </a:t>
            </a:r>
            <a:r>
              <a:rPr lang="en-US" altLang="ko-KR" sz="1000" b="0" dirty="0">
                <a:solidFill>
                  <a:srgbClr val="666666"/>
                </a:solidFill>
                <a:latin typeface="Calibri"/>
              </a:rPr>
              <a:t>AXI GPIO Integration</a:t>
            </a:r>
            <a:r>
              <a:rPr sz="1000" b="0" dirty="0">
                <a:solidFill>
                  <a:srgbClr val="666666"/>
                </a:solidFill>
                <a:latin typeface="Calibri"/>
              </a:rPr>
              <a:t> —</a:t>
            </a:r>
            <a:r>
              <a:rPr lang="en-US" sz="1000" b="0" dirty="0">
                <a:solidFill>
                  <a:srgbClr val="666666"/>
                </a:solidFill>
                <a:latin typeface="Calibri"/>
              </a:rPr>
              <a:t> </a:t>
            </a:r>
            <a:r>
              <a:rPr lang="en-US" sz="1000" dirty="0">
                <a:solidFill>
                  <a:srgbClr val="666666"/>
                </a:solidFill>
                <a:latin typeface="Calibri"/>
              </a:rPr>
              <a:t>PS/PL </a:t>
            </a:r>
            <a:r>
              <a:rPr lang="ko-KR" altLang="en-US" sz="1000" dirty="0">
                <a:solidFill>
                  <a:srgbClr val="666666"/>
                </a:solidFill>
                <a:latin typeface="Calibri"/>
              </a:rPr>
              <a:t>통신 구현 </a:t>
            </a:r>
            <a:r>
              <a:rPr lang="en-US" altLang="ko-KR" sz="1000" dirty="0">
                <a:solidFill>
                  <a:srgbClr val="666666"/>
                </a:solidFill>
                <a:latin typeface="Calibri"/>
              </a:rPr>
              <a:t>LED </a:t>
            </a:r>
            <a:r>
              <a:rPr lang="ko-KR" altLang="en-US" sz="1000" dirty="0">
                <a:solidFill>
                  <a:srgbClr val="666666"/>
                </a:solidFill>
                <a:latin typeface="Calibri"/>
              </a:rPr>
              <a:t>제어</a:t>
            </a:r>
            <a:endParaRPr sz="1000" b="0" dirty="0">
              <a:solidFill>
                <a:srgbClr val="666666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85807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4EB91C2-85E7-6A72-EAF0-CE494F42D0B1}"/>
              </a:ext>
            </a:extLst>
          </p:cNvPr>
          <p:cNvSpPr txBox="1"/>
          <p:nvPr/>
        </p:nvSpPr>
        <p:spPr>
          <a:xfrm>
            <a:off x="1212477" y="1398286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00B050"/>
                </a:solidFill>
              </a:rPr>
              <a:t>Step 2: Block Design </a:t>
            </a:r>
            <a:r>
              <a:rPr lang="ko-KR" altLang="en-US" b="1" dirty="0">
                <a:solidFill>
                  <a:srgbClr val="00B050"/>
                </a:solidFill>
              </a:rPr>
              <a:t>생성</a:t>
            </a:r>
            <a:endParaRPr lang="en-US" altLang="ko-KR" b="1" dirty="0">
              <a:solidFill>
                <a:srgbClr val="00B050"/>
              </a:solidFill>
            </a:endParaRPr>
          </a:p>
          <a:p>
            <a:pPr lvl="1"/>
            <a:r>
              <a:rPr lang="en-US" altLang="ko-KR" dirty="0"/>
              <a:t>2.1 </a:t>
            </a:r>
            <a:r>
              <a:rPr lang="ko-KR" altLang="en-US" dirty="0"/>
              <a:t>블록 다이어그램 생성</a:t>
            </a:r>
            <a:endParaRPr lang="en-US" altLang="ko-KR" dirty="0"/>
          </a:p>
          <a:p>
            <a:pPr marL="1257300" lvl="2" indent="-342900">
              <a:buAutoNum type="arabicPeriod"/>
            </a:pPr>
            <a:r>
              <a:rPr lang="en-US" altLang="ko-KR" dirty="0"/>
              <a:t>IP Integrator → Create Block Diagram </a:t>
            </a:r>
            <a:r>
              <a:rPr lang="ko-KR" altLang="en-US" dirty="0"/>
              <a:t>클릭</a:t>
            </a:r>
            <a:endParaRPr lang="en-US" altLang="ko-KR" dirty="0"/>
          </a:p>
          <a:p>
            <a:pPr marL="1257300" lvl="2" indent="-342900">
              <a:buAutoNum type="arabicPeriod"/>
            </a:pPr>
            <a:r>
              <a:rPr lang="ko-KR" altLang="en-US" dirty="0"/>
              <a:t>이름</a:t>
            </a:r>
            <a:r>
              <a:rPr lang="en-US" altLang="ko-KR" dirty="0"/>
              <a:t>: design_1 → OK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2.2 Zynq PS </a:t>
            </a:r>
            <a:r>
              <a:rPr lang="ko-KR" altLang="en-US" dirty="0"/>
              <a:t>추가</a:t>
            </a:r>
            <a:endParaRPr lang="en-US" altLang="ko-KR" dirty="0"/>
          </a:p>
          <a:p>
            <a:pPr marL="1257300" lvl="2" indent="-342900">
              <a:buAutoNum type="arabicPeriod"/>
            </a:pPr>
            <a:r>
              <a:rPr lang="en-US" altLang="ko-KR" dirty="0"/>
              <a:t>Add IP (+) </a:t>
            </a:r>
            <a:r>
              <a:rPr lang="ko-KR" altLang="en-US" dirty="0"/>
              <a:t>클릭</a:t>
            </a:r>
            <a:endParaRPr lang="en-US" altLang="ko-KR" dirty="0"/>
          </a:p>
          <a:p>
            <a:pPr marL="1257300" lvl="2" indent="-342900">
              <a:buAutoNum type="arabicPeriod"/>
            </a:pPr>
            <a:r>
              <a:rPr lang="ko-KR" altLang="en-US" dirty="0"/>
              <a:t>검색</a:t>
            </a:r>
            <a:r>
              <a:rPr lang="en-US" altLang="ko-KR" dirty="0"/>
              <a:t>: Zynq </a:t>
            </a:r>
            <a:r>
              <a:rPr lang="en-US" altLang="ko-KR" dirty="0" err="1"/>
              <a:t>UltraScale</a:t>
            </a:r>
            <a:r>
              <a:rPr lang="en-US" altLang="ko-KR" dirty="0"/>
              <a:t>+ </a:t>
            </a:r>
            <a:r>
              <a:rPr lang="ko-KR" altLang="en-US" dirty="0"/>
              <a:t>입력</a:t>
            </a:r>
            <a:endParaRPr lang="en-US" altLang="ko-KR" dirty="0"/>
          </a:p>
          <a:p>
            <a:pPr marL="1257300" lvl="2" indent="-342900">
              <a:buAutoNum type="arabicPeriod"/>
            </a:pPr>
            <a:r>
              <a:rPr lang="en-US" altLang="ko-KR" dirty="0"/>
              <a:t>Zynq </a:t>
            </a:r>
            <a:r>
              <a:rPr lang="en-US" altLang="ko-KR" dirty="0" err="1"/>
              <a:t>UltraScale</a:t>
            </a:r>
            <a:r>
              <a:rPr lang="en-US" altLang="ko-KR" dirty="0"/>
              <a:t>+ </a:t>
            </a:r>
            <a:r>
              <a:rPr lang="en-US" altLang="ko-KR" dirty="0" err="1"/>
              <a:t>MPSoC</a:t>
            </a:r>
            <a:r>
              <a:rPr lang="en-US" altLang="ko-KR" dirty="0"/>
              <a:t> </a:t>
            </a:r>
            <a:r>
              <a:rPr lang="ko-KR" altLang="en-US" dirty="0"/>
              <a:t>더블 클릭</a:t>
            </a:r>
            <a:endParaRPr lang="en-US" altLang="ko-KR" dirty="0"/>
          </a:p>
          <a:p>
            <a:pPr marL="800100" lvl="1" indent="-342900">
              <a:buAutoNum type="arabicPeriod"/>
            </a:pPr>
            <a:endParaRPr lang="en-US" altLang="ko-KR" dirty="0"/>
          </a:p>
          <a:p>
            <a:pPr lvl="1"/>
            <a:r>
              <a:rPr lang="en-US" altLang="ko-KR" dirty="0"/>
              <a:t>2.3 Block Automation </a:t>
            </a:r>
            <a:r>
              <a:rPr lang="ko-KR" altLang="en-US" dirty="0"/>
              <a:t>실행</a:t>
            </a:r>
            <a:endParaRPr lang="en-US" altLang="ko-KR" dirty="0"/>
          </a:p>
          <a:p>
            <a:pPr marL="1257300" lvl="2" indent="-342900">
              <a:buAutoNum type="arabicPeriod"/>
            </a:pPr>
            <a:r>
              <a:rPr lang="ko-KR" altLang="en-US" dirty="0"/>
              <a:t>나타나는 </a:t>
            </a:r>
            <a:r>
              <a:rPr lang="en-US" altLang="ko-KR" dirty="0"/>
              <a:t>Run Block Automation </a:t>
            </a:r>
            <a:r>
              <a:rPr lang="ko-KR" altLang="en-US" dirty="0"/>
              <a:t>클릭</a:t>
            </a:r>
            <a:endParaRPr lang="en-US" altLang="ko-KR" dirty="0"/>
          </a:p>
          <a:p>
            <a:pPr marL="1257300" lvl="2" indent="-342900">
              <a:buAutoNum type="arabicPeriod"/>
            </a:pPr>
            <a:r>
              <a:rPr lang="en-US" altLang="ko-KR" dirty="0"/>
              <a:t>KV260 Preset </a:t>
            </a:r>
            <a:r>
              <a:rPr lang="ko-KR" altLang="en-US" dirty="0"/>
              <a:t>선택 </a:t>
            </a:r>
            <a:r>
              <a:rPr lang="en-US" altLang="ko-KR" dirty="0"/>
              <a:t>(</a:t>
            </a:r>
            <a:r>
              <a:rPr lang="ko-KR" altLang="en-US" dirty="0"/>
              <a:t>또는 기본값</a:t>
            </a:r>
            <a:r>
              <a:rPr lang="en-US" altLang="ko-KR" dirty="0"/>
              <a:t>)</a:t>
            </a:r>
          </a:p>
          <a:p>
            <a:pPr marL="1257300" lvl="2" indent="-342900">
              <a:buAutoNum type="arabicPeriod"/>
            </a:pPr>
            <a:r>
              <a:rPr lang="en-US" altLang="ko-KR" dirty="0"/>
              <a:t>OK </a:t>
            </a:r>
            <a:r>
              <a:rPr lang="ko-KR" altLang="en-US" dirty="0"/>
              <a:t>클릭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0C37544-2CF7-5045-04CE-93EB3938CF66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FE894D32-D108-D298-A524-5762DEE77B32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0FF1AF-E3C1-F8A7-69DC-74163BDF79CE}"/>
              </a:ext>
            </a:extLst>
          </p:cNvPr>
          <p:cNvSpPr txBox="1"/>
          <p:nvPr/>
        </p:nvSpPr>
        <p:spPr>
          <a:xfrm>
            <a:off x="457200" y="309890"/>
            <a:ext cx="1127729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2800" b="1" dirty="0" err="1">
                <a:solidFill>
                  <a:srgbClr val="FFFFFF"/>
                </a:solidFill>
                <a:latin typeface="Calibri"/>
              </a:rPr>
              <a:t>Vivado</a:t>
            </a:r>
            <a:r>
              <a:rPr lang="en-US" sz="2800" b="1" dirty="0">
                <a:solidFill>
                  <a:srgbClr val="FFFFFF"/>
                </a:solidFill>
                <a:latin typeface="Calibri"/>
              </a:rPr>
              <a:t> GUI</a:t>
            </a:r>
            <a:endParaRPr sz="28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6E5794-6CDE-2D6D-6835-2CBF1E3DA98F}"/>
              </a:ext>
            </a:extLst>
          </p:cNvPr>
          <p:cNvSpPr txBox="1"/>
          <p:nvPr/>
        </p:nvSpPr>
        <p:spPr>
          <a:xfrm>
            <a:off x="11758425" y="6492240"/>
            <a:ext cx="25039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000" b="0" dirty="0">
                <a:solidFill>
                  <a:srgbClr val="666666"/>
                </a:solidFill>
                <a:latin typeface="Calibri"/>
              </a:rPr>
              <a:t>5</a:t>
            </a:r>
            <a:endParaRPr sz="1000" b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517573C5-2DDB-E95B-9F48-704EC36EEDD7}"/>
              </a:ext>
            </a:extLst>
          </p:cNvPr>
          <p:cNvSpPr/>
          <p:nvPr/>
        </p:nvSpPr>
        <p:spPr>
          <a:xfrm>
            <a:off x="457200" y="6446520"/>
            <a:ext cx="1127729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A24EBD-AD30-E014-949E-1BC837C0F3CD}"/>
              </a:ext>
            </a:extLst>
          </p:cNvPr>
          <p:cNvSpPr txBox="1"/>
          <p:nvPr/>
        </p:nvSpPr>
        <p:spPr>
          <a:xfrm>
            <a:off x="457200" y="6492240"/>
            <a:ext cx="326403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dirty="0">
                <a:solidFill>
                  <a:srgbClr val="666666"/>
                </a:solidFill>
                <a:latin typeface="Calibri"/>
              </a:rPr>
              <a:t>Step 0</a:t>
            </a:r>
            <a:r>
              <a:rPr lang="en-US" sz="1000" b="0" dirty="0">
                <a:solidFill>
                  <a:srgbClr val="666666"/>
                </a:solidFill>
                <a:latin typeface="Calibri"/>
              </a:rPr>
              <a:t>3</a:t>
            </a:r>
            <a:r>
              <a:rPr sz="1000" b="0" dirty="0">
                <a:solidFill>
                  <a:srgbClr val="666666"/>
                </a:solidFill>
                <a:latin typeface="Calibri"/>
              </a:rPr>
              <a:t>: </a:t>
            </a:r>
            <a:r>
              <a:rPr lang="en-US" altLang="ko-KR" sz="1000" b="0" dirty="0">
                <a:solidFill>
                  <a:srgbClr val="666666"/>
                </a:solidFill>
                <a:latin typeface="Calibri"/>
              </a:rPr>
              <a:t>AXI GPIO Integration</a:t>
            </a:r>
            <a:r>
              <a:rPr sz="1000" b="0" dirty="0">
                <a:solidFill>
                  <a:srgbClr val="666666"/>
                </a:solidFill>
                <a:latin typeface="Calibri"/>
              </a:rPr>
              <a:t> —</a:t>
            </a:r>
            <a:r>
              <a:rPr lang="en-US" sz="1000" b="0" dirty="0">
                <a:solidFill>
                  <a:srgbClr val="666666"/>
                </a:solidFill>
                <a:latin typeface="Calibri"/>
              </a:rPr>
              <a:t> </a:t>
            </a:r>
            <a:r>
              <a:rPr lang="en-US" sz="1000" dirty="0">
                <a:solidFill>
                  <a:srgbClr val="666666"/>
                </a:solidFill>
                <a:latin typeface="Calibri"/>
              </a:rPr>
              <a:t>PS/PL </a:t>
            </a:r>
            <a:r>
              <a:rPr lang="ko-KR" altLang="en-US" sz="1000" dirty="0">
                <a:solidFill>
                  <a:srgbClr val="666666"/>
                </a:solidFill>
                <a:latin typeface="Calibri"/>
              </a:rPr>
              <a:t>통신 구현 </a:t>
            </a:r>
            <a:r>
              <a:rPr lang="en-US" altLang="ko-KR" sz="1000" dirty="0">
                <a:solidFill>
                  <a:srgbClr val="666666"/>
                </a:solidFill>
                <a:latin typeface="Calibri"/>
              </a:rPr>
              <a:t>LED </a:t>
            </a:r>
            <a:r>
              <a:rPr lang="ko-KR" altLang="en-US" sz="1000" dirty="0">
                <a:solidFill>
                  <a:srgbClr val="666666"/>
                </a:solidFill>
                <a:latin typeface="Calibri"/>
              </a:rPr>
              <a:t>제어</a:t>
            </a:r>
            <a:endParaRPr sz="1000" b="0" dirty="0">
              <a:solidFill>
                <a:srgbClr val="666666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87828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DDC27F10-702F-B1E2-C4A6-714294DDD2AE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1102E8B-C441-1A7B-C373-E58BA319EE68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734CBC-C8B9-FA79-041A-1EA9D81D4B72}"/>
              </a:ext>
            </a:extLst>
          </p:cNvPr>
          <p:cNvSpPr txBox="1"/>
          <p:nvPr/>
        </p:nvSpPr>
        <p:spPr>
          <a:xfrm>
            <a:off x="457200" y="309890"/>
            <a:ext cx="1127729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2800" b="1" dirty="0" err="1">
                <a:solidFill>
                  <a:srgbClr val="FFFFFF"/>
                </a:solidFill>
                <a:latin typeface="Calibri"/>
              </a:rPr>
              <a:t>Vivado</a:t>
            </a:r>
            <a:r>
              <a:rPr lang="en-US" sz="2800" b="1" dirty="0">
                <a:solidFill>
                  <a:srgbClr val="FFFFFF"/>
                </a:solidFill>
                <a:latin typeface="Calibri"/>
              </a:rPr>
              <a:t> GUI</a:t>
            </a:r>
            <a:endParaRPr sz="28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F2E0CC-EDEB-7F6D-927D-A5D648EB7C39}"/>
              </a:ext>
            </a:extLst>
          </p:cNvPr>
          <p:cNvSpPr txBox="1"/>
          <p:nvPr/>
        </p:nvSpPr>
        <p:spPr>
          <a:xfrm>
            <a:off x="1158808" y="1310650"/>
            <a:ext cx="491926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00B050"/>
                </a:solidFill>
              </a:rPr>
              <a:t>Step 3: AXI GPIO IP </a:t>
            </a:r>
            <a:r>
              <a:rPr lang="ko-KR" altLang="en-US" b="1" dirty="0">
                <a:solidFill>
                  <a:srgbClr val="00B050"/>
                </a:solidFill>
              </a:rPr>
              <a:t>추가</a:t>
            </a:r>
            <a:endParaRPr lang="en-US" altLang="ko-KR" b="1" dirty="0">
              <a:solidFill>
                <a:srgbClr val="00B050"/>
              </a:solidFill>
            </a:endParaRPr>
          </a:p>
          <a:p>
            <a:pPr lvl="1"/>
            <a:r>
              <a:rPr lang="en-US" altLang="ko-KR" dirty="0"/>
              <a:t>3.1 AXI GPIO </a:t>
            </a:r>
            <a:r>
              <a:rPr lang="ko-KR" altLang="en-US" dirty="0"/>
              <a:t>추가</a:t>
            </a:r>
            <a:endParaRPr lang="en-US" altLang="ko-KR" dirty="0"/>
          </a:p>
          <a:p>
            <a:pPr marL="1257300" lvl="2" indent="-342900">
              <a:buAutoNum type="arabicPeriod"/>
            </a:pPr>
            <a:r>
              <a:rPr lang="en-US" altLang="ko-KR" dirty="0"/>
              <a:t>Add IP (+) </a:t>
            </a:r>
            <a:r>
              <a:rPr lang="ko-KR" altLang="en-US" dirty="0"/>
              <a:t>클릭</a:t>
            </a:r>
            <a:endParaRPr lang="en-US" altLang="ko-KR" dirty="0"/>
          </a:p>
          <a:p>
            <a:pPr marL="1257300" lvl="2" indent="-342900">
              <a:buAutoNum type="arabicPeriod"/>
            </a:pPr>
            <a:r>
              <a:rPr lang="ko-KR" altLang="en-US" dirty="0"/>
              <a:t>검색</a:t>
            </a:r>
            <a:r>
              <a:rPr lang="en-US" altLang="ko-KR" dirty="0"/>
              <a:t>: </a:t>
            </a:r>
            <a:r>
              <a:rPr lang="en-US" altLang="ko-KR" dirty="0" err="1"/>
              <a:t>axi</a:t>
            </a:r>
            <a:r>
              <a:rPr lang="en-US" altLang="ko-KR" dirty="0"/>
              <a:t> </a:t>
            </a:r>
            <a:r>
              <a:rPr lang="en-US" altLang="ko-KR" dirty="0" err="1"/>
              <a:t>gpio</a:t>
            </a:r>
            <a:r>
              <a:rPr lang="en-US" altLang="ko-KR" dirty="0"/>
              <a:t> </a:t>
            </a:r>
            <a:r>
              <a:rPr lang="ko-KR" altLang="en-US" dirty="0"/>
              <a:t>입력</a:t>
            </a:r>
            <a:endParaRPr lang="en-US" altLang="ko-KR" dirty="0"/>
          </a:p>
          <a:p>
            <a:pPr marL="1257300" lvl="2" indent="-342900">
              <a:buAutoNum type="arabicPeriod"/>
            </a:pPr>
            <a:r>
              <a:rPr lang="en-US" altLang="ko-KR" dirty="0"/>
              <a:t>AXI GPIO </a:t>
            </a:r>
            <a:r>
              <a:rPr lang="ko-KR" altLang="en-US" dirty="0"/>
              <a:t>더블 클릭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3.2 GPIO </a:t>
            </a:r>
            <a:r>
              <a:rPr lang="ko-KR" altLang="en-US" dirty="0"/>
              <a:t>설정</a:t>
            </a:r>
            <a:endParaRPr lang="en-US" altLang="ko-KR" dirty="0"/>
          </a:p>
          <a:p>
            <a:pPr marL="1257300" lvl="2" indent="-342900">
              <a:buAutoNum type="arabicPeriod"/>
            </a:pPr>
            <a:r>
              <a:rPr lang="en-US" altLang="ko-KR" dirty="0"/>
              <a:t>AXI GPIO </a:t>
            </a:r>
            <a:r>
              <a:rPr lang="ko-KR" altLang="en-US" dirty="0"/>
              <a:t>블록 더블 클릭</a:t>
            </a:r>
            <a:endParaRPr lang="en-US" altLang="ko-KR" dirty="0"/>
          </a:p>
          <a:p>
            <a:pPr marL="1257300" lvl="2" indent="-342900">
              <a:buAutoNum type="arabicPeriod"/>
            </a:pPr>
            <a:r>
              <a:rPr lang="ko-KR" altLang="en-US" dirty="0"/>
              <a:t>테이블과 같이 설정</a:t>
            </a:r>
            <a:r>
              <a:rPr lang="en-US" altLang="ko-KR" dirty="0"/>
              <a:t>:</a:t>
            </a:r>
          </a:p>
          <a:p>
            <a:pPr marL="1257300" lvl="2" indent="-342900">
              <a:buAutoNum type="arabicPeriod"/>
            </a:pPr>
            <a:r>
              <a:rPr lang="en-US" altLang="ko-KR" dirty="0"/>
              <a:t>OK </a:t>
            </a:r>
            <a:r>
              <a:rPr lang="ko-KR" altLang="en-US" dirty="0"/>
              <a:t>클릭</a:t>
            </a:r>
            <a:endParaRPr lang="en-US" altLang="ko-KR" dirty="0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E7E1E24E-0FA1-3273-D3B0-9923745DC9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4011258"/>
              </p:ext>
            </p:extLst>
          </p:nvPr>
        </p:nvGraphicFramePr>
        <p:xfrm>
          <a:off x="5680516" y="1572508"/>
          <a:ext cx="5003054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1527">
                  <a:extLst>
                    <a:ext uri="{9D8B030D-6E8A-4147-A177-3AD203B41FA5}">
                      <a16:colId xmlns:a16="http://schemas.microsoft.com/office/drawing/2014/main" val="3238967290"/>
                    </a:ext>
                  </a:extLst>
                </a:gridCol>
                <a:gridCol w="2501527">
                  <a:extLst>
                    <a:ext uri="{9D8B030D-6E8A-4147-A177-3AD203B41FA5}">
                      <a16:colId xmlns:a16="http://schemas.microsoft.com/office/drawing/2014/main" val="4837278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옵션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값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06532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GPIO Width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33166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All Inputs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☑ 체크 해제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7357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All Outputs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☑ 체크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6564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Enable Dual Channel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☑ 체크 해제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0000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Enable Interrupt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☑ 체크 해제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492637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C7875D89-982F-8772-4947-7274A61F018B}"/>
              </a:ext>
            </a:extLst>
          </p:cNvPr>
          <p:cNvSpPr txBox="1"/>
          <p:nvPr/>
        </p:nvSpPr>
        <p:spPr>
          <a:xfrm>
            <a:off x="1158807" y="4172972"/>
            <a:ext cx="882563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00B050"/>
                </a:solidFill>
              </a:rPr>
              <a:t>Step 4: GPIO </a:t>
            </a:r>
            <a:r>
              <a:rPr lang="ko-KR" altLang="en-US" b="1" dirty="0">
                <a:solidFill>
                  <a:srgbClr val="00B050"/>
                </a:solidFill>
              </a:rPr>
              <a:t>포트를 외부로 노출 </a:t>
            </a:r>
            <a:r>
              <a:rPr lang="en-US" altLang="ko-KR" b="1" dirty="0">
                <a:solidFill>
                  <a:srgbClr val="00B050"/>
                </a:solidFill>
              </a:rPr>
              <a:t>(Make External)</a:t>
            </a:r>
          </a:p>
          <a:p>
            <a:pPr lvl="1"/>
            <a:r>
              <a:rPr lang="en-US" altLang="ko-KR" dirty="0"/>
              <a:t>4.1 Make External </a:t>
            </a:r>
            <a:r>
              <a:rPr lang="ko-KR" altLang="en-US" dirty="0"/>
              <a:t>실행</a:t>
            </a:r>
            <a:endParaRPr lang="en-US" altLang="ko-KR" dirty="0"/>
          </a:p>
          <a:p>
            <a:pPr marL="1257300" lvl="2" indent="-342900">
              <a:buAutoNum type="arabicPeriod"/>
            </a:pPr>
            <a:r>
              <a:rPr lang="en-US" altLang="ko-KR" dirty="0"/>
              <a:t>AXI GPIO </a:t>
            </a:r>
            <a:r>
              <a:rPr lang="ko-KR" altLang="en-US" dirty="0"/>
              <a:t>블록의 </a:t>
            </a:r>
            <a:r>
              <a:rPr lang="en-US" altLang="ko-KR" dirty="0"/>
              <a:t>GPIO </a:t>
            </a:r>
            <a:r>
              <a:rPr lang="ko-KR" altLang="en-US" dirty="0"/>
              <a:t>포트 클릭</a:t>
            </a:r>
            <a:endParaRPr lang="en-US" altLang="ko-KR" dirty="0"/>
          </a:p>
          <a:p>
            <a:pPr marL="1257300" lvl="2" indent="-342900">
              <a:buAutoNum type="arabicPeriod"/>
            </a:pPr>
            <a:r>
              <a:rPr lang="ko-KR" altLang="en-US" dirty="0" err="1"/>
              <a:t>우클릭</a:t>
            </a:r>
            <a:r>
              <a:rPr lang="ko-KR" altLang="en-US" dirty="0"/>
              <a:t> → </a:t>
            </a:r>
            <a:r>
              <a:rPr lang="en-US" altLang="ko-KR" dirty="0"/>
              <a:t>Make External </a:t>
            </a:r>
            <a:r>
              <a:rPr lang="ko-KR" altLang="en-US" dirty="0"/>
              <a:t>선택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4.2 </a:t>
            </a:r>
            <a:r>
              <a:rPr lang="ko-KR" altLang="en-US" dirty="0"/>
              <a:t>포트 이름 변경</a:t>
            </a:r>
            <a:endParaRPr lang="en-US" altLang="ko-KR" dirty="0"/>
          </a:p>
          <a:p>
            <a:pPr marL="1257300" lvl="2" indent="-342900">
              <a:buAutoNum type="arabicPeriod"/>
            </a:pPr>
            <a:r>
              <a:rPr lang="ko-KR" altLang="en-US" dirty="0"/>
              <a:t>생성된 포트</a:t>
            </a:r>
            <a:r>
              <a:rPr lang="en-US" altLang="ko-KR" dirty="0"/>
              <a:t>(</a:t>
            </a:r>
            <a:r>
              <a:rPr lang="ko-KR" altLang="en-US" dirty="0"/>
              <a:t>기본 이름</a:t>
            </a:r>
            <a:r>
              <a:rPr lang="en-US" altLang="ko-KR" dirty="0"/>
              <a:t>: GPIO_0) </a:t>
            </a:r>
            <a:r>
              <a:rPr lang="ko-KR" altLang="en-US" dirty="0"/>
              <a:t>클릭</a:t>
            </a:r>
            <a:endParaRPr lang="en-US" altLang="ko-KR" dirty="0"/>
          </a:p>
          <a:p>
            <a:pPr marL="1257300" lvl="2" indent="-342900">
              <a:buAutoNum type="arabicPeriod"/>
            </a:pPr>
            <a:r>
              <a:rPr lang="ko-KR" altLang="en-US" dirty="0" err="1"/>
              <a:t>우클릭</a:t>
            </a:r>
            <a:r>
              <a:rPr lang="ko-KR" altLang="en-US" dirty="0"/>
              <a:t> → </a:t>
            </a:r>
            <a:r>
              <a:rPr lang="en-US" altLang="ko-KR" dirty="0"/>
              <a:t>Rename Port (</a:t>
            </a:r>
            <a:r>
              <a:rPr lang="ko-KR" altLang="en-US" dirty="0"/>
              <a:t>또는</a:t>
            </a:r>
            <a:r>
              <a:rPr lang="en-US" altLang="ko-KR" dirty="0"/>
              <a:t>, external interface Properties</a:t>
            </a:r>
            <a:r>
              <a:rPr lang="ko-KR" altLang="en-US" dirty="0"/>
              <a:t>에서 변경가능</a:t>
            </a:r>
            <a:r>
              <a:rPr lang="en-US" altLang="ko-KR" dirty="0"/>
              <a:t>)</a:t>
            </a:r>
          </a:p>
          <a:p>
            <a:pPr marL="1257300" lvl="2" indent="-342900">
              <a:buAutoNum type="arabicPeriod"/>
            </a:pPr>
            <a:r>
              <a:rPr lang="ko-KR" altLang="en-US" dirty="0"/>
              <a:t>이름</a:t>
            </a:r>
            <a:r>
              <a:rPr lang="en-US" altLang="ko-KR" dirty="0"/>
              <a:t>: </a:t>
            </a:r>
            <a:r>
              <a:rPr lang="en-US" altLang="ko-KR" dirty="0" err="1"/>
              <a:t>led_gpio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3F9F47-ED7B-EDDF-C1F3-BE3521D681D8}"/>
              </a:ext>
            </a:extLst>
          </p:cNvPr>
          <p:cNvSpPr txBox="1"/>
          <p:nvPr/>
        </p:nvSpPr>
        <p:spPr>
          <a:xfrm>
            <a:off x="11758425" y="6492240"/>
            <a:ext cx="25039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000" b="0" dirty="0">
                <a:solidFill>
                  <a:srgbClr val="666666"/>
                </a:solidFill>
                <a:latin typeface="Calibri"/>
              </a:rPr>
              <a:t>6</a:t>
            </a:r>
            <a:endParaRPr sz="1000" b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58A277-78D6-713B-F5E3-713FFCC748B2}"/>
              </a:ext>
            </a:extLst>
          </p:cNvPr>
          <p:cNvSpPr/>
          <p:nvPr/>
        </p:nvSpPr>
        <p:spPr>
          <a:xfrm>
            <a:off x="457200" y="6446520"/>
            <a:ext cx="1127729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2D9AC3-BEAD-AE64-C3D3-399E7EEAD1F9}"/>
              </a:ext>
            </a:extLst>
          </p:cNvPr>
          <p:cNvSpPr txBox="1"/>
          <p:nvPr/>
        </p:nvSpPr>
        <p:spPr>
          <a:xfrm>
            <a:off x="457200" y="6492240"/>
            <a:ext cx="326403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dirty="0">
                <a:solidFill>
                  <a:srgbClr val="666666"/>
                </a:solidFill>
                <a:latin typeface="Calibri"/>
              </a:rPr>
              <a:t>Step 0</a:t>
            </a:r>
            <a:r>
              <a:rPr lang="en-US" sz="1000" b="0" dirty="0">
                <a:solidFill>
                  <a:srgbClr val="666666"/>
                </a:solidFill>
                <a:latin typeface="Calibri"/>
              </a:rPr>
              <a:t>3</a:t>
            </a:r>
            <a:r>
              <a:rPr sz="1000" b="0" dirty="0">
                <a:solidFill>
                  <a:srgbClr val="666666"/>
                </a:solidFill>
                <a:latin typeface="Calibri"/>
              </a:rPr>
              <a:t>: </a:t>
            </a:r>
            <a:r>
              <a:rPr lang="en-US" altLang="ko-KR" sz="1000" b="0" dirty="0">
                <a:solidFill>
                  <a:srgbClr val="666666"/>
                </a:solidFill>
                <a:latin typeface="Calibri"/>
              </a:rPr>
              <a:t>AXI GPIO Integration</a:t>
            </a:r>
            <a:r>
              <a:rPr sz="1000" b="0" dirty="0">
                <a:solidFill>
                  <a:srgbClr val="666666"/>
                </a:solidFill>
                <a:latin typeface="Calibri"/>
              </a:rPr>
              <a:t> —</a:t>
            </a:r>
            <a:r>
              <a:rPr lang="en-US" sz="1000" b="0" dirty="0">
                <a:solidFill>
                  <a:srgbClr val="666666"/>
                </a:solidFill>
                <a:latin typeface="Calibri"/>
              </a:rPr>
              <a:t> </a:t>
            </a:r>
            <a:r>
              <a:rPr lang="en-US" sz="1000" dirty="0">
                <a:solidFill>
                  <a:srgbClr val="666666"/>
                </a:solidFill>
                <a:latin typeface="Calibri"/>
              </a:rPr>
              <a:t>PS/PL </a:t>
            </a:r>
            <a:r>
              <a:rPr lang="ko-KR" altLang="en-US" sz="1000" dirty="0">
                <a:solidFill>
                  <a:srgbClr val="666666"/>
                </a:solidFill>
                <a:latin typeface="Calibri"/>
              </a:rPr>
              <a:t>통신 구현 </a:t>
            </a:r>
            <a:r>
              <a:rPr lang="en-US" altLang="ko-KR" sz="1000" dirty="0">
                <a:solidFill>
                  <a:srgbClr val="666666"/>
                </a:solidFill>
                <a:latin typeface="Calibri"/>
              </a:rPr>
              <a:t>LED </a:t>
            </a:r>
            <a:r>
              <a:rPr lang="ko-KR" altLang="en-US" sz="1000" dirty="0">
                <a:solidFill>
                  <a:srgbClr val="666666"/>
                </a:solidFill>
                <a:latin typeface="Calibri"/>
              </a:rPr>
              <a:t>제어</a:t>
            </a:r>
            <a:endParaRPr sz="1000" b="0" dirty="0">
              <a:solidFill>
                <a:srgbClr val="666666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50344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E62BD094-7717-FBB5-E252-3ED9503BE12C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272B6AF-DCAB-498A-27EF-C5795CC52F3D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EC1F8B-8F47-2717-F536-06F5618440F1}"/>
              </a:ext>
            </a:extLst>
          </p:cNvPr>
          <p:cNvSpPr txBox="1"/>
          <p:nvPr/>
        </p:nvSpPr>
        <p:spPr>
          <a:xfrm>
            <a:off x="457200" y="309890"/>
            <a:ext cx="1127729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2800" b="1" dirty="0" err="1">
                <a:solidFill>
                  <a:srgbClr val="FFFFFF"/>
                </a:solidFill>
                <a:latin typeface="Calibri"/>
              </a:rPr>
              <a:t>Vivado</a:t>
            </a:r>
            <a:r>
              <a:rPr lang="en-US" sz="2800" b="1" dirty="0">
                <a:solidFill>
                  <a:srgbClr val="FFFFFF"/>
                </a:solidFill>
                <a:latin typeface="Calibri"/>
              </a:rPr>
              <a:t> GUI</a:t>
            </a:r>
            <a:endParaRPr sz="28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D40896-E1DF-7B7C-32CC-458A5F8A394B}"/>
              </a:ext>
            </a:extLst>
          </p:cNvPr>
          <p:cNvSpPr txBox="1"/>
          <p:nvPr/>
        </p:nvSpPr>
        <p:spPr>
          <a:xfrm>
            <a:off x="512050" y="1310650"/>
            <a:ext cx="703174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 err="1">
                <a:solidFill>
                  <a:srgbClr val="00B050"/>
                </a:solidFill>
              </a:rPr>
              <a:t>Step</a:t>
            </a:r>
            <a:r>
              <a:rPr lang="ko-KR" altLang="en-US" b="1" dirty="0">
                <a:solidFill>
                  <a:srgbClr val="00B050"/>
                </a:solidFill>
              </a:rPr>
              <a:t> 5: </a:t>
            </a:r>
            <a:r>
              <a:rPr lang="ko-KR" altLang="en-US" b="1" dirty="0" err="1">
                <a:solidFill>
                  <a:srgbClr val="00B050"/>
                </a:solidFill>
              </a:rPr>
              <a:t>Run</a:t>
            </a:r>
            <a:r>
              <a:rPr lang="ko-KR" altLang="en-US" b="1" dirty="0">
                <a:solidFill>
                  <a:srgbClr val="00B050"/>
                </a:solidFill>
              </a:rPr>
              <a:t> </a:t>
            </a:r>
            <a:r>
              <a:rPr lang="ko-KR" altLang="en-US" b="1" dirty="0" err="1">
                <a:solidFill>
                  <a:srgbClr val="00B050"/>
                </a:solidFill>
              </a:rPr>
              <a:t>Connection</a:t>
            </a:r>
            <a:r>
              <a:rPr lang="ko-KR" altLang="en-US" b="1" dirty="0">
                <a:solidFill>
                  <a:srgbClr val="00B050"/>
                </a:solidFill>
              </a:rPr>
              <a:t> Automation</a:t>
            </a:r>
            <a:endParaRPr lang="en-US" altLang="ko-KR" b="1" dirty="0">
              <a:solidFill>
                <a:srgbClr val="00B050"/>
              </a:solidFill>
            </a:endParaRPr>
          </a:p>
          <a:p>
            <a:pPr lvl="1"/>
            <a:r>
              <a:rPr lang="ko-KR" altLang="en-US" dirty="0"/>
              <a:t>5.1 연결 자동화 실행</a:t>
            </a:r>
            <a:endParaRPr lang="en-US" altLang="ko-KR" dirty="0"/>
          </a:p>
          <a:p>
            <a:pPr marL="1257300" lvl="2" indent="-342900">
              <a:buAutoNum type="arabicPeriod"/>
            </a:pPr>
            <a:r>
              <a:rPr lang="ko-KR" altLang="en-US" dirty="0"/>
              <a:t>상단 </a:t>
            </a:r>
            <a:r>
              <a:rPr lang="ko-KR" altLang="en-US" dirty="0" err="1"/>
              <a:t>Run</a:t>
            </a:r>
            <a:r>
              <a:rPr lang="ko-KR" altLang="en-US" dirty="0"/>
              <a:t> </a:t>
            </a:r>
            <a:r>
              <a:rPr lang="ko-KR" altLang="en-US" dirty="0" err="1"/>
              <a:t>Connection</a:t>
            </a:r>
            <a:r>
              <a:rPr lang="ko-KR" altLang="en-US" dirty="0"/>
              <a:t> Automation 버튼 클릭</a:t>
            </a:r>
            <a:endParaRPr lang="en-US" altLang="ko-KR" dirty="0"/>
          </a:p>
          <a:p>
            <a:pPr marL="1257300" lvl="2" indent="-342900">
              <a:buAutoNum type="arabicPeriod"/>
            </a:pPr>
            <a:r>
              <a:rPr lang="ko-KR" altLang="en-US" dirty="0"/>
              <a:t>다음 항목들 선택:      </a:t>
            </a:r>
            <a:endParaRPr lang="en-US" altLang="ko-KR" dirty="0"/>
          </a:p>
          <a:p>
            <a:pPr lvl="3"/>
            <a:r>
              <a:rPr lang="ko-KR" altLang="en-US" dirty="0"/>
              <a:t>☑ /axi_gpio_0/S_AXI   </a:t>
            </a:r>
            <a:endParaRPr lang="en-US" altLang="ko-KR" dirty="0"/>
          </a:p>
          <a:p>
            <a:pPr lvl="3"/>
            <a:r>
              <a:rPr lang="ko-KR" altLang="en-US" dirty="0"/>
              <a:t>☑ /axi_gpio_0/</a:t>
            </a:r>
            <a:r>
              <a:rPr lang="ko-KR" altLang="en-US" dirty="0" err="1"/>
              <a:t>s_axi_aclk</a:t>
            </a:r>
            <a:r>
              <a:rPr lang="ko-KR" altLang="en-US" dirty="0"/>
              <a:t>   </a:t>
            </a:r>
            <a:endParaRPr lang="en-US" altLang="ko-KR" dirty="0"/>
          </a:p>
          <a:p>
            <a:pPr lvl="3"/>
            <a:r>
              <a:rPr lang="ko-KR" altLang="en-US" dirty="0"/>
              <a:t>☑ /axi_gpio_0/</a:t>
            </a:r>
            <a:r>
              <a:rPr lang="ko-KR" altLang="en-US" dirty="0" err="1"/>
              <a:t>s_axi_aresetn</a:t>
            </a:r>
            <a:r>
              <a:rPr lang="ko-KR" altLang="en-US" dirty="0"/>
              <a:t>   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5.2 연결 확인</a:t>
            </a:r>
            <a:endParaRPr lang="en-US" altLang="ko-KR" dirty="0"/>
          </a:p>
          <a:p>
            <a:pPr marL="1200150" lvl="2" indent="-285750">
              <a:buFontTx/>
              <a:buChar char="-"/>
            </a:pPr>
            <a:r>
              <a:rPr lang="ko-KR" altLang="en-US" dirty="0"/>
              <a:t>AXI 버스가 </a:t>
            </a:r>
            <a:r>
              <a:rPr lang="ko-KR" altLang="en-US" dirty="0" err="1"/>
              <a:t>PS의</a:t>
            </a:r>
            <a:r>
              <a:rPr lang="ko-KR" altLang="en-US" dirty="0"/>
              <a:t> M_AXI_HPM0_FPD 또는 </a:t>
            </a:r>
            <a:r>
              <a:rPr lang="ko-KR" altLang="en-US" dirty="0" err="1"/>
              <a:t>LPD에</a:t>
            </a:r>
            <a:r>
              <a:rPr lang="ko-KR" altLang="en-US" dirty="0"/>
              <a:t> 연결됨</a:t>
            </a:r>
            <a:endParaRPr lang="en-US" altLang="ko-KR" dirty="0"/>
          </a:p>
          <a:p>
            <a:pPr marL="1200150" lvl="2" indent="-285750">
              <a:buFontTx/>
              <a:buChar char="-"/>
            </a:pPr>
            <a:r>
              <a:rPr lang="ko-KR" altLang="en-US" dirty="0"/>
              <a:t>클럭과 리셋이 pl_clk0, pl_resetn0에 연결됨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91109B-F007-AA66-13EE-EDC36989F542}"/>
              </a:ext>
            </a:extLst>
          </p:cNvPr>
          <p:cNvSpPr txBox="1"/>
          <p:nvPr/>
        </p:nvSpPr>
        <p:spPr>
          <a:xfrm>
            <a:off x="11758425" y="6492240"/>
            <a:ext cx="25039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000" b="0" dirty="0">
                <a:solidFill>
                  <a:srgbClr val="666666"/>
                </a:solidFill>
                <a:latin typeface="Calibri"/>
              </a:rPr>
              <a:t>7</a:t>
            </a:r>
            <a:endParaRPr sz="1000" b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C574483E-DA66-960B-BD70-955155529CC1}"/>
              </a:ext>
            </a:extLst>
          </p:cNvPr>
          <p:cNvSpPr/>
          <p:nvPr/>
        </p:nvSpPr>
        <p:spPr>
          <a:xfrm>
            <a:off x="457200" y="6446520"/>
            <a:ext cx="1127729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8CE9BE-6417-6898-F84B-C86A7E6AF3F0}"/>
              </a:ext>
            </a:extLst>
          </p:cNvPr>
          <p:cNvSpPr txBox="1"/>
          <p:nvPr/>
        </p:nvSpPr>
        <p:spPr>
          <a:xfrm>
            <a:off x="457200" y="6492240"/>
            <a:ext cx="326403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dirty="0">
                <a:solidFill>
                  <a:srgbClr val="666666"/>
                </a:solidFill>
                <a:latin typeface="Calibri"/>
              </a:rPr>
              <a:t>Step 0</a:t>
            </a:r>
            <a:r>
              <a:rPr lang="en-US" sz="1000" b="0" dirty="0">
                <a:solidFill>
                  <a:srgbClr val="666666"/>
                </a:solidFill>
                <a:latin typeface="Calibri"/>
              </a:rPr>
              <a:t>3</a:t>
            </a:r>
            <a:r>
              <a:rPr sz="1000" b="0" dirty="0">
                <a:solidFill>
                  <a:srgbClr val="666666"/>
                </a:solidFill>
                <a:latin typeface="Calibri"/>
              </a:rPr>
              <a:t>: </a:t>
            </a:r>
            <a:r>
              <a:rPr lang="en-US" altLang="ko-KR" sz="1000" b="0" dirty="0">
                <a:solidFill>
                  <a:srgbClr val="666666"/>
                </a:solidFill>
                <a:latin typeface="Calibri"/>
              </a:rPr>
              <a:t>AXI GPIO Integration</a:t>
            </a:r>
            <a:r>
              <a:rPr sz="1000" b="0" dirty="0">
                <a:solidFill>
                  <a:srgbClr val="666666"/>
                </a:solidFill>
                <a:latin typeface="Calibri"/>
              </a:rPr>
              <a:t> —</a:t>
            </a:r>
            <a:r>
              <a:rPr lang="en-US" sz="1000" b="0" dirty="0">
                <a:solidFill>
                  <a:srgbClr val="666666"/>
                </a:solidFill>
                <a:latin typeface="Calibri"/>
              </a:rPr>
              <a:t> </a:t>
            </a:r>
            <a:r>
              <a:rPr lang="en-US" sz="1000" dirty="0">
                <a:solidFill>
                  <a:srgbClr val="666666"/>
                </a:solidFill>
                <a:latin typeface="Calibri"/>
              </a:rPr>
              <a:t>PS/PL </a:t>
            </a:r>
            <a:r>
              <a:rPr lang="ko-KR" altLang="en-US" sz="1000" dirty="0">
                <a:solidFill>
                  <a:srgbClr val="666666"/>
                </a:solidFill>
                <a:latin typeface="Calibri"/>
              </a:rPr>
              <a:t>통신 구현 </a:t>
            </a:r>
            <a:r>
              <a:rPr lang="en-US" altLang="ko-KR" sz="1000" dirty="0">
                <a:solidFill>
                  <a:srgbClr val="666666"/>
                </a:solidFill>
                <a:latin typeface="Calibri"/>
              </a:rPr>
              <a:t>LED </a:t>
            </a:r>
            <a:r>
              <a:rPr lang="ko-KR" altLang="en-US" sz="1000" dirty="0">
                <a:solidFill>
                  <a:srgbClr val="666666"/>
                </a:solidFill>
                <a:latin typeface="Calibri"/>
              </a:rPr>
              <a:t>제어</a:t>
            </a:r>
            <a:endParaRPr sz="1000" b="0" dirty="0">
              <a:solidFill>
                <a:srgbClr val="666666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961553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F73E34E-A1FE-CD44-EA8F-3978840363FD}"/>
              </a:ext>
            </a:extLst>
          </p:cNvPr>
          <p:cNvSpPr txBox="1"/>
          <p:nvPr/>
        </p:nvSpPr>
        <p:spPr>
          <a:xfrm>
            <a:off x="950259" y="1407170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00B050"/>
                </a:solidFill>
              </a:rPr>
              <a:t>Step 6: Validate Design</a:t>
            </a:r>
          </a:p>
          <a:p>
            <a:pPr lvl="1"/>
            <a:r>
              <a:rPr lang="en-US" altLang="ko-KR" dirty="0"/>
              <a:t>6.1 </a:t>
            </a:r>
            <a:r>
              <a:rPr lang="ko-KR" altLang="en-US" dirty="0"/>
              <a:t>검증 실행</a:t>
            </a:r>
            <a:endParaRPr lang="en-US" altLang="ko-KR" dirty="0"/>
          </a:p>
          <a:p>
            <a:pPr marL="1257300" lvl="2" indent="-342900">
              <a:buAutoNum type="arabicPeriod"/>
            </a:pPr>
            <a:r>
              <a:rPr lang="en-US" altLang="ko-KR" dirty="0"/>
              <a:t>Validate Design </a:t>
            </a:r>
            <a:r>
              <a:rPr lang="ko-KR" altLang="en-US" dirty="0"/>
              <a:t>버튼 클릭 </a:t>
            </a:r>
            <a:r>
              <a:rPr lang="en-US" altLang="ko-KR" dirty="0"/>
              <a:t>(</a:t>
            </a:r>
            <a:r>
              <a:rPr lang="ko-KR" altLang="en-US" dirty="0"/>
              <a:t>또는 </a:t>
            </a:r>
            <a:r>
              <a:rPr lang="en-US" altLang="ko-KR" dirty="0"/>
              <a:t>F6 </a:t>
            </a:r>
            <a:r>
              <a:rPr lang="ko-KR" altLang="en-US" dirty="0"/>
              <a:t>키</a:t>
            </a:r>
            <a:r>
              <a:rPr lang="en-US" altLang="ko-KR" dirty="0"/>
              <a:t>)</a:t>
            </a:r>
          </a:p>
          <a:p>
            <a:pPr marL="1257300" lvl="2" indent="-342900">
              <a:buAutoNum type="arabicPeriod"/>
            </a:pPr>
            <a:r>
              <a:rPr lang="ko-KR" altLang="en-US" dirty="0"/>
              <a:t>성공 메시지 확인</a:t>
            </a:r>
            <a:endParaRPr lang="en-US" altLang="ko-KR" dirty="0"/>
          </a:p>
          <a:p>
            <a:pPr marL="1257300" lvl="2" indent="-342900">
              <a:buAutoNum type="arabicPeriod"/>
            </a:pPr>
            <a:r>
              <a:rPr lang="en-US" altLang="ko-KR" dirty="0"/>
              <a:t>OK</a:t>
            </a:r>
          </a:p>
          <a:p>
            <a:endParaRPr lang="en-US" altLang="ko-KR" dirty="0"/>
          </a:p>
          <a:p>
            <a:r>
              <a:rPr lang="en-US" altLang="ko-KR" b="1" dirty="0">
                <a:solidFill>
                  <a:srgbClr val="00B050"/>
                </a:solidFill>
              </a:rPr>
              <a:t>Step 7: HDL Wrapper </a:t>
            </a:r>
            <a:r>
              <a:rPr lang="ko-KR" altLang="en-US" b="1" dirty="0">
                <a:solidFill>
                  <a:srgbClr val="00B050"/>
                </a:solidFill>
              </a:rPr>
              <a:t>생성</a:t>
            </a:r>
            <a:endParaRPr lang="en-US" altLang="ko-KR" b="1" dirty="0">
              <a:solidFill>
                <a:srgbClr val="00B050"/>
              </a:solidFill>
            </a:endParaRPr>
          </a:p>
          <a:p>
            <a:pPr lvl="1"/>
            <a:r>
              <a:rPr lang="en-US" altLang="ko-KR" dirty="0"/>
              <a:t>7.1 Wrapper </a:t>
            </a:r>
            <a:r>
              <a:rPr lang="ko-KR" altLang="en-US" dirty="0"/>
              <a:t>생성</a:t>
            </a:r>
            <a:endParaRPr lang="en-US" altLang="ko-KR" dirty="0"/>
          </a:p>
          <a:p>
            <a:pPr marL="1257300" lvl="2" indent="-342900">
              <a:buAutoNum type="arabicPeriod"/>
            </a:pPr>
            <a:r>
              <a:rPr lang="en-US" altLang="ko-KR" dirty="0"/>
              <a:t>Sources </a:t>
            </a:r>
            <a:r>
              <a:rPr lang="ko-KR" altLang="en-US" dirty="0"/>
              <a:t>창 → </a:t>
            </a:r>
            <a:r>
              <a:rPr lang="en-US" altLang="ko-KR" dirty="0"/>
              <a:t>Design Sources</a:t>
            </a:r>
          </a:p>
          <a:p>
            <a:pPr marL="1257300" lvl="2" indent="-342900">
              <a:buAutoNum type="arabicPeriod"/>
            </a:pPr>
            <a:r>
              <a:rPr lang="en-US" altLang="ko-KR" dirty="0"/>
              <a:t>design_1.bd </a:t>
            </a:r>
            <a:r>
              <a:rPr lang="ko-KR" altLang="en-US" dirty="0" err="1"/>
              <a:t>우클릭</a:t>
            </a:r>
            <a:endParaRPr lang="en-US" altLang="ko-KR" dirty="0"/>
          </a:p>
          <a:p>
            <a:pPr marL="1257300" lvl="2" indent="-342900">
              <a:buAutoNum type="arabicPeriod"/>
            </a:pPr>
            <a:r>
              <a:rPr lang="en-US" altLang="ko-KR" dirty="0"/>
              <a:t>Create HDL Wrapper </a:t>
            </a:r>
            <a:r>
              <a:rPr lang="ko-KR" altLang="en-US" dirty="0"/>
              <a:t>클릭</a:t>
            </a:r>
            <a:endParaRPr lang="en-US" altLang="ko-KR" dirty="0"/>
          </a:p>
          <a:p>
            <a:pPr marL="1257300" lvl="2" indent="-342900">
              <a:buAutoNum type="arabicPeriod"/>
            </a:pPr>
            <a:r>
              <a:rPr lang="en-US" altLang="ko-KR" dirty="0" err="1"/>
              <a:t>Vivado</a:t>
            </a:r>
            <a:r>
              <a:rPr lang="en-US" altLang="ko-KR" dirty="0"/>
              <a:t> Managed </a:t>
            </a:r>
            <a:r>
              <a:rPr lang="ko-KR" altLang="en-US" dirty="0"/>
              <a:t>선택 → </a:t>
            </a:r>
            <a:r>
              <a:rPr lang="en-US" altLang="ko-KR" dirty="0"/>
              <a:t>OK</a:t>
            </a:r>
            <a:endParaRPr lang="ko-KR" alt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F4EDA16-000F-71D0-AADA-2D3872C091E5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F51537B-4AFD-1286-F8B3-9C60412C0F97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FD1A56-FC62-04D0-D369-59D518429AF3}"/>
              </a:ext>
            </a:extLst>
          </p:cNvPr>
          <p:cNvSpPr txBox="1"/>
          <p:nvPr/>
        </p:nvSpPr>
        <p:spPr>
          <a:xfrm>
            <a:off x="457200" y="309890"/>
            <a:ext cx="1127729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2800" b="1" dirty="0" err="1">
                <a:solidFill>
                  <a:srgbClr val="FFFFFF"/>
                </a:solidFill>
                <a:latin typeface="Calibri"/>
              </a:rPr>
              <a:t>Vivado</a:t>
            </a:r>
            <a:r>
              <a:rPr lang="en-US" sz="2800" b="1" dirty="0">
                <a:solidFill>
                  <a:srgbClr val="FFFFFF"/>
                </a:solidFill>
                <a:latin typeface="Calibri"/>
              </a:rPr>
              <a:t> GUI</a:t>
            </a:r>
            <a:endParaRPr sz="28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D2C3B4-D192-72C2-A6A9-5D46FE207958}"/>
              </a:ext>
            </a:extLst>
          </p:cNvPr>
          <p:cNvSpPr txBox="1"/>
          <p:nvPr/>
        </p:nvSpPr>
        <p:spPr>
          <a:xfrm>
            <a:off x="11758425" y="6492240"/>
            <a:ext cx="25039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000" b="0" dirty="0">
                <a:solidFill>
                  <a:srgbClr val="666666"/>
                </a:solidFill>
                <a:latin typeface="Calibri"/>
              </a:rPr>
              <a:t>8</a:t>
            </a:r>
            <a:endParaRPr sz="1000" b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595FCC03-A35A-49EE-7EDE-E229B2C11295}"/>
              </a:ext>
            </a:extLst>
          </p:cNvPr>
          <p:cNvSpPr/>
          <p:nvPr/>
        </p:nvSpPr>
        <p:spPr>
          <a:xfrm>
            <a:off x="457200" y="6446520"/>
            <a:ext cx="1127729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328853-20DE-B7E6-A560-A72C9BA970AC}"/>
              </a:ext>
            </a:extLst>
          </p:cNvPr>
          <p:cNvSpPr txBox="1"/>
          <p:nvPr/>
        </p:nvSpPr>
        <p:spPr>
          <a:xfrm>
            <a:off x="457200" y="6492240"/>
            <a:ext cx="326403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dirty="0">
                <a:solidFill>
                  <a:srgbClr val="666666"/>
                </a:solidFill>
                <a:latin typeface="Calibri"/>
              </a:rPr>
              <a:t>Step 0</a:t>
            </a:r>
            <a:r>
              <a:rPr lang="en-US" sz="1000" b="0" dirty="0">
                <a:solidFill>
                  <a:srgbClr val="666666"/>
                </a:solidFill>
                <a:latin typeface="Calibri"/>
              </a:rPr>
              <a:t>3</a:t>
            </a:r>
            <a:r>
              <a:rPr sz="1000" b="0" dirty="0">
                <a:solidFill>
                  <a:srgbClr val="666666"/>
                </a:solidFill>
                <a:latin typeface="Calibri"/>
              </a:rPr>
              <a:t>: </a:t>
            </a:r>
            <a:r>
              <a:rPr lang="en-US" altLang="ko-KR" sz="1000" b="0" dirty="0">
                <a:solidFill>
                  <a:srgbClr val="666666"/>
                </a:solidFill>
                <a:latin typeface="Calibri"/>
              </a:rPr>
              <a:t>AXI GPIO Integration</a:t>
            </a:r>
            <a:r>
              <a:rPr sz="1000" b="0" dirty="0">
                <a:solidFill>
                  <a:srgbClr val="666666"/>
                </a:solidFill>
                <a:latin typeface="Calibri"/>
              </a:rPr>
              <a:t> —</a:t>
            </a:r>
            <a:r>
              <a:rPr lang="en-US" sz="1000" b="0" dirty="0">
                <a:solidFill>
                  <a:srgbClr val="666666"/>
                </a:solidFill>
                <a:latin typeface="Calibri"/>
              </a:rPr>
              <a:t> </a:t>
            </a:r>
            <a:r>
              <a:rPr lang="en-US" sz="1000" dirty="0">
                <a:solidFill>
                  <a:srgbClr val="666666"/>
                </a:solidFill>
                <a:latin typeface="Calibri"/>
              </a:rPr>
              <a:t>PS/PL </a:t>
            </a:r>
            <a:r>
              <a:rPr lang="ko-KR" altLang="en-US" sz="1000" dirty="0">
                <a:solidFill>
                  <a:srgbClr val="666666"/>
                </a:solidFill>
                <a:latin typeface="Calibri"/>
              </a:rPr>
              <a:t>통신 구현 </a:t>
            </a:r>
            <a:r>
              <a:rPr lang="en-US" altLang="ko-KR" sz="1000" dirty="0">
                <a:solidFill>
                  <a:srgbClr val="666666"/>
                </a:solidFill>
                <a:latin typeface="Calibri"/>
              </a:rPr>
              <a:t>LED </a:t>
            </a:r>
            <a:r>
              <a:rPr lang="ko-KR" altLang="en-US" sz="1000" dirty="0">
                <a:solidFill>
                  <a:srgbClr val="666666"/>
                </a:solidFill>
                <a:latin typeface="Calibri"/>
              </a:rPr>
              <a:t>제어</a:t>
            </a:r>
            <a:endParaRPr sz="1000" b="0" dirty="0">
              <a:solidFill>
                <a:srgbClr val="666666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27733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70F6F2A3-0A9C-B813-E87F-DC1888190F7E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3294544-E331-D964-2715-36EB2C5D8164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54A208-7C0A-98C5-C665-BB56681AD4DF}"/>
              </a:ext>
            </a:extLst>
          </p:cNvPr>
          <p:cNvSpPr txBox="1"/>
          <p:nvPr/>
        </p:nvSpPr>
        <p:spPr>
          <a:xfrm>
            <a:off x="457200" y="309890"/>
            <a:ext cx="1127729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2800" b="1" dirty="0" err="1">
                <a:solidFill>
                  <a:srgbClr val="FFFFFF"/>
                </a:solidFill>
                <a:latin typeface="Calibri"/>
              </a:rPr>
              <a:t>Vivado</a:t>
            </a:r>
            <a:r>
              <a:rPr lang="en-US" sz="2800" b="1" dirty="0">
                <a:solidFill>
                  <a:srgbClr val="FFFFFF"/>
                </a:solidFill>
                <a:latin typeface="Calibri"/>
              </a:rPr>
              <a:t> GUI</a:t>
            </a:r>
            <a:endParaRPr sz="28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478CBC-0826-BAF6-45DA-30DE48233847}"/>
              </a:ext>
            </a:extLst>
          </p:cNvPr>
          <p:cNvSpPr txBox="1"/>
          <p:nvPr/>
        </p:nvSpPr>
        <p:spPr>
          <a:xfrm>
            <a:off x="674714" y="1143000"/>
            <a:ext cx="8576864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00B050"/>
                </a:solidFill>
              </a:rPr>
              <a:t>Step 8: </a:t>
            </a:r>
            <a:r>
              <a:rPr lang="ko-KR" altLang="en-US" b="1" dirty="0">
                <a:solidFill>
                  <a:srgbClr val="00B050"/>
                </a:solidFill>
              </a:rPr>
              <a:t>핀 제약조건 파일 </a:t>
            </a:r>
            <a:r>
              <a:rPr lang="en-US" altLang="ko-KR" b="1" dirty="0">
                <a:solidFill>
                  <a:srgbClr val="00B050"/>
                </a:solidFill>
              </a:rPr>
              <a:t>(XDC) </a:t>
            </a:r>
            <a:r>
              <a:rPr lang="ko-KR" altLang="en-US" b="1" dirty="0">
                <a:solidFill>
                  <a:srgbClr val="00B050"/>
                </a:solidFill>
              </a:rPr>
              <a:t>생성</a:t>
            </a:r>
            <a:endParaRPr lang="en-US" altLang="ko-KR" b="1" dirty="0">
              <a:solidFill>
                <a:srgbClr val="00B050"/>
              </a:solidFill>
            </a:endParaRPr>
          </a:p>
          <a:p>
            <a:pPr lvl="1"/>
            <a:r>
              <a:rPr lang="en-US" altLang="ko-KR" sz="1600" dirty="0"/>
              <a:t>8.1 XDC </a:t>
            </a:r>
            <a:r>
              <a:rPr lang="ko-KR" altLang="en-US" sz="1600" dirty="0"/>
              <a:t>파일 생성</a:t>
            </a:r>
            <a:endParaRPr lang="en-US" altLang="ko-KR" sz="1600" dirty="0"/>
          </a:p>
          <a:p>
            <a:pPr marL="1257300" lvl="2" indent="-342900">
              <a:buAutoNum type="arabicPeriod"/>
            </a:pPr>
            <a:r>
              <a:rPr lang="en-US" altLang="ko-KR" sz="1600" dirty="0"/>
              <a:t>File → New File</a:t>
            </a:r>
          </a:p>
          <a:p>
            <a:pPr marL="1257300" lvl="2" indent="-342900">
              <a:buAutoNum type="arabicPeriod"/>
            </a:pPr>
            <a:r>
              <a:rPr lang="en-US" altLang="ko-KR" sz="1600" dirty="0"/>
              <a:t>Constraints File </a:t>
            </a:r>
            <a:r>
              <a:rPr lang="ko-KR" altLang="en-US" sz="1600" dirty="0"/>
              <a:t>선택</a:t>
            </a:r>
            <a:endParaRPr lang="en-US" altLang="ko-KR" sz="1600" dirty="0"/>
          </a:p>
          <a:p>
            <a:pPr marL="1257300" lvl="2" indent="-342900">
              <a:buAutoNum type="arabicPeriod"/>
            </a:pPr>
            <a:r>
              <a:rPr lang="ko-KR" altLang="en-US" sz="1600" dirty="0"/>
              <a:t>파일 이름</a:t>
            </a:r>
            <a:r>
              <a:rPr lang="en-US" altLang="ko-KR" sz="1600" dirty="0"/>
              <a:t>: kv260_led (</a:t>
            </a:r>
            <a:r>
              <a:rPr lang="ko-KR" altLang="en-US" sz="1600" dirty="0"/>
              <a:t>확장자 없이</a:t>
            </a:r>
            <a:r>
              <a:rPr lang="en-US" altLang="ko-KR" sz="1600" dirty="0"/>
              <a:t>)</a:t>
            </a:r>
          </a:p>
          <a:p>
            <a:pPr marL="1257300" lvl="2" indent="-342900">
              <a:buAutoNum type="arabicPeriod"/>
            </a:pPr>
            <a:r>
              <a:rPr lang="en-US" altLang="ko-KR" sz="1600" dirty="0"/>
              <a:t>XDC </a:t>
            </a:r>
            <a:r>
              <a:rPr lang="ko-KR" altLang="en-US" sz="1600" dirty="0"/>
              <a:t>선택 → </a:t>
            </a:r>
            <a:r>
              <a:rPr lang="en-US" altLang="ko-KR" sz="1600" dirty="0"/>
              <a:t>OK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sz="1600" dirty="0"/>
              <a:t>8.2 KV260 LED </a:t>
            </a:r>
            <a:r>
              <a:rPr lang="ko-KR" altLang="en-US" sz="1600" dirty="0"/>
              <a:t>핀 할당</a:t>
            </a:r>
            <a:r>
              <a:rPr lang="en-US" altLang="ko-KR" sz="1600" dirty="0"/>
              <a:t>,</a:t>
            </a:r>
            <a:r>
              <a:rPr lang="ko-KR" altLang="en-US" sz="1600" dirty="0"/>
              <a:t> 생성된 </a:t>
            </a:r>
            <a:r>
              <a:rPr lang="en-US" altLang="ko-KR" sz="1600" dirty="0"/>
              <a:t>XDC </a:t>
            </a:r>
            <a:r>
              <a:rPr lang="ko-KR" altLang="en-US" sz="1600" dirty="0"/>
              <a:t>파일에 다음 내용 추가</a:t>
            </a:r>
            <a:r>
              <a:rPr lang="en-US" altLang="ko-KR" sz="1600" dirty="0"/>
              <a:t>:</a:t>
            </a:r>
          </a:p>
          <a:p>
            <a:pPr lvl="2"/>
            <a:r>
              <a:rPr lang="en-US" altLang="ko-KR" sz="1400" dirty="0"/>
              <a:t># KV260 PL User LED - 4</a:t>
            </a:r>
            <a:r>
              <a:rPr lang="ko-KR" altLang="en-US" sz="1400" dirty="0"/>
              <a:t>개 </a:t>
            </a:r>
            <a:r>
              <a:rPr lang="en-US" altLang="ko-KR" sz="1400" dirty="0"/>
              <a:t>LED</a:t>
            </a:r>
          </a:p>
          <a:p>
            <a:pPr lvl="2"/>
            <a:r>
              <a:rPr lang="en-US" altLang="ko-KR" sz="1400" dirty="0"/>
              <a:t># LED 0</a:t>
            </a:r>
          </a:p>
          <a:p>
            <a:pPr lvl="2"/>
            <a:r>
              <a:rPr lang="en-US" altLang="ko-KR" sz="1400" dirty="0" err="1"/>
              <a:t>set_property</a:t>
            </a:r>
            <a:r>
              <a:rPr lang="en-US" altLang="ko-KR" sz="1400" dirty="0"/>
              <a:t> PACKAGE_PIN H12 [</a:t>
            </a:r>
            <a:r>
              <a:rPr lang="en-US" altLang="ko-KR" sz="1400" dirty="0" err="1"/>
              <a:t>get_ports</a:t>
            </a:r>
            <a:r>
              <a:rPr lang="en-US" altLang="ko-KR" sz="1400" dirty="0"/>
              <a:t> {</a:t>
            </a:r>
            <a:r>
              <a:rPr lang="en-US" altLang="ko-KR" sz="1400" dirty="0" err="1"/>
              <a:t>led_gpio_tri_o</a:t>
            </a:r>
            <a:r>
              <a:rPr lang="en-US" altLang="ko-KR" sz="1400" dirty="0"/>
              <a:t>[0]}]</a:t>
            </a:r>
          </a:p>
          <a:p>
            <a:pPr lvl="2"/>
            <a:r>
              <a:rPr lang="en-US" altLang="ko-KR" sz="1400" dirty="0" err="1"/>
              <a:t>set_property</a:t>
            </a:r>
            <a:r>
              <a:rPr lang="en-US" altLang="ko-KR" sz="1400" dirty="0"/>
              <a:t> IOSTANDARD LVCMOS33 [</a:t>
            </a:r>
            <a:r>
              <a:rPr lang="en-US" altLang="ko-KR" sz="1400" dirty="0" err="1"/>
              <a:t>get_ports</a:t>
            </a:r>
            <a:r>
              <a:rPr lang="en-US" altLang="ko-KR" sz="1400" dirty="0"/>
              <a:t> {</a:t>
            </a:r>
            <a:r>
              <a:rPr lang="en-US" altLang="ko-KR" sz="1400" dirty="0" err="1"/>
              <a:t>led_gpio_tri_o</a:t>
            </a:r>
            <a:r>
              <a:rPr lang="en-US" altLang="ko-KR" sz="1400" dirty="0"/>
              <a:t>[0]}]</a:t>
            </a:r>
          </a:p>
          <a:p>
            <a:pPr lvl="2"/>
            <a:endParaRPr lang="en-US" altLang="ko-KR" sz="1400" dirty="0"/>
          </a:p>
          <a:p>
            <a:pPr lvl="2"/>
            <a:r>
              <a:rPr lang="en-US" altLang="ko-KR" sz="1400" dirty="0"/>
              <a:t># LED 1</a:t>
            </a:r>
          </a:p>
          <a:p>
            <a:pPr lvl="2"/>
            <a:r>
              <a:rPr lang="en-US" altLang="ko-KR" sz="1400" dirty="0" err="1"/>
              <a:t>set_property</a:t>
            </a:r>
            <a:r>
              <a:rPr lang="en-US" altLang="ko-KR" sz="1400" dirty="0"/>
              <a:t> PACKAGE_PIN E10 [</a:t>
            </a:r>
            <a:r>
              <a:rPr lang="en-US" altLang="ko-KR" sz="1400" dirty="0" err="1"/>
              <a:t>get_ports</a:t>
            </a:r>
            <a:r>
              <a:rPr lang="en-US" altLang="ko-KR" sz="1400" dirty="0"/>
              <a:t> {</a:t>
            </a:r>
            <a:r>
              <a:rPr lang="en-US" altLang="ko-KR" sz="1400" dirty="0" err="1"/>
              <a:t>led_gpio_tri_o</a:t>
            </a:r>
            <a:r>
              <a:rPr lang="en-US" altLang="ko-KR" sz="1400" dirty="0"/>
              <a:t>[1]}]</a:t>
            </a:r>
          </a:p>
          <a:p>
            <a:pPr lvl="2"/>
            <a:r>
              <a:rPr lang="en-US" altLang="ko-KR" sz="1400" dirty="0" err="1"/>
              <a:t>set_property</a:t>
            </a:r>
            <a:r>
              <a:rPr lang="en-US" altLang="ko-KR" sz="1400" dirty="0"/>
              <a:t> IOSTANDARD LVCMOS33 [</a:t>
            </a:r>
            <a:r>
              <a:rPr lang="en-US" altLang="ko-KR" sz="1400" dirty="0" err="1"/>
              <a:t>get_ports</a:t>
            </a:r>
            <a:r>
              <a:rPr lang="en-US" altLang="ko-KR" sz="1400" dirty="0"/>
              <a:t> {</a:t>
            </a:r>
            <a:r>
              <a:rPr lang="en-US" altLang="ko-KR" sz="1400" dirty="0" err="1"/>
              <a:t>led_gpio_tri_o</a:t>
            </a:r>
            <a:r>
              <a:rPr lang="en-US" altLang="ko-KR" sz="1400" dirty="0"/>
              <a:t>[1]}]</a:t>
            </a:r>
          </a:p>
          <a:p>
            <a:pPr lvl="2"/>
            <a:endParaRPr lang="en-US" altLang="ko-KR" sz="1400" dirty="0"/>
          </a:p>
          <a:p>
            <a:pPr lvl="2"/>
            <a:r>
              <a:rPr lang="en-US" altLang="ko-KR" sz="1400" dirty="0"/>
              <a:t># LED 2</a:t>
            </a:r>
          </a:p>
          <a:p>
            <a:pPr lvl="2"/>
            <a:r>
              <a:rPr lang="en-US" altLang="ko-KR" sz="1400" dirty="0" err="1"/>
              <a:t>set_property</a:t>
            </a:r>
            <a:r>
              <a:rPr lang="en-US" altLang="ko-KR" sz="1400" dirty="0"/>
              <a:t> PACKAGE_PIN D10 [</a:t>
            </a:r>
            <a:r>
              <a:rPr lang="en-US" altLang="ko-KR" sz="1400" dirty="0" err="1"/>
              <a:t>get_ports</a:t>
            </a:r>
            <a:r>
              <a:rPr lang="en-US" altLang="ko-KR" sz="1400" dirty="0"/>
              <a:t> {</a:t>
            </a:r>
            <a:r>
              <a:rPr lang="en-US" altLang="ko-KR" sz="1400" dirty="0" err="1"/>
              <a:t>led_gpio_tri_o</a:t>
            </a:r>
            <a:r>
              <a:rPr lang="en-US" altLang="ko-KR" sz="1400" dirty="0"/>
              <a:t>[2]}]</a:t>
            </a:r>
          </a:p>
          <a:p>
            <a:pPr lvl="2"/>
            <a:r>
              <a:rPr lang="en-US" altLang="ko-KR" sz="1400" dirty="0" err="1"/>
              <a:t>set_property</a:t>
            </a:r>
            <a:r>
              <a:rPr lang="en-US" altLang="ko-KR" sz="1400" dirty="0"/>
              <a:t> IOSTANDARD LVCMOS33 [</a:t>
            </a:r>
            <a:r>
              <a:rPr lang="en-US" altLang="ko-KR" sz="1400" dirty="0" err="1"/>
              <a:t>get_ports</a:t>
            </a:r>
            <a:r>
              <a:rPr lang="en-US" altLang="ko-KR" sz="1400" dirty="0"/>
              <a:t> {</a:t>
            </a:r>
            <a:r>
              <a:rPr lang="en-US" altLang="ko-KR" sz="1400" dirty="0" err="1"/>
              <a:t>led_gpio_tri_o</a:t>
            </a:r>
            <a:r>
              <a:rPr lang="en-US" altLang="ko-KR" sz="1400" dirty="0"/>
              <a:t>[2]}]</a:t>
            </a:r>
          </a:p>
          <a:p>
            <a:pPr lvl="2"/>
            <a:endParaRPr lang="en-US" altLang="ko-KR" sz="1400" dirty="0"/>
          </a:p>
          <a:p>
            <a:pPr lvl="2"/>
            <a:r>
              <a:rPr lang="en-US" altLang="ko-KR" sz="1400" dirty="0"/>
              <a:t># LED 3</a:t>
            </a:r>
          </a:p>
          <a:p>
            <a:pPr lvl="2"/>
            <a:r>
              <a:rPr lang="en-US" altLang="ko-KR" sz="1400" dirty="0" err="1"/>
              <a:t>set_property</a:t>
            </a:r>
            <a:r>
              <a:rPr lang="en-US" altLang="ko-KR" sz="1400" dirty="0"/>
              <a:t> PACKAGE_PIN C11 [</a:t>
            </a:r>
            <a:r>
              <a:rPr lang="en-US" altLang="ko-KR" sz="1400" dirty="0" err="1"/>
              <a:t>get_ports</a:t>
            </a:r>
            <a:r>
              <a:rPr lang="en-US" altLang="ko-KR" sz="1400" dirty="0"/>
              <a:t> {</a:t>
            </a:r>
            <a:r>
              <a:rPr lang="en-US" altLang="ko-KR" sz="1400" dirty="0" err="1"/>
              <a:t>led_gpio_tri_o</a:t>
            </a:r>
            <a:r>
              <a:rPr lang="en-US" altLang="ko-KR" sz="1400" dirty="0"/>
              <a:t>[3]}]</a:t>
            </a:r>
          </a:p>
          <a:p>
            <a:pPr lvl="2"/>
            <a:r>
              <a:rPr lang="en-US" altLang="ko-KR" sz="1400" dirty="0" err="1"/>
              <a:t>set_property</a:t>
            </a:r>
            <a:r>
              <a:rPr lang="en-US" altLang="ko-KR" sz="1400" dirty="0"/>
              <a:t> IOSTANDARD LVCMOS33 [</a:t>
            </a:r>
            <a:r>
              <a:rPr lang="en-US" altLang="ko-KR" sz="1400" dirty="0" err="1"/>
              <a:t>get_ports</a:t>
            </a:r>
            <a:r>
              <a:rPr lang="en-US" altLang="ko-KR" sz="1400" dirty="0"/>
              <a:t> {</a:t>
            </a:r>
            <a:r>
              <a:rPr lang="en-US" altLang="ko-KR" sz="1400" dirty="0" err="1"/>
              <a:t>led_gpio_tri_o</a:t>
            </a:r>
            <a:r>
              <a:rPr lang="en-US" altLang="ko-KR" sz="1400" dirty="0"/>
              <a:t>[3]}]</a:t>
            </a:r>
            <a:endParaRPr lang="ko-KR" altLang="en-US" sz="1400" dirty="0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404C6DFC-68E5-2A48-C9BE-42F38B20DF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352653"/>
              </p:ext>
            </p:extLst>
          </p:nvPr>
        </p:nvGraphicFramePr>
        <p:xfrm>
          <a:off x="7402605" y="2057390"/>
          <a:ext cx="4404660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2330">
                  <a:extLst>
                    <a:ext uri="{9D8B030D-6E8A-4147-A177-3AD203B41FA5}">
                      <a16:colId xmlns:a16="http://schemas.microsoft.com/office/drawing/2014/main" val="1616709098"/>
                    </a:ext>
                  </a:extLst>
                </a:gridCol>
                <a:gridCol w="2202330">
                  <a:extLst>
                    <a:ext uri="{9D8B030D-6E8A-4147-A177-3AD203B41FA5}">
                      <a16:colId xmlns:a16="http://schemas.microsoft.com/office/drawing/2014/main" val="12582640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PMOD Pin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FPGA Pin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376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H12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8037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E10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883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D10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54764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C11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5696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B10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8593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E12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46490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D11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5588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B11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3333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GND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GROUND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96067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3V3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3.3V </a:t>
                      </a:r>
                      <a:r>
                        <a:rPr lang="ko-KR" altLang="en-US" dirty="0"/>
                        <a:t>전원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244158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C2BC489-6B2A-0583-70A8-4FDB503EF342}"/>
              </a:ext>
            </a:extLst>
          </p:cNvPr>
          <p:cNvSpPr txBox="1"/>
          <p:nvPr/>
        </p:nvSpPr>
        <p:spPr>
          <a:xfrm>
            <a:off x="11758425" y="6492240"/>
            <a:ext cx="25039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000" b="0" dirty="0">
                <a:solidFill>
                  <a:srgbClr val="666666"/>
                </a:solidFill>
                <a:latin typeface="Calibri"/>
              </a:rPr>
              <a:t>9</a:t>
            </a:r>
            <a:endParaRPr sz="1000" b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45F21D86-0C40-A69F-0EA4-1CD5059EB03A}"/>
              </a:ext>
            </a:extLst>
          </p:cNvPr>
          <p:cNvSpPr/>
          <p:nvPr/>
        </p:nvSpPr>
        <p:spPr>
          <a:xfrm>
            <a:off x="457200" y="6446520"/>
            <a:ext cx="1127729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144D41-2FE7-E185-6084-E61FF1AC3586}"/>
              </a:ext>
            </a:extLst>
          </p:cNvPr>
          <p:cNvSpPr txBox="1"/>
          <p:nvPr/>
        </p:nvSpPr>
        <p:spPr>
          <a:xfrm>
            <a:off x="457200" y="6492240"/>
            <a:ext cx="326403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dirty="0">
                <a:solidFill>
                  <a:srgbClr val="666666"/>
                </a:solidFill>
                <a:latin typeface="Calibri"/>
              </a:rPr>
              <a:t>Step 0</a:t>
            </a:r>
            <a:r>
              <a:rPr lang="en-US" sz="1000" b="0" dirty="0">
                <a:solidFill>
                  <a:srgbClr val="666666"/>
                </a:solidFill>
                <a:latin typeface="Calibri"/>
              </a:rPr>
              <a:t>3</a:t>
            </a:r>
            <a:r>
              <a:rPr sz="1000" b="0" dirty="0">
                <a:solidFill>
                  <a:srgbClr val="666666"/>
                </a:solidFill>
                <a:latin typeface="Calibri"/>
              </a:rPr>
              <a:t>: </a:t>
            </a:r>
            <a:r>
              <a:rPr lang="en-US" altLang="ko-KR" sz="1000" b="0" dirty="0">
                <a:solidFill>
                  <a:srgbClr val="666666"/>
                </a:solidFill>
                <a:latin typeface="Calibri"/>
              </a:rPr>
              <a:t>AXI GPIO Integration</a:t>
            </a:r>
            <a:r>
              <a:rPr sz="1000" b="0" dirty="0">
                <a:solidFill>
                  <a:srgbClr val="666666"/>
                </a:solidFill>
                <a:latin typeface="Calibri"/>
              </a:rPr>
              <a:t> —</a:t>
            </a:r>
            <a:r>
              <a:rPr lang="en-US" sz="1000" b="0" dirty="0">
                <a:solidFill>
                  <a:srgbClr val="666666"/>
                </a:solidFill>
                <a:latin typeface="Calibri"/>
              </a:rPr>
              <a:t> </a:t>
            </a:r>
            <a:r>
              <a:rPr lang="en-US" sz="1000" dirty="0">
                <a:solidFill>
                  <a:srgbClr val="666666"/>
                </a:solidFill>
                <a:latin typeface="Calibri"/>
              </a:rPr>
              <a:t>PS/PL </a:t>
            </a:r>
            <a:r>
              <a:rPr lang="ko-KR" altLang="en-US" sz="1000" dirty="0">
                <a:solidFill>
                  <a:srgbClr val="666666"/>
                </a:solidFill>
                <a:latin typeface="Calibri"/>
              </a:rPr>
              <a:t>통신 구현 </a:t>
            </a:r>
            <a:r>
              <a:rPr lang="en-US" altLang="ko-KR" sz="1000" dirty="0">
                <a:solidFill>
                  <a:srgbClr val="666666"/>
                </a:solidFill>
                <a:latin typeface="Calibri"/>
              </a:rPr>
              <a:t>LED </a:t>
            </a:r>
            <a:r>
              <a:rPr lang="ko-KR" altLang="en-US" sz="1000" dirty="0">
                <a:solidFill>
                  <a:srgbClr val="666666"/>
                </a:solidFill>
                <a:latin typeface="Calibri"/>
              </a:rPr>
              <a:t>제어</a:t>
            </a:r>
            <a:endParaRPr sz="1000" b="0" dirty="0">
              <a:solidFill>
                <a:srgbClr val="666666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816351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015DE373-FAE6-63E7-4D79-268A013BC127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7E7EBD6-13DF-06CA-54DE-419DD28B7789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B9953A-C89A-1ED0-FD7C-AB33F6510863}"/>
              </a:ext>
            </a:extLst>
          </p:cNvPr>
          <p:cNvSpPr txBox="1"/>
          <p:nvPr/>
        </p:nvSpPr>
        <p:spPr>
          <a:xfrm>
            <a:off x="457200" y="309890"/>
            <a:ext cx="1127729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2800" b="1" dirty="0" err="1">
                <a:solidFill>
                  <a:srgbClr val="FFFFFF"/>
                </a:solidFill>
                <a:latin typeface="Calibri"/>
              </a:rPr>
              <a:t>Vivado</a:t>
            </a:r>
            <a:r>
              <a:rPr lang="en-US" sz="2800" b="1" dirty="0">
                <a:solidFill>
                  <a:srgbClr val="FFFFFF"/>
                </a:solidFill>
                <a:latin typeface="Calibri"/>
              </a:rPr>
              <a:t> GUI</a:t>
            </a:r>
            <a:endParaRPr sz="28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ECC53B-DE84-1B4D-06EE-F112F5981772}"/>
              </a:ext>
            </a:extLst>
          </p:cNvPr>
          <p:cNvSpPr txBox="1"/>
          <p:nvPr/>
        </p:nvSpPr>
        <p:spPr>
          <a:xfrm>
            <a:off x="1138635" y="1205445"/>
            <a:ext cx="91013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00B050"/>
                </a:solidFill>
              </a:rPr>
              <a:t>Step 9: Synthesis </a:t>
            </a:r>
            <a:r>
              <a:rPr lang="ko-KR" altLang="en-US" b="1" dirty="0">
                <a:solidFill>
                  <a:srgbClr val="00B050"/>
                </a:solidFill>
              </a:rPr>
              <a:t>실행</a:t>
            </a:r>
            <a:endParaRPr lang="en-US" altLang="ko-KR" b="1" dirty="0">
              <a:solidFill>
                <a:srgbClr val="00B050"/>
              </a:solidFill>
            </a:endParaRPr>
          </a:p>
          <a:p>
            <a:pPr lvl="1"/>
            <a:r>
              <a:rPr lang="en-US" altLang="ko-KR" dirty="0"/>
              <a:t>9.1 Synthesis </a:t>
            </a:r>
            <a:r>
              <a:rPr lang="ko-KR" altLang="en-US" dirty="0"/>
              <a:t>시작</a:t>
            </a:r>
            <a:endParaRPr lang="en-US" altLang="ko-KR" dirty="0"/>
          </a:p>
          <a:p>
            <a:pPr marL="1257300" lvl="2" indent="-342900">
              <a:buAutoNum type="arabicPeriod"/>
            </a:pPr>
            <a:r>
              <a:rPr lang="en-US" altLang="ko-KR" dirty="0"/>
              <a:t>Flow Navigator → Synthesis → Run Synthesis </a:t>
            </a:r>
            <a:r>
              <a:rPr lang="ko-KR" altLang="en-US" dirty="0"/>
              <a:t>클릭</a:t>
            </a:r>
            <a:endParaRPr lang="en-US" altLang="ko-KR" dirty="0"/>
          </a:p>
          <a:p>
            <a:pPr marL="1257300" lvl="2" indent="-342900">
              <a:buAutoNum type="arabicPeriod"/>
            </a:pPr>
            <a:r>
              <a:rPr lang="ko-KR" altLang="en-US" dirty="0"/>
              <a:t>완료 후 </a:t>
            </a:r>
            <a:r>
              <a:rPr lang="en-US" altLang="ko-KR" dirty="0"/>
              <a:t>Open Synthesized Design </a:t>
            </a:r>
            <a:r>
              <a:rPr lang="ko-KR" altLang="en-US" dirty="0"/>
              <a:t>선택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9.2 </a:t>
            </a:r>
            <a:r>
              <a:rPr lang="ko-KR" altLang="en-US" dirty="0"/>
              <a:t>리포트 확인 </a:t>
            </a:r>
            <a:r>
              <a:rPr lang="en-US" altLang="ko-KR" dirty="0"/>
              <a:t>(</a:t>
            </a:r>
            <a:r>
              <a:rPr lang="ko-KR" altLang="en-US" dirty="0"/>
              <a:t>선택</a:t>
            </a:r>
            <a:r>
              <a:rPr lang="en-US" altLang="ko-KR" dirty="0"/>
              <a:t>)</a:t>
            </a:r>
          </a:p>
          <a:p>
            <a:pPr marL="1200150" lvl="2" indent="-285750">
              <a:buFontTx/>
              <a:buChar char="-"/>
            </a:pPr>
            <a:r>
              <a:rPr lang="en-US" altLang="ko-KR" dirty="0"/>
              <a:t>Synthesis Report</a:t>
            </a:r>
            <a:r>
              <a:rPr lang="ko-KR" altLang="en-US" dirty="0"/>
              <a:t>에서 리소스 사용량 확인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b="1" dirty="0">
                <a:solidFill>
                  <a:srgbClr val="00B050"/>
                </a:solidFill>
              </a:rPr>
              <a:t>Step 10: Implementation </a:t>
            </a:r>
            <a:r>
              <a:rPr lang="ko-KR" altLang="en-US" b="1" dirty="0">
                <a:solidFill>
                  <a:srgbClr val="00B050"/>
                </a:solidFill>
              </a:rPr>
              <a:t>실행</a:t>
            </a:r>
            <a:endParaRPr lang="en-US" altLang="ko-KR" b="1" dirty="0">
              <a:solidFill>
                <a:srgbClr val="00B050"/>
              </a:solidFill>
            </a:endParaRPr>
          </a:p>
          <a:p>
            <a:pPr lvl="1"/>
            <a:r>
              <a:rPr lang="en-US" altLang="ko-KR" dirty="0"/>
              <a:t>10.1 Implementation </a:t>
            </a:r>
            <a:r>
              <a:rPr lang="ko-KR" altLang="en-US" dirty="0"/>
              <a:t>시작</a:t>
            </a:r>
            <a:endParaRPr lang="en-US" altLang="ko-KR" dirty="0"/>
          </a:p>
          <a:p>
            <a:pPr marL="1257300" lvl="2" indent="-342900">
              <a:buAutoNum type="arabicPeriod"/>
            </a:pPr>
            <a:r>
              <a:rPr lang="en-US" altLang="ko-KR" dirty="0"/>
              <a:t>Implementation → Run Implementation </a:t>
            </a:r>
            <a:r>
              <a:rPr lang="ko-KR" altLang="en-US" dirty="0"/>
              <a:t>클릭</a:t>
            </a:r>
            <a:endParaRPr lang="en-US" altLang="ko-KR" dirty="0"/>
          </a:p>
          <a:p>
            <a:pPr marL="1257300" lvl="2" indent="-342900">
              <a:buAutoNum type="arabicPeriod"/>
            </a:pPr>
            <a:r>
              <a:rPr lang="ko-KR" altLang="en-US" dirty="0"/>
              <a:t>완료 후 </a:t>
            </a:r>
            <a:r>
              <a:rPr lang="en-US" altLang="ko-KR" dirty="0"/>
              <a:t>Open Implemented Design </a:t>
            </a:r>
            <a:r>
              <a:rPr lang="ko-KR" altLang="en-US" dirty="0"/>
              <a:t>선택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b="1" dirty="0">
                <a:solidFill>
                  <a:srgbClr val="00B050"/>
                </a:solidFill>
              </a:rPr>
              <a:t>Step 11: Bitstream </a:t>
            </a:r>
            <a:r>
              <a:rPr lang="ko-KR" altLang="en-US" b="1" dirty="0">
                <a:solidFill>
                  <a:srgbClr val="00B050"/>
                </a:solidFill>
              </a:rPr>
              <a:t>생성</a:t>
            </a:r>
            <a:endParaRPr lang="en-US" altLang="ko-KR" b="1" dirty="0">
              <a:solidFill>
                <a:srgbClr val="00B050"/>
              </a:solidFill>
            </a:endParaRPr>
          </a:p>
          <a:p>
            <a:pPr lvl="1"/>
            <a:r>
              <a:rPr lang="en-US" altLang="ko-KR" dirty="0"/>
              <a:t>11.1 Bitstream </a:t>
            </a:r>
            <a:r>
              <a:rPr lang="ko-KR" altLang="en-US" dirty="0"/>
              <a:t>생성</a:t>
            </a:r>
            <a:endParaRPr lang="en-US" altLang="ko-KR" dirty="0"/>
          </a:p>
          <a:p>
            <a:pPr marL="1257300" lvl="2" indent="-342900">
              <a:buAutoNum type="arabicPeriod"/>
            </a:pPr>
            <a:r>
              <a:rPr lang="en-US" altLang="ko-KR" dirty="0"/>
              <a:t>Program and Debug → Generate Bitstream </a:t>
            </a:r>
            <a:r>
              <a:rPr lang="ko-KR" altLang="en-US" dirty="0"/>
              <a:t>클릭</a:t>
            </a:r>
            <a:endParaRPr lang="en-US" altLang="ko-KR" dirty="0"/>
          </a:p>
          <a:p>
            <a:pPr marL="1257300" lvl="2" indent="-342900">
              <a:buAutoNum type="arabicPeriod"/>
            </a:pPr>
            <a:r>
              <a:rPr lang="ko-KR" altLang="en-US" dirty="0"/>
              <a:t>확인 메시지 → </a:t>
            </a:r>
            <a:r>
              <a:rPr lang="en-US" altLang="ko-KR" dirty="0"/>
              <a:t>Yes</a:t>
            </a:r>
          </a:p>
          <a:p>
            <a:pPr marL="1257300" lvl="2" indent="-342900">
              <a:buAutoNum type="arabicPeriod"/>
            </a:pPr>
            <a:r>
              <a:rPr lang="ko-KR" altLang="en-US" dirty="0"/>
              <a:t>완료 후 </a:t>
            </a:r>
            <a:r>
              <a:rPr lang="en-US" altLang="ko-KR" dirty="0"/>
              <a:t>OK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70AFD8-2EFB-4996-F954-54EEA76012F7}"/>
              </a:ext>
            </a:extLst>
          </p:cNvPr>
          <p:cNvSpPr txBox="1"/>
          <p:nvPr/>
        </p:nvSpPr>
        <p:spPr>
          <a:xfrm>
            <a:off x="11692703" y="6492240"/>
            <a:ext cx="31611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000" b="0" dirty="0">
                <a:solidFill>
                  <a:srgbClr val="666666"/>
                </a:solidFill>
                <a:latin typeface="Calibri"/>
              </a:rPr>
              <a:t>10</a:t>
            </a:r>
            <a:endParaRPr sz="1000" b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476D203F-23EE-5DEA-CDC1-4195B0830985}"/>
              </a:ext>
            </a:extLst>
          </p:cNvPr>
          <p:cNvSpPr/>
          <p:nvPr/>
        </p:nvSpPr>
        <p:spPr>
          <a:xfrm>
            <a:off x="457200" y="6446520"/>
            <a:ext cx="1127729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F9D0D7-2205-D038-23A8-0F082A5E4390}"/>
              </a:ext>
            </a:extLst>
          </p:cNvPr>
          <p:cNvSpPr txBox="1"/>
          <p:nvPr/>
        </p:nvSpPr>
        <p:spPr>
          <a:xfrm>
            <a:off x="457200" y="6492240"/>
            <a:ext cx="326403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dirty="0">
                <a:solidFill>
                  <a:srgbClr val="666666"/>
                </a:solidFill>
                <a:latin typeface="Calibri"/>
              </a:rPr>
              <a:t>Step 0</a:t>
            </a:r>
            <a:r>
              <a:rPr lang="en-US" sz="1000" b="0" dirty="0">
                <a:solidFill>
                  <a:srgbClr val="666666"/>
                </a:solidFill>
                <a:latin typeface="Calibri"/>
              </a:rPr>
              <a:t>3</a:t>
            </a:r>
            <a:r>
              <a:rPr sz="1000" b="0" dirty="0">
                <a:solidFill>
                  <a:srgbClr val="666666"/>
                </a:solidFill>
                <a:latin typeface="Calibri"/>
              </a:rPr>
              <a:t>: </a:t>
            </a:r>
            <a:r>
              <a:rPr lang="en-US" altLang="ko-KR" sz="1000" b="0" dirty="0">
                <a:solidFill>
                  <a:srgbClr val="666666"/>
                </a:solidFill>
                <a:latin typeface="Calibri"/>
              </a:rPr>
              <a:t>AXI GPIO Integration</a:t>
            </a:r>
            <a:r>
              <a:rPr sz="1000" b="0" dirty="0">
                <a:solidFill>
                  <a:srgbClr val="666666"/>
                </a:solidFill>
                <a:latin typeface="Calibri"/>
              </a:rPr>
              <a:t> —</a:t>
            </a:r>
            <a:r>
              <a:rPr lang="en-US" sz="1000" b="0" dirty="0">
                <a:solidFill>
                  <a:srgbClr val="666666"/>
                </a:solidFill>
                <a:latin typeface="Calibri"/>
              </a:rPr>
              <a:t> </a:t>
            </a:r>
            <a:r>
              <a:rPr lang="en-US" sz="1000" dirty="0">
                <a:solidFill>
                  <a:srgbClr val="666666"/>
                </a:solidFill>
                <a:latin typeface="Calibri"/>
              </a:rPr>
              <a:t>PS/PL </a:t>
            </a:r>
            <a:r>
              <a:rPr lang="ko-KR" altLang="en-US" sz="1000" dirty="0">
                <a:solidFill>
                  <a:srgbClr val="666666"/>
                </a:solidFill>
                <a:latin typeface="Calibri"/>
              </a:rPr>
              <a:t>통신 구현 </a:t>
            </a:r>
            <a:r>
              <a:rPr lang="en-US" altLang="ko-KR" sz="1000" dirty="0">
                <a:solidFill>
                  <a:srgbClr val="666666"/>
                </a:solidFill>
                <a:latin typeface="Calibri"/>
              </a:rPr>
              <a:t>LED </a:t>
            </a:r>
            <a:r>
              <a:rPr lang="ko-KR" altLang="en-US" sz="1000" dirty="0">
                <a:solidFill>
                  <a:srgbClr val="666666"/>
                </a:solidFill>
                <a:latin typeface="Calibri"/>
              </a:rPr>
              <a:t>제어</a:t>
            </a:r>
            <a:endParaRPr sz="1000" b="0" dirty="0">
              <a:solidFill>
                <a:srgbClr val="666666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851981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3E7112EF-1A7E-195E-D779-07097535B555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00D2625-B7E6-7116-7A9C-917E15D1ED28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9B0AAE-E179-1864-E17F-BA31BDF01845}"/>
              </a:ext>
            </a:extLst>
          </p:cNvPr>
          <p:cNvSpPr txBox="1"/>
          <p:nvPr/>
        </p:nvSpPr>
        <p:spPr>
          <a:xfrm>
            <a:off x="457200" y="309890"/>
            <a:ext cx="1127729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2800" b="1" dirty="0" err="1">
                <a:solidFill>
                  <a:srgbClr val="FFFFFF"/>
                </a:solidFill>
                <a:latin typeface="Calibri"/>
              </a:rPr>
              <a:t>Vivado</a:t>
            </a:r>
            <a:r>
              <a:rPr lang="en-US" sz="2800" b="1" dirty="0">
                <a:solidFill>
                  <a:srgbClr val="FFFFFF"/>
                </a:solidFill>
                <a:latin typeface="Calibri"/>
              </a:rPr>
              <a:t> GUI</a:t>
            </a:r>
            <a:endParaRPr sz="28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9D243A-5C9D-F379-434A-7F29AFFAB45F}"/>
              </a:ext>
            </a:extLst>
          </p:cNvPr>
          <p:cNvSpPr txBox="1"/>
          <p:nvPr/>
        </p:nvSpPr>
        <p:spPr>
          <a:xfrm>
            <a:off x="1367236" y="1674693"/>
            <a:ext cx="613610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00B050"/>
                </a:solidFill>
              </a:rPr>
              <a:t>Step 12: Hardware Export (XSA)</a:t>
            </a:r>
          </a:p>
          <a:p>
            <a:pPr lvl="1"/>
            <a:r>
              <a:rPr lang="en-US" altLang="ko-KR" dirty="0"/>
              <a:t>12.1 Export Hardware</a:t>
            </a:r>
          </a:p>
          <a:p>
            <a:pPr marL="1257300" lvl="2" indent="-342900">
              <a:buAutoNum type="arabicPeriod"/>
            </a:pPr>
            <a:r>
              <a:rPr lang="en-US" altLang="ko-KR" dirty="0"/>
              <a:t>File → Export → Export Hardware </a:t>
            </a:r>
            <a:r>
              <a:rPr lang="ko-KR" altLang="en-US" dirty="0"/>
              <a:t>클릭</a:t>
            </a:r>
            <a:endParaRPr lang="en-US" altLang="ko-KR" dirty="0"/>
          </a:p>
          <a:p>
            <a:pPr marL="1257300" lvl="2" indent="-342900">
              <a:buAutoNum type="arabicPeriod"/>
            </a:pPr>
            <a:r>
              <a:rPr lang="en-US" altLang="ko-KR" dirty="0"/>
              <a:t>Include bitstream ☑ </a:t>
            </a:r>
            <a:r>
              <a:rPr lang="ko-KR" altLang="en-US" dirty="0"/>
              <a:t>체크</a:t>
            </a:r>
            <a:endParaRPr lang="en-US" altLang="ko-KR" dirty="0"/>
          </a:p>
          <a:p>
            <a:pPr marL="1257300" lvl="2" indent="-342900">
              <a:buAutoNum type="arabicPeriod"/>
            </a:pPr>
            <a:r>
              <a:rPr lang="en-US" altLang="ko-KR" dirty="0"/>
              <a:t>Next → </a:t>
            </a:r>
            <a:r>
              <a:rPr lang="ko-KR" altLang="en-US" dirty="0"/>
              <a:t>출력 위치 선택</a:t>
            </a:r>
            <a:endParaRPr lang="en-US" altLang="ko-KR" dirty="0"/>
          </a:p>
          <a:p>
            <a:pPr marL="1257300" lvl="2" indent="-342900">
              <a:buAutoNum type="arabicPeriod"/>
            </a:pPr>
            <a:r>
              <a:rPr lang="ko-KR" altLang="en-US" dirty="0"/>
              <a:t>파일 이름</a:t>
            </a:r>
            <a:r>
              <a:rPr lang="en-US" altLang="ko-KR" dirty="0"/>
              <a:t>: kv260_axi_gpio → Export</a:t>
            </a:r>
          </a:p>
          <a:p>
            <a:endParaRPr lang="en-US" altLang="ko-KR" dirty="0"/>
          </a:p>
          <a:p>
            <a:r>
              <a:rPr lang="ko-KR" altLang="en-US" b="1" dirty="0">
                <a:solidFill>
                  <a:srgbClr val="00B050"/>
                </a:solidFill>
              </a:rPr>
              <a:t>검증 체크리스트</a:t>
            </a:r>
            <a:r>
              <a:rPr lang="en-US" altLang="ko-KR" b="1" dirty="0">
                <a:solidFill>
                  <a:srgbClr val="00B050"/>
                </a:solidFill>
              </a:rPr>
              <a:t>:</a:t>
            </a:r>
          </a:p>
          <a:p>
            <a:pPr marL="742950" lvl="1" indent="-285750">
              <a:buFontTx/>
              <a:buChar char="-"/>
            </a:pPr>
            <a:r>
              <a:rPr lang="en-US" altLang="ko-KR" dirty="0"/>
              <a:t>[ ] AXI GPIO IP</a:t>
            </a:r>
            <a:r>
              <a:rPr lang="ko-KR" altLang="en-US" dirty="0"/>
              <a:t>가 </a:t>
            </a:r>
            <a:r>
              <a:rPr lang="en-US" altLang="ko-KR" dirty="0"/>
              <a:t>Block Design</a:t>
            </a:r>
            <a:r>
              <a:rPr lang="ko-KR" altLang="en-US" dirty="0"/>
              <a:t>에 추가됨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en-US" altLang="ko-KR" dirty="0"/>
              <a:t>[ ] GPIO </a:t>
            </a:r>
            <a:r>
              <a:rPr lang="ko-KR" altLang="en-US" dirty="0"/>
              <a:t>포트가 </a:t>
            </a:r>
            <a:r>
              <a:rPr lang="en-US" altLang="ko-KR" dirty="0"/>
              <a:t>Make External</a:t>
            </a:r>
            <a:r>
              <a:rPr lang="ko-KR" altLang="en-US" dirty="0"/>
              <a:t>됨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en-US" altLang="ko-KR" dirty="0"/>
              <a:t>[ ] XDC </a:t>
            </a:r>
            <a:r>
              <a:rPr lang="ko-KR" altLang="en-US" dirty="0"/>
              <a:t>파일에 핀 할당 완료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en-US" altLang="ko-KR" dirty="0"/>
              <a:t>[ ] Synthesis </a:t>
            </a:r>
            <a:r>
              <a:rPr lang="ko-KR" altLang="en-US" dirty="0"/>
              <a:t>및 </a:t>
            </a:r>
            <a:r>
              <a:rPr lang="en-US" altLang="ko-KR" dirty="0"/>
              <a:t>Implementation </a:t>
            </a:r>
            <a:r>
              <a:rPr lang="ko-KR" altLang="en-US" dirty="0"/>
              <a:t>성공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en-US" altLang="ko-KR" dirty="0"/>
              <a:t>[ ] Bitstream </a:t>
            </a:r>
            <a:r>
              <a:rPr lang="ko-KR" altLang="en-US" dirty="0"/>
              <a:t>생성 완료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D724BF-1CD6-C11D-1225-5A1A74B3E2A3}"/>
              </a:ext>
            </a:extLst>
          </p:cNvPr>
          <p:cNvSpPr txBox="1"/>
          <p:nvPr/>
        </p:nvSpPr>
        <p:spPr>
          <a:xfrm>
            <a:off x="11692703" y="6492240"/>
            <a:ext cx="31611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000" b="0" dirty="0">
                <a:solidFill>
                  <a:srgbClr val="666666"/>
                </a:solidFill>
                <a:latin typeface="Calibri"/>
              </a:rPr>
              <a:t>11</a:t>
            </a:r>
            <a:endParaRPr sz="1000" b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50E990F2-4CA5-22F8-6214-298E1505C350}"/>
              </a:ext>
            </a:extLst>
          </p:cNvPr>
          <p:cNvSpPr/>
          <p:nvPr/>
        </p:nvSpPr>
        <p:spPr>
          <a:xfrm>
            <a:off x="457200" y="6446520"/>
            <a:ext cx="1127729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252A7F-6373-30DC-F269-03774D5F3D41}"/>
              </a:ext>
            </a:extLst>
          </p:cNvPr>
          <p:cNvSpPr txBox="1"/>
          <p:nvPr/>
        </p:nvSpPr>
        <p:spPr>
          <a:xfrm>
            <a:off x="457200" y="6492240"/>
            <a:ext cx="326403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dirty="0">
                <a:solidFill>
                  <a:srgbClr val="666666"/>
                </a:solidFill>
                <a:latin typeface="Calibri"/>
              </a:rPr>
              <a:t>Step 0</a:t>
            </a:r>
            <a:r>
              <a:rPr lang="en-US" sz="1000" b="0" dirty="0">
                <a:solidFill>
                  <a:srgbClr val="666666"/>
                </a:solidFill>
                <a:latin typeface="Calibri"/>
              </a:rPr>
              <a:t>3</a:t>
            </a:r>
            <a:r>
              <a:rPr sz="1000" b="0" dirty="0">
                <a:solidFill>
                  <a:srgbClr val="666666"/>
                </a:solidFill>
                <a:latin typeface="Calibri"/>
              </a:rPr>
              <a:t>: </a:t>
            </a:r>
            <a:r>
              <a:rPr lang="en-US" altLang="ko-KR" sz="1000" b="0" dirty="0">
                <a:solidFill>
                  <a:srgbClr val="666666"/>
                </a:solidFill>
                <a:latin typeface="Calibri"/>
              </a:rPr>
              <a:t>AXI GPIO Integration</a:t>
            </a:r>
            <a:r>
              <a:rPr sz="1000" b="0" dirty="0">
                <a:solidFill>
                  <a:srgbClr val="666666"/>
                </a:solidFill>
                <a:latin typeface="Calibri"/>
              </a:rPr>
              <a:t> —</a:t>
            </a:r>
            <a:r>
              <a:rPr lang="en-US" sz="1000" b="0" dirty="0">
                <a:solidFill>
                  <a:srgbClr val="666666"/>
                </a:solidFill>
                <a:latin typeface="Calibri"/>
              </a:rPr>
              <a:t> </a:t>
            </a:r>
            <a:r>
              <a:rPr lang="en-US" sz="1000" dirty="0">
                <a:solidFill>
                  <a:srgbClr val="666666"/>
                </a:solidFill>
                <a:latin typeface="Calibri"/>
              </a:rPr>
              <a:t>PS/PL </a:t>
            </a:r>
            <a:r>
              <a:rPr lang="ko-KR" altLang="en-US" sz="1000" dirty="0">
                <a:solidFill>
                  <a:srgbClr val="666666"/>
                </a:solidFill>
                <a:latin typeface="Calibri"/>
              </a:rPr>
              <a:t>통신 구현 </a:t>
            </a:r>
            <a:r>
              <a:rPr lang="en-US" altLang="ko-KR" sz="1000" dirty="0">
                <a:solidFill>
                  <a:srgbClr val="666666"/>
                </a:solidFill>
                <a:latin typeface="Calibri"/>
              </a:rPr>
              <a:t>LED </a:t>
            </a:r>
            <a:r>
              <a:rPr lang="ko-KR" altLang="en-US" sz="1000" dirty="0">
                <a:solidFill>
                  <a:srgbClr val="666666"/>
                </a:solidFill>
                <a:latin typeface="Calibri"/>
              </a:rPr>
              <a:t>제어</a:t>
            </a:r>
            <a:endParaRPr sz="1000" b="0" dirty="0">
              <a:solidFill>
                <a:srgbClr val="666666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135246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1E3D1E5C-8D18-71F9-FDC3-4365CFAE211B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82D36E0-C4D9-B152-9DE8-994BAACDCBEA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4FF6AA-2CE0-B71D-93D6-009196CA2BA0}"/>
              </a:ext>
            </a:extLst>
          </p:cNvPr>
          <p:cNvSpPr txBox="1"/>
          <p:nvPr/>
        </p:nvSpPr>
        <p:spPr>
          <a:xfrm>
            <a:off x="457200" y="309890"/>
            <a:ext cx="1127729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ko-KR" altLang="en-US" sz="2800" b="1" dirty="0">
                <a:solidFill>
                  <a:srgbClr val="FFFFFF"/>
                </a:solidFill>
                <a:latin typeface="Calibri"/>
              </a:rPr>
              <a:t>검증 단계 </a:t>
            </a:r>
            <a:r>
              <a:rPr lang="en-US" altLang="ko-KR" sz="2800" b="1" dirty="0">
                <a:solidFill>
                  <a:srgbClr val="FFFFFF"/>
                </a:solidFill>
                <a:latin typeface="Calibri"/>
              </a:rPr>
              <a:t>(PYNQ / Vitis) </a:t>
            </a:r>
            <a:endParaRPr sz="2800" b="1" dirty="0">
              <a:solidFill>
                <a:srgbClr val="FFFFFF"/>
              </a:solidFill>
              <a:latin typeface="Calibri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553B3DD3-D0C6-1F65-743D-5B2B85613F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0018386"/>
              </p:ext>
            </p:extLst>
          </p:nvPr>
        </p:nvGraphicFramePr>
        <p:xfrm>
          <a:off x="1749612" y="1802154"/>
          <a:ext cx="812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6076">
                  <a:extLst>
                    <a:ext uri="{9D8B030D-6E8A-4147-A177-3AD203B41FA5}">
                      <a16:colId xmlns:a16="http://schemas.microsoft.com/office/drawing/2014/main" val="2835938136"/>
                    </a:ext>
                  </a:extLst>
                </a:gridCol>
                <a:gridCol w="6051924">
                  <a:extLst>
                    <a:ext uri="{9D8B030D-6E8A-4147-A177-3AD203B41FA5}">
                      <a16:colId xmlns:a16="http://schemas.microsoft.com/office/drawing/2014/main" val="20455064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방법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설명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9679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PYNQ </a:t>
                      </a:r>
                      <a:r>
                        <a:rPr lang="ko-KR" altLang="en-US" dirty="0"/>
                        <a:t>사용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Ubuntu</a:t>
                      </a:r>
                      <a:r>
                        <a:rPr lang="ko-KR" altLang="en-US" dirty="0"/>
                        <a:t>가 부팅된 </a:t>
                      </a:r>
                      <a:r>
                        <a:rPr lang="en-US" altLang="ko-KR" dirty="0"/>
                        <a:t>KV260</a:t>
                      </a:r>
                      <a:r>
                        <a:rPr lang="ko-KR" altLang="en-US" dirty="0"/>
                        <a:t>에서 </a:t>
                      </a:r>
                      <a:r>
                        <a:rPr lang="en-US" altLang="ko-KR" dirty="0"/>
                        <a:t>Python</a:t>
                      </a:r>
                      <a:r>
                        <a:rPr lang="ko-KR" altLang="en-US" dirty="0"/>
                        <a:t>으로 </a:t>
                      </a:r>
                      <a:r>
                        <a:rPr lang="en-US" altLang="ko-KR" dirty="0"/>
                        <a:t>LED </a:t>
                      </a:r>
                      <a:r>
                        <a:rPr lang="ko-KR" altLang="en-US" dirty="0"/>
                        <a:t>제어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59755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Vitis </a:t>
                      </a:r>
                      <a:r>
                        <a:rPr lang="ko-KR" altLang="en-US" dirty="0"/>
                        <a:t>사용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Vitis</a:t>
                      </a:r>
                      <a:r>
                        <a:rPr lang="ko-KR" altLang="en-US" dirty="0"/>
                        <a:t>에서 </a:t>
                      </a:r>
                      <a:r>
                        <a:rPr lang="en-US" altLang="ko-KR" dirty="0"/>
                        <a:t>C </a:t>
                      </a:r>
                      <a:r>
                        <a:rPr lang="ko-KR" altLang="en-US" dirty="0"/>
                        <a:t>어플리케이션 개발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886041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30FD7E50-5D18-842D-29C6-87446EBF08ED}"/>
              </a:ext>
            </a:extLst>
          </p:cNvPr>
          <p:cNvSpPr txBox="1"/>
          <p:nvPr/>
        </p:nvSpPr>
        <p:spPr>
          <a:xfrm>
            <a:off x="11692703" y="6492240"/>
            <a:ext cx="31611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000" b="0" dirty="0">
                <a:solidFill>
                  <a:srgbClr val="666666"/>
                </a:solidFill>
                <a:latin typeface="Calibri"/>
              </a:rPr>
              <a:t>12</a:t>
            </a:r>
            <a:endParaRPr sz="1000" b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F9A76285-9EB5-2794-A24C-C6A2FD86441F}"/>
              </a:ext>
            </a:extLst>
          </p:cNvPr>
          <p:cNvSpPr/>
          <p:nvPr/>
        </p:nvSpPr>
        <p:spPr>
          <a:xfrm>
            <a:off x="457200" y="6446520"/>
            <a:ext cx="1127729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4183B1-D29E-BAB2-EFF7-4C1413069730}"/>
              </a:ext>
            </a:extLst>
          </p:cNvPr>
          <p:cNvSpPr txBox="1"/>
          <p:nvPr/>
        </p:nvSpPr>
        <p:spPr>
          <a:xfrm>
            <a:off x="457200" y="6492240"/>
            <a:ext cx="326403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dirty="0">
                <a:solidFill>
                  <a:srgbClr val="666666"/>
                </a:solidFill>
                <a:latin typeface="Calibri"/>
              </a:rPr>
              <a:t>Step 0</a:t>
            </a:r>
            <a:r>
              <a:rPr lang="en-US" sz="1000" b="0" dirty="0">
                <a:solidFill>
                  <a:srgbClr val="666666"/>
                </a:solidFill>
                <a:latin typeface="Calibri"/>
              </a:rPr>
              <a:t>3</a:t>
            </a:r>
            <a:r>
              <a:rPr sz="1000" b="0" dirty="0">
                <a:solidFill>
                  <a:srgbClr val="666666"/>
                </a:solidFill>
                <a:latin typeface="Calibri"/>
              </a:rPr>
              <a:t>: </a:t>
            </a:r>
            <a:r>
              <a:rPr lang="en-US" altLang="ko-KR" sz="1000" b="0" dirty="0">
                <a:solidFill>
                  <a:srgbClr val="666666"/>
                </a:solidFill>
                <a:latin typeface="Calibri"/>
              </a:rPr>
              <a:t>AXI GPIO Integration</a:t>
            </a:r>
            <a:r>
              <a:rPr sz="1000" b="0" dirty="0">
                <a:solidFill>
                  <a:srgbClr val="666666"/>
                </a:solidFill>
                <a:latin typeface="Calibri"/>
              </a:rPr>
              <a:t> —</a:t>
            </a:r>
            <a:r>
              <a:rPr lang="en-US" sz="1000" b="0" dirty="0">
                <a:solidFill>
                  <a:srgbClr val="666666"/>
                </a:solidFill>
                <a:latin typeface="Calibri"/>
              </a:rPr>
              <a:t> </a:t>
            </a:r>
            <a:r>
              <a:rPr lang="en-US" sz="1000" dirty="0">
                <a:solidFill>
                  <a:srgbClr val="666666"/>
                </a:solidFill>
                <a:latin typeface="Calibri"/>
              </a:rPr>
              <a:t>PS/PL </a:t>
            </a:r>
            <a:r>
              <a:rPr lang="ko-KR" altLang="en-US" sz="1000" dirty="0">
                <a:solidFill>
                  <a:srgbClr val="666666"/>
                </a:solidFill>
                <a:latin typeface="Calibri"/>
              </a:rPr>
              <a:t>통신 구현 </a:t>
            </a:r>
            <a:r>
              <a:rPr lang="en-US" altLang="ko-KR" sz="1000" dirty="0">
                <a:solidFill>
                  <a:srgbClr val="666666"/>
                </a:solidFill>
                <a:latin typeface="Calibri"/>
              </a:rPr>
              <a:t>LED </a:t>
            </a:r>
            <a:r>
              <a:rPr lang="ko-KR" altLang="en-US" sz="1000" dirty="0">
                <a:solidFill>
                  <a:srgbClr val="666666"/>
                </a:solidFill>
                <a:latin typeface="Calibri"/>
              </a:rPr>
              <a:t>제어</a:t>
            </a:r>
            <a:endParaRPr sz="1000" b="0" dirty="0">
              <a:solidFill>
                <a:srgbClr val="666666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241584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0A26E9DC-B971-FBDE-0019-1874E5062A6E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264FFE4-52BE-9D95-42CE-BAFD84A4F92B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09AE18-ABF4-66C8-DA91-04B91ED24DD6}"/>
              </a:ext>
            </a:extLst>
          </p:cNvPr>
          <p:cNvSpPr txBox="1"/>
          <p:nvPr/>
        </p:nvSpPr>
        <p:spPr>
          <a:xfrm>
            <a:off x="457200" y="309890"/>
            <a:ext cx="1127729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ko-KR" altLang="en-US" sz="2800" b="1" dirty="0">
                <a:solidFill>
                  <a:srgbClr val="FFFFFF"/>
                </a:solidFill>
                <a:latin typeface="Calibri"/>
              </a:rPr>
              <a:t>방법 </a:t>
            </a:r>
            <a:r>
              <a:rPr lang="en-US" altLang="ko-KR" sz="2800" b="1" dirty="0">
                <a:solidFill>
                  <a:srgbClr val="FFFFFF"/>
                </a:solidFill>
                <a:latin typeface="Calibri"/>
              </a:rPr>
              <a:t>1: </a:t>
            </a:r>
            <a:r>
              <a:rPr lang="en-US" sz="2800" b="1" dirty="0">
                <a:solidFill>
                  <a:srgbClr val="FFFFFF"/>
                </a:solidFill>
                <a:latin typeface="Calibri"/>
              </a:rPr>
              <a:t>PYNQ</a:t>
            </a:r>
            <a:r>
              <a:rPr lang="ko-KR" altLang="en-US" sz="2800" b="1" dirty="0">
                <a:solidFill>
                  <a:srgbClr val="FFFFFF"/>
                </a:solidFill>
                <a:latin typeface="Calibri"/>
              </a:rPr>
              <a:t>로 </a:t>
            </a:r>
            <a:r>
              <a:rPr lang="en-US" altLang="ko-KR" sz="2800" b="1" dirty="0">
                <a:solidFill>
                  <a:srgbClr val="FFFFFF"/>
                </a:solidFill>
                <a:latin typeface="Calibri"/>
              </a:rPr>
              <a:t>LED </a:t>
            </a:r>
            <a:r>
              <a:rPr lang="ko-KR" altLang="en-US" sz="2800" b="1" dirty="0">
                <a:solidFill>
                  <a:srgbClr val="FFFFFF"/>
                </a:solidFill>
                <a:latin typeface="Calibri"/>
              </a:rPr>
              <a:t>제어 </a:t>
            </a:r>
            <a:r>
              <a:rPr lang="en-US" altLang="ko-KR" sz="2800" b="1" dirty="0">
                <a:solidFill>
                  <a:srgbClr val="FFFFFF"/>
                </a:solidFill>
                <a:latin typeface="Calibri"/>
              </a:rPr>
              <a:t>(Python)</a:t>
            </a:r>
            <a:endParaRPr sz="28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EB94BA-452B-4DD7-31B6-579F9217153A}"/>
              </a:ext>
            </a:extLst>
          </p:cNvPr>
          <p:cNvSpPr txBox="1"/>
          <p:nvPr/>
        </p:nvSpPr>
        <p:spPr>
          <a:xfrm>
            <a:off x="1488259" y="1630322"/>
            <a:ext cx="822051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00B050"/>
                </a:solidFill>
              </a:rPr>
              <a:t>Step 1: KV260 Ubuntu</a:t>
            </a:r>
            <a:r>
              <a:rPr lang="ko-KR" altLang="en-US" b="1" dirty="0">
                <a:solidFill>
                  <a:srgbClr val="00B050"/>
                </a:solidFill>
              </a:rPr>
              <a:t>에 접속</a:t>
            </a:r>
            <a:endParaRPr lang="en-US" altLang="ko-KR" b="1" dirty="0">
              <a:solidFill>
                <a:srgbClr val="00B050"/>
              </a:solidFill>
            </a:endParaRPr>
          </a:p>
          <a:p>
            <a:pPr lvl="1"/>
            <a:r>
              <a:rPr lang="en-US" altLang="ko-KR" dirty="0"/>
              <a:t>1.1 SSH</a:t>
            </a:r>
            <a:r>
              <a:rPr lang="ko-KR" altLang="en-US" dirty="0"/>
              <a:t>로 </a:t>
            </a:r>
            <a:r>
              <a:rPr lang="en-US" altLang="ko-KR" dirty="0"/>
              <a:t>KV260</a:t>
            </a:r>
            <a:r>
              <a:rPr lang="ko-KR" altLang="en-US" dirty="0"/>
              <a:t>에 연결</a:t>
            </a:r>
            <a:r>
              <a:rPr lang="en-US" altLang="ko-KR" dirty="0"/>
              <a:t>ssh </a:t>
            </a:r>
            <a:r>
              <a:rPr lang="en-US" altLang="ko-KR" dirty="0">
                <a:hlinkClick r:id="rId2"/>
              </a:rPr>
              <a:t>xilinx@192.168.1.100</a:t>
            </a:r>
            <a:endParaRPr lang="en-US" altLang="ko-KR" dirty="0"/>
          </a:p>
          <a:p>
            <a:pPr lvl="2"/>
            <a:r>
              <a:rPr lang="en-US" altLang="ko-KR" dirty="0"/>
              <a:t>⚠️ KV260</a:t>
            </a:r>
            <a:r>
              <a:rPr lang="ko-KR" altLang="en-US" dirty="0"/>
              <a:t>의 </a:t>
            </a:r>
            <a:r>
              <a:rPr lang="en-US" altLang="ko-KR" dirty="0"/>
              <a:t>IP </a:t>
            </a:r>
            <a:r>
              <a:rPr lang="ko-KR" altLang="en-US" dirty="0"/>
              <a:t>주소는 실제 주소로 변경하세요</a:t>
            </a:r>
            <a:endParaRPr lang="en-US" altLang="ko-KR" dirty="0"/>
          </a:p>
          <a:p>
            <a:pPr lvl="1"/>
            <a:r>
              <a:rPr lang="en-US" altLang="ko-KR" dirty="0"/>
              <a:t>1.2 PYNQ </a:t>
            </a:r>
            <a:r>
              <a:rPr lang="ko-KR" altLang="en-US" dirty="0"/>
              <a:t>패키지 확인</a:t>
            </a:r>
            <a:endParaRPr lang="en-US" altLang="ko-KR" dirty="0"/>
          </a:p>
          <a:p>
            <a:pPr lvl="2"/>
            <a:r>
              <a:rPr lang="en-US" altLang="ko-KR" dirty="0"/>
              <a:t>pip3 install </a:t>
            </a:r>
            <a:r>
              <a:rPr lang="en-US" altLang="ko-KR" dirty="0" err="1"/>
              <a:t>pynq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b="1" dirty="0">
                <a:solidFill>
                  <a:srgbClr val="00B050"/>
                </a:solidFill>
              </a:rPr>
              <a:t>Step 2: </a:t>
            </a:r>
            <a:r>
              <a:rPr lang="ko-KR" altLang="en-US" b="1" dirty="0">
                <a:solidFill>
                  <a:srgbClr val="00B050"/>
                </a:solidFill>
              </a:rPr>
              <a:t>디자인 파일 전송</a:t>
            </a:r>
            <a:endParaRPr lang="en-US" altLang="ko-KR" b="1" dirty="0">
              <a:solidFill>
                <a:srgbClr val="00B050"/>
              </a:solidFill>
            </a:endParaRPr>
          </a:p>
          <a:p>
            <a:pPr lvl="1"/>
            <a:r>
              <a:rPr lang="en-US" altLang="ko-KR" dirty="0"/>
              <a:t>2.1 PC</a:t>
            </a:r>
            <a:r>
              <a:rPr lang="ko-KR" altLang="en-US" dirty="0"/>
              <a:t>에서 </a:t>
            </a:r>
            <a:r>
              <a:rPr lang="en-US" altLang="ko-KR" dirty="0"/>
              <a:t>KV260</a:t>
            </a:r>
            <a:r>
              <a:rPr lang="ko-KR" altLang="en-US" dirty="0"/>
              <a:t>으로 파일 전송</a:t>
            </a:r>
            <a:endParaRPr lang="en-US" altLang="ko-KR" dirty="0"/>
          </a:p>
          <a:p>
            <a:pPr lvl="2"/>
            <a:r>
              <a:rPr lang="en-US" altLang="ko-KR" dirty="0"/>
              <a:t># PC </a:t>
            </a:r>
            <a:r>
              <a:rPr lang="ko-KR" altLang="en-US" dirty="0"/>
              <a:t>터미널에서</a:t>
            </a:r>
            <a:endParaRPr lang="en-US" altLang="ko-KR" dirty="0"/>
          </a:p>
          <a:p>
            <a:pPr lvl="2"/>
            <a:r>
              <a:rPr lang="en-US" altLang="ko-KR" dirty="0" err="1"/>
              <a:t>scp</a:t>
            </a:r>
            <a:r>
              <a:rPr lang="en-US" altLang="ko-KR" dirty="0"/>
              <a:t> kv260_axi_gpio.bit xilinx@192.168.1.100:~/</a:t>
            </a:r>
          </a:p>
          <a:p>
            <a:pPr lvl="2"/>
            <a:r>
              <a:rPr lang="en-US" altLang="ko-KR" dirty="0" err="1"/>
              <a:t>scp</a:t>
            </a:r>
            <a:r>
              <a:rPr lang="en-US" altLang="ko-KR" dirty="0"/>
              <a:t> kv260_axi_gpio.xsa xilinx@192.168.1.100:~/</a:t>
            </a:r>
          </a:p>
          <a:p>
            <a:pPr lvl="1"/>
            <a:r>
              <a:rPr lang="en-US" altLang="ko-KR" dirty="0"/>
              <a:t>2.2 KV260</a:t>
            </a:r>
            <a:r>
              <a:rPr lang="ko-KR" altLang="en-US" dirty="0"/>
              <a:t>에서 확인</a:t>
            </a:r>
            <a:endParaRPr lang="en-US" altLang="ko-KR" dirty="0"/>
          </a:p>
          <a:p>
            <a:pPr lvl="2"/>
            <a:r>
              <a:rPr lang="en-US" altLang="ko-KR" dirty="0"/>
              <a:t>ls -la *.bit *.</a:t>
            </a:r>
            <a:r>
              <a:rPr lang="en-US" altLang="ko-KR" dirty="0" err="1"/>
              <a:t>xsa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78A95B-0D84-CB76-B052-C2473B5DABE4}"/>
              </a:ext>
            </a:extLst>
          </p:cNvPr>
          <p:cNvSpPr txBox="1"/>
          <p:nvPr/>
        </p:nvSpPr>
        <p:spPr>
          <a:xfrm>
            <a:off x="457200" y="1222504"/>
            <a:ext cx="4681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KV260</a:t>
            </a:r>
            <a:r>
              <a:rPr lang="ko-KR" altLang="en-US" b="1" dirty="0"/>
              <a:t>의 </a:t>
            </a:r>
            <a:r>
              <a:rPr lang="en-US" altLang="ko-KR" b="1" dirty="0"/>
              <a:t>Ubuntu</a:t>
            </a:r>
            <a:r>
              <a:rPr lang="ko-KR" altLang="en-US" b="1" dirty="0"/>
              <a:t>에서 </a:t>
            </a:r>
            <a:r>
              <a:rPr lang="en-US" altLang="ko-KR" b="1" dirty="0"/>
              <a:t>Python</a:t>
            </a:r>
            <a:r>
              <a:rPr lang="ko-KR" altLang="en-US" b="1" dirty="0"/>
              <a:t>으로 </a:t>
            </a:r>
            <a:r>
              <a:rPr lang="en-US" altLang="ko-KR" b="1" dirty="0"/>
              <a:t>LED</a:t>
            </a:r>
            <a:r>
              <a:rPr lang="ko-KR" altLang="en-US" b="1" dirty="0"/>
              <a:t>를 제어</a:t>
            </a:r>
            <a:r>
              <a:rPr lang="en-US" altLang="ko-KR" b="1" dirty="0"/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B3716B-DE9A-D780-5CF5-1462E6A76C1B}"/>
              </a:ext>
            </a:extLst>
          </p:cNvPr>
          <p:cNvSpPr txBox="1"/>
          <p:nvPr/>
        </p:nvSpPr>
        <p:spPr>
          <a:xfrm>
            <a:off x="11692703" y="6492240"/>
            <a:ext cx="31611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000" b="0" dirty="0">
                <a:solidFill>
                  <a:srgbClr val="666666"/>
                </a:solidFill>
                <a:latin typeface="Calibri"/>
              </a:rPr>
              <a:t>13</a:t>
            </a:r>
            <a:endParaRPr sz="1000" b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7037EC0-8CBA-ACF4-600E-342F5FB689D5}"/>
              </a:ext>
            </a:extLst>
          </p:cNvPr>
          <p:cNvSpPr/>
          <p:nvPr/>
        </p:nvSpPr>
        <p:spPr>
          <a:xfrm>
            <a:off x="457200" y="6446520"/>
            <a:ext cx="1127729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73DB06-0AC6-DED1-32FD-B1079DB7F7D6}"/>
              </a:ext>
            </a:extLst>
          </p:cNvPr>
          <p:cNvSpPr txBox="1"/>
          <p:nvPr/>
        </p:nvSpPr>
        <p:spPr>
          <a:xfrm>
            <a:off x="457200" y="6492240"/>
            <a:ext cx="326403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dirty="0">
                <a:solidFill>
                  <a:srgbClr val="666666"/>
                </a:solidFill>
                <a:latin typeface="Calibri"/>
              </a:rPr>
              <a:t>Step 0</a:t>
            </a:r>
            <a:r>
              <a:rPr lang="en-US" sz="1000" b="0" dirty="0">
                <a:solidFill>
                  <a:srgbClr val="666666"/>
                </a:solidFill>
                <a:latin typeface="Calibri"/>
              </a:rPr>
              <a:t>3</a:t>
            </a:r>
            <a:r>
              <a:rPr sz="1000" b="0" dirty="0">
                <a:solidFill>
                  <a:srgbClr val="666666"/>
                </a:solidFill>
                <a:latin typeface="Calibri"/>
              </a:rPr>
              <a:t>: </a:t>
            </a:r>
            <a:r>
              <a:rPr lang="en-US" altLang="ko-KR" sz="1000" b="0" dirty="0">
                <a:solidFill>
                  <a:srgbClr val="666666"/>
                </a:solidFill>
                <a:latin typeface="Calibri"/>
              </a:rPr>
              <a:t>AXI GPIO Integration</a:t>
            </a:r>
            <a:r>
              <a:rPr sz="1000" b="0" dirty="0">
                <a:solidFill>
                  <a:srgbClr val="666666"/>
                </a:solidFill>
                <a:latin typeface="Calibri"/>
              </a:rPr>
              <a:t> —</a:t>
            </a:r>
            <a:r>
              <a:rPr lang="en-US" sz="1000" b="0" dirty="0">
                <a:solidFill>
                  <a:srgbClr val="666666"/>
                </a:solidFill>
                <a:latin typeface="Calibri"/>
              </a:rPr>
              <a:t> </a:t>
            </a:r>
            <a:r>
              <a:rPr lang="en-US" sz="1000" dirty="0">
                <a:solidFill>
                  <a:srgbClr val="666666"/>
                </a:solidFill>
                <a:latin typeface="Calibri"/>
              </a:rPr>
              <a:t>PS/PL </a:t>
            </a:r>
            <a:r>
              <a:rPr lang="ko-KR" altLang="en-US" sz="1000" dirty="0">
                <a:solidFill>
                  <a:srgbClr val="666666"/>
                </a:solidFill>
                <a:latin typeface="Calibri"/>
              </a:rPr>
              <a:t>통신 구현 </a:t>
            </a:r>
            <a:r>
              <a:rPr lang="en-US" altLang="ko-KR" sz="1000" dirty="0">
                <a:solidFill>
                  <a:srgbClr val="666666"/>
                </a:solidFill>
                <a:latin typeface="Calibri"/>
              </a:rPr>
              <a:t>LED </a:t>
            </a:r>
            <a:r>
              <a:rPr lang="ko-KR" altLang="en-US" sz="1000" dirty="0">
                <a:solidFill>
                  <a:srgbClr val="666666"/>
                </a:solidFill>
                <a:latin typeface="Calibri"/>
              </a:rPr>
              <a:t>제어</a:t>
            </a:r>
            <a:endParaRPr sz="1000" b="0" dirty="0">
              <a:solidFill>
                <a:srgbClr val="666666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764329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E8E0D24D-67B7-DE3E-3F01-8E068382D584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3B8DF48-83F6-5CD9-81F1-8BA01D17D576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61C827-8200-66A3-CAD3-CDAAB75DCCF3}"/>
              </a:ext>
            </a:extLst>
          </p:cNvPr>
          <p:cNvSpPr txBox="1"/>
          <p:nvPr/>
        </p:nvSpPr>
        <p:spPr>
          <a:xfrm>
            <a:off x="457200" y="309890"/>
            <a:ext cx="1127729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  <a:latin typeface="Calibri"/>
              </a:rPr>
              <a:t>PYNQ</a:t>
            </a:r>
            <a:r>
              <a:rPr lang="ko-KR" altLang="en-US" sz="2800" b="1" dirty="0">
                <a:solidFill>
                  <a:srgbClr val="FFFFFF"/>
                </a:solidFill>
                <a:latin typeface="Calibri"/>
              </a:rPr>
              <a:t>로 </a:t>
            </a:r>
            <a:r>
              <a:rPr lang="en-US" altLang="ko-KR" sz="2800" b="1" dirty="0">
                <a:solidFill>
                  <a:srgbClr val="FFFFFF"/>
                </a:solidFill>
                <a:latin typeface="Calibri"/>
              </a:rPr>
              <a:t>LED </a:t>
            </a:r>
            <a:r>
              <a:rPr lang="ko-KR" altLang="en-US" sz="2800" b="1" dirty="0">
                <a:solidFill>
                  <a:srgbClr val="FFFFFF"/>
                </a:solidFill>
                <a:latin typeface="Calibri"/>
              </a:rPr>
              <a:t>제어 </a:t>
            </a:r>
            <a:r>
              <a:rPr lang="en-US" altLang="ko-KR" sz="2800" b="1" dirty="0">
                <a:solidFill>
                  <a:srgbClr val="FFFFFF"/>
                </a:solidFill>
                <a:latin typeface="Calibri"/>
              </a:rPr>
              <a:t>(Python)</a:t>
            </a:r>
            <a:endParaRPr sz="28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FEEDF3-265E-E813-1E30-AEC4DD75EBC2}"/>
              </a:ext>
            </a:extLst>
          </p:cNvPr>
          <p:cNvSpPr txBox="1"/>
          <p:nvPr/>
        </p:nvSpPr>
        <p:spPr>
          <a:xfrm>
            <a:off x="666605" y="1595949"/>
            <a:ext cx="695212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00B050"/>
                </a:solidFill>
              </a:rPr>
              <a:t>Step 3: </a:t>
            </a:r>
            <a:r>
              <a:rPr lang="en-US" altLang="ko-KR" b="1" dirty="0" err="1">
                <a:solidFill>
                  <a:srgbClr val="00B050"/>
                </a:solidFill>
              </a:rPr>
              <a:t>Jupyter</a:t>
            </a:r>
            <a:r>
              <a:rPr lang="en-US" altLang="ko-KR" b="1" dirty="0">
                <a:solidFill>
                  <a:srgbClr val="00B050"/>
                </a:solidFill>
              </a:rPr>
              <a:t> Notebook</a:t>
            </a:r>
            <a:r>
              <a:rPr lang="ko-KR" altLang="en-US" b="1" dirty="0">
                <a:solidFill>
                  <a:srgbClr val="00B050"/>
                </a:solidFill>
              </a:rPr>
              <a:t>으로 </a:t>
            </a:r>
            <a:r>
              <a:rPr lang="en-US" altLang="ko-KR" b="1" dirty="0">
                <a:solidFill>
                  <a:srgbClr val="00B050"/>
                </a:solidFill>
              </a:rPr>
              <a:t>LED </a:t>
            </a:r>
            <a:r>
              <a:rPr lang="ko-KR" altLang="en-US" b="1" dirty="0">
                <a:solidFill>
                  <a:srgbClr val="00B050"/>
                </a:solidFill>
              </a:rPr>
              <a:t>제어</a:t>
            </a:r>
            <a:endParaRPr lang="en-US" altLang="ko-KR" b="1" dirty="0">
              <a:solidFill>
                <a:srgbClr val="00B050"/>
              </a:solidFill>
            </a:endParaRPr>
          </a:p>
          <a:p>
            <a:pPr lvl="1"/>
            <a:r>
              <a:rPr lang="en-US" altLang="ko-KR" dirty="0"/>
              <a:t>3.1 </a:t>
            </a:r>
            <a:r>
              <a:rPr lang="en-US" altLang="ko-KR" dirty="0" err="1"/>
              <a:t>Jupyter</a:t>
            </a:r>
            <a:r>
              <a:rPr lang="en-US" altLang="ko-KR" dirty="0"/>
              <a:t> Notebook </a:t>
            </a:r>
            <a:r>
              <a:rPr lang="ko-KR" altLang="en-US" dirty="0"/>
              <a:t>실행</a:t>
            </a:r>
            <a:endParaRPr lang="en-US" altLang="ko-KR" dirty="0"/>
          </a:p>
          <a:p>
            <a:pPr lvl="2"/>
            <a:r>
              <a:rPr lang="en-US" altLang="ko-KR" dirty="0"/>
              <a:t>KV260 Ubuntu</a:t>
            </a:r>
            <a:r>
              <a:rPr lang="ko-KR" altLang="en-US" dirty="0"/>
              <a:t>에서</a:t>
            </a:r>
            <a:r>
              <a:rPr lang="en-US" altLang="ko-KR" dirty="0"/>
              <a:t>: </a:t>
            </a:r>
            <a:r>
              <a:rPr lang="en-US" altLang="ko-KR" dirty="0" err="1"/>
              <a:t>jupyter</a:t>
            </a:r>
            <a:r>
              <a:rPr lang="en-US" altLang="ko-KR" dirty="0"/>
              <a:t> notebook --</a:t>
            </a:r>
            <a:r>
              <a:rPr lang="en-US" altLang="ko-KR" dirty="0" err="1"/>
              <a:t>ip</a:t>
            </a:r>
            <a:r>
              <a:rPr lang="en-US" altLang="ko-KR" dirty="0"/>
              <a:t>=0.0.0.0 --port=9090</a:t>
            </a:r>
          </a:p>
          <a:p>
            <a:pPr lvl="2"/>
            <a:endParaRPr lang="en-US" altLang="ko-KR" dirty="0"/>
          </a:p>
          <a:p>
            <a:pPr lvl="1"/>
            <a:r>
              <a:rPr lang="en-US" altLang="ko-KR" dirty="0"/>
              <a:t>3.2 </a:t>
            </a:r>
            <a:r>
              <a:rPr lang="ko-KR" altLang="en-US" dirty="0"/>
              <a:t>브라우저에서 접속</a:t>
            </a:r>
            <a:endParaRPr lang="en-US" altLang="ko-KR" dirty="0"/>
          </a:p>
          <a:p>
            <a:pPr marL="1200150" lvl="2" indent="-285750">
              <a:buFontTx/>
              <a:buChar char="-"/>
            </a:pPr>
            <a:r>
              <a:rPr lang="en-US" altLang="ko-KR" dirty="0"/>
              <a:t>PC </a:t>
            </a:r>
            <a:r>
              <a:rPr lang="ko-KR" altLang="en-US" dirty="0"/>
              <a:t>브라우저에서 </a:t>
            </a:r>
            <a:r>
              <a:rPr lang="en-US" altLang="ko-KR" dirty="0"/>
              <a:t>http://192.168.1.100:9090 </a:t>
            </a:r>
            <a:r>
              <a:rPr lang="ko-KR" altLang="en-US" dirty="0"/>
              <a:t>접속</a:t>
            </a:r>
            <a:endParaRPr lang="en-US" altLang="ko-KR" dirty="0"/>
          </a:p>
          <a:p>
            <a:pPr marL="1200150" lvl="2" indent="-285750">
              <a:buFontTx/>
              <a:buChar char="-"/>
            </a:pPr>
            <a:r>
              <a:rPr lang="ko-KR" altLang="en-US" dirty="0"/>
              <a:t>새 </a:t>
            </a:r>
            <a:r>
              <a:rPr lang="en-US" altLang="ko-KR" dirty="0"/>
              <a:t>Notebook </a:t>
            </a:r>
            <a:r>
              <a:rPr lang="ko-KR" altLang="en-US" dirty="0"/>
              <a:t>생성</a:t>
            </a:r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ko-KR" altLang="en-US" dirty="0"/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5DBB3775-E983-5FCC-D5DF-D67C9CA16885}"/>
              </a:ext>
            </a:extLst>
          </p:cNvPr>
          <p:cNvGrpSpPr/>
          <p:nvPr/>
        </p:nvGrpSpPr>
        <p:grpSpPr>
          <a:xfrm>
            <a:off x="8131629" y="4679941"/>
            <a:ext cx="2286000" cy="835034"/>
            <a:chOff x="8131629" y="4679941"/>
            <a:chExt cx="2286000" cy="835034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C14B220-A106-61AE-3F0A-D083DF94C93F}"/>
                </a:ext>
              </a:extLst>
            </p:cNvPr>
            <p:cNvSpPr/>
            <p:nvPr/>
          </p:nvSpPr>
          <p:spPr>
            <a:xfrm>
              <a:off x="8131629" y="4679941"/>
              <a:ext cx="2286000" cy="835034"/>
            </a:xfrm>
            <a:prstGeom prst="rect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D204D271-B4A1-80A8-E4BC-11803B998C75}"/>
                </a:ext>
              </a:extLst>
            </p:cNvPr>
            <p:cNvSpPr/>
            <p:nvPr/>
          </p:nvSpPr>
          <p:spPr>
            <a:xfrm>
              <a:off x="10033627" y="4747440"/>
              <a:ext cx="318407" cy="327212"/>
            </a:xfrm>
            <a:prstGeom prst="rect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E00CB800-A999-88FE-4B6E-ACBFB87076C9}"/>
                </a:ext>
              </a:extLst>
            </p:cNvPr>
            <p:cNvSpPr/>
            <p:nvPr/>
          </p:nvSpPr>
          <p:spPr>
            <a:xfrm>
              <a:off x="10082333" y="4800096"/>
              <a:ext cx="219555" cy="208694"/>
            </a:xfrm>
            <a:prstGeom prst="rect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1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C5A9ACA6-6074-E193-BD8A-B4F44730BDE0}"/>
                </a:ext>
              </a:extLst>
            </p:cNvPr>
            <p:cNvSpPr/>
            <p:nvPr/>
          </p:nvSpPr>
          <p:spPr>
            <a:xfrm>
              <a:off x="10033627" y="5127308"/>
              <a:ext cx="318407" cy="327212"/>
            </a:xfrm>
            <a:prstGeom prst="rect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92DFC50D-DBC5-7430-C746-47CE636E597C}"/>
                </a:ext>
              </a:extLst>
            </p:cNvPr>
            <p:cNvSpPr/>
            <p:nvPr/>
          </p:nvSpPr>
          <p:spPr>
            <a:xfrm>
              <a:off x="10082333" y="5179964"/>
              <a:ext cx="219555" cy="208694"/>
            </a:xfrm>
            <a:prstGeom prst="rect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2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7AB33DE0-D766-BF51-A2CB-DF798088223D}"/>
                </a:ext>
              </a:extLst>
            </p:cNvPr>
            <p:cNvSpPr/>
            <p:nvPr/>
          </p:nvSpPr>
          <p:spPr>
            <a:xfrm>
              <a:off x="9665074" y="4747440"/>
              <a:ext cx="318407" cy="327212"/>
            </a:xfrm>
            <a:prstGeom prst="rect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00CF378A-9A80-B568-D2F5-6304B057D2AE}"/>
                </a:ext>
              </a:extLst>
            </p:cNvPr>
            <p:cNvSpPr/>
            <p:nvPr/>
          </p:nvSpPr>
          <p:spPr>
            <a:xfrm>
              <a:off x="9713780" y="4800096"/>
              <a:ext cx="219555" cy="208694"/>
            </a:xfrm>
            <a:prstGeom prst="rect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3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0DF4A3D2-C5E0-8C3D-EB45-A8648DD80625}"/>
                </a:ext>
              </a:extLst>
            </p:cNvPr>
            <p:cNvSpPr/>
            <p:nvPr/>
          </p:nvSpPr>
          <p:spPr>
            <a:xfrm>
              <a:off x="9665074" y="5127308"/>
              <a:ext cx="318407" cy="327212"/>
            </a:xfrm>
            <a:prstGeom prst="rect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51D8726E-3028-4B68-181E-B63868C39341}"/>
                </a:ext>
              </a:extLst>
            </p:cNvPr>
            <p:cNvSpPr/>
            <p:nvPr/>
          </p:nvSpPr>
          <p:spPr>
            <a:xfrm>
              <a:off x="9713780" y="5179964"/>
              <a:ext cx="219555" cy="208694"/>
            </a:xfrm>
            <a:prstGeom prst="rect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4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95E911E2-349D-4AAD-22E4-7FB73833C6BE}"/>
                </a:ext>
              </a:extLst>
            </p:cNvPr>
            <p:cNvSpPr/>
            <p:nvPr/>
          </p:nvSpPr>
          <p:spPr>
            <a:xfrm>
              <a:off x="9296521" y="4747440"/>
              <a:ext cx="318407" cy="327212"/>
            </a:xfrm>
            <a:prstGeom prst="rect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5391FB5A-70D5-ED5E-7C64-3CBA8DE525AD}"/>
                </a:ext>
              </a:extLst>
            </p:cNvPr>
            <p:cNvSpPr/>
            <p:nvPr/>
          </p:nvSpPr>
          <p:spPr>
            <a:xfrm>
              <a:off x="9345227" y="4800096"/>
              <a:ext cx="219555" cy="208694"/>
            </a:xfrm>
            <a:prstGeom prst="rect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5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30DA368F-2AB7-042C-85CC-1B4687BA38AD}"/>
                </a:ext>
              </a:extLst>
            </p:cNvPr>
            <p:cNvSpPr/>
            <p:nvPr/>
          </p:nvSpPr>
          <p:spPr>
            <a:xfrm>
              <a:off x="9296521" y="5127308"/>
              <a:ext cx="318407" cy="327212"/>
            </a:xfrm>
            <a:prstGeom prst="rect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6611D22B-18F3-71A5-DFD1-8DCA08AE0B0F}"/>
                </a:ext>
              </a:extLst>
            </p:cNvPr>
            <p:cNvSpPr/>
            <p:nvPr/>
          </p:nvSpPr>
          <p:spPr>
            <a:xfrm>
              <a:off x="9345227" y="5179964"/>
              <a:ext cx="219555" cy="208694"/>
            </a:xfrm>
            <a:prstGeom prst="rect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6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337F6B81-3C51-D8B4-AE72-F31E5F9116CA}"/>
                </a:ext>
              </a:extLst>
            </p:cNvPr>
            <p:cNvSpPr/>
            <p:nvPr/>
          </p:nvSpPr>
          <p:spPr>
            <a:xfrm>
              <a:off x="8927968" y="4747440"/>
              <a:ext cx="318407" cy="327212"/>
            </a:xfrm>
            <a:prstGeom prst="rect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01150ED9-9D26-886B-41CA-A1E4BE31953D}"/>
                </a:ext>
              </a:extLst>
            </p:cNvPr>
            <p:cNvSpPr/>
            <p:nvPr/>
          </p:nvSpPr>
          <p:spPr>
            <a:xfrm>
              <a:off x="8976674" y="4800096"/>
              <a:ext cx="219555" cy="208694"/>
            </a:xfrm>
            <a:prstGeom prst="rect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7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E2E01623-C086-0F1B-B438-3340855C0670}"/>
                </a:ext>
              </a:extLst>
            </p:cNvPr>
            <p:cNvSpPr/>
            <p:nvPr/>
          </p:nvSpPr>
          <p:spPr>
            <a:xfrm>
              <a:off x="8927968" y="5127308"/>
              <a:ext cx="318407" cy="327212"/>
            </a:xfrm>
            <a:prstGeom prst="rect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CD2E4CAF-09D5-6FA4-404C-D597AF9A17C0}"/>
                </a:ext>
              </a:extLst>
            </p:cNvPr>
            <p:cNvSpPr/>
            <p:nvPr/>
          </p:nvSpPr>
          <p:spPr>
            <a:xfrm>
              <a:off x="8976674" y="5179964"/>
              <a:ext cx="219555" cy="208694"/>
            </a:xfrm>
            <a:prstGeom prst="rect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8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5D594232-7C09-F136-85C8-5D5C853E451F}"/>
                </a:ext>
              </a:extLst>
            </p:cNvPr>
            <p:cNvSpPr/>
            <p:nvPr/>
          </p:nvSpPr>
          <p:spPr>
            <a:xfrm>
              <a:off x="8559415" y="4747440"/>
              <a:ext cx="318407" cy="327212"/>
            </a:xfrm>
            <a:prstGeom prst="rect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A66173B4-54B0-8163-D965-38D8352D9A9C}"/>
                </a:ext>
              </a:extLst>
            </p:cNvPr>
            <p:cNvSpPr/>
            <p:nvPr/>
          </p:nvSpPr>
          <p:spPr>
            <a:xfrm>
              <a:off x="8597143" y="4800096"/>
              <a:ext cx="241511" cy="208694"/>
            </a:xfrm>
            <a:prstGeom prst="rect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9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9033955F-5E67-94E5-1DE7-35481CFF01A1}"/>
                </a:ext>
              </a:extLst>
            </p:cNvPr>
            <p:cNvSpPr/>
            <p:nvPr/>
          </p:nvSpPr>
          <p:spPr>
            <a:xfrm>
              <a:off x="8559415" y="5127308"/>
              <a:ext cx="318407" cy="327212"/>
            </a:xfrm>
            <a:prstGeom prst="rect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A1DC578F-864B-41CE-0B06-A557FB6BD8D9}"/>
                </a:ext>
              </a:extLst>
            </p:cNvPr>
            <p:cNvSpPr/>
            <p:nvPr/>
          </p:nvSpPr>
          <p:spPr>
            <a:xfrm>
              <a:off x="8608121" y="5179964"/>
              <a:ext cx="219555" cy="208694"/>
            </a:xfrm>
            <a:prstGeom prst="rect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0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E89F413A-6915-8A4F-D3A4-0CE627ADB664}"/>
                </a:ext>
              </a:extLst>
            </p:cNvPr>
            <p:cNvSpPr/>
            <p:nvPr/>
          </p:nvSpPr>
          <p:spPr>
            <a:xfrm>
              <a:off x="8190862" y="4747440"/>
              <a:ext cx="318407" cy="327212"/>
            </a:xfrm>
            <a:prstGeom prst="rect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BDA4D656-5B48-71AC-BA99-F0759314845E}"/>
                </a:ext>
              </a:extLst>
            </p:cNvPr>
            <p:cNvSpPr/>
            <p:nvPr/>
          </p:nvSpPr>
          <p:spPr>
            <a:xfrm>
              <a:off x="8239568" y="4800096"/>
              <a:ext cx="219555" cy="208694"/>
            </a:xfrm>
            <a:prstGeom prst="rect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P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0FFF3268-9D67-BE25-B34A-6D5E19E212D1}"/>
                </a:ext>
              </a:extLst>
            </p:cNvPr>
            <p:cNvSpPr/>
            <p:nvPr/>
          </p:nvSpPr>
          <p:spPr>
            <a:xfrm>
              <a:off x="8190862" y="5127308"/>
              <a:ext cx="318407" cy="327212"/>
            </a:xfrm>
            <a:prstGeom prst="rect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DF1A25AA-28DE-A3FF-F9F8-5B18ADC14272}"/>
                </a:ext>
              </a:extLst>
            </p:cNvPr>
            <p:cNvSpPr/>
            <p:nvPr/>
          </p:nvSpPr>
          <p:spPr>
            <a:xfrm>
              <a:off x="8239568" y="5179964"/>
              <a:ext cx="219555" cy="208694"/>
            </a:xfrm>
            <a:prstGeom prst="rect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G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762C15DA-D531-F8F6-210B-CF5D3663DA39}"/>
              </a:ext>
            </a:extLst>
          </p:cNvPr>
          <p:cNvSpPr txBox="1"/>
          <p:nvPr/>
        </p:nvSpPr>
        <p:spPr>
          <a:xfrm>
            <a:off x="11692703" y="6492240"/>
            <a:ext cx="31611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000" b="0" dirty="0">
                <a:solidFill>
                  <a:srgbClr val="666666"/>
                </a:solidFill>
                <a:latin typeface="Calibri"/>
              </a:rPr>
              <a:t>14</a:t>
            </a:r>
            <a:endParaRPr sz="1000" b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44" name="Rectangle 11">
            <a:extLst>
              <a:ext uri="{FF2B5EF4-FFF2-40B4-BE49-F238E27FC236}">
                <a16:creationId xmlns:a16="http://schemas.microsoft.com/office/drawing/2014/main" id="{AE16D63B-2C3C-9DA9-72D3-F85C42DF898F}"/>
              </a:ext>
            </a:extLst>
          </p:cNvPr>
          <p:cNvSpPr/>
          <p:nvPr/>
        </p:nvSpPr>
        <p:spPr>
          <a:xfrm>
            <a:off x="457200" y="6446520"/>
            <a:ext cx="1127729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D34D159-E838-581A-AD9E-F409DEBC47BF}"/>
              </a:ext>
            </a:extLst>
          </p:cNvPr>
          <p:cNvSpPr txBox="1"/>
          <p:nvPr/>
        </p:nvSpPr>
        <p:spPr>
          <a:xfrm>
            <a:off x="457200" y="6492240"/>
            <a:ext cx="326403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dirty="0">
                <a:solidFill>
                  <a:srgbClr val="666666"/>
                </a:solidFill>
                <a:latin typeface="Calibri"/>
              </a:rPr>
              <a:t>Step 0</a:t>
            </a:r>
            <a:r>
              <a:rPr lang="en-US" sz="1000" b="0" dirty="0">
                <a:solidFill>
                  <a:srgbClr val="666666"/>
                </a:solidFill>
                <a:latin typeface="Calibri"/>
              </a:rPr>
              <a:t>3</a:t>
            </a:r>
            <a:r>
              <a:rPr sz="1000" b="0" dirty="0">
                <a:solidFill>
                  <a:srgbClr val="666666"/>
                </a:solidFill>
                <a:latin typeface="Calibri"/>
              </a:rPr>
              <a:t>: </a:t>
            </a:r>
            <a:r>
              <a:rPr lang="en-US" altLang="ko-KR" sz="1000" b="0" dirty="0">
                <a:solidFill>
                  <a:srgbClr val="666666"/>
                </a:solidFill>
                <a:latin typeface="Calibri"/>
              </a:rPr>
              <a:t>AXI GPIO Integration</a:t>
            </a:r>
            <a:r>
              <a:rPr sz="1000" b="0" dirty="0">
                <a:solidFill>
                  <a:srgbClr val="666666"/>
                </a:solidFill>
                <a:latin typeface="Calibri"/>
              </a:rPr>
              <a:t> —</a:t>
            </a:r>
            <a:r>
              <a:rPr lang="en-US" sz="1000" b="0" dirty="0">
                <a:solidFill>
                  <a:srgbClr val="666666"/>
                </a:solidFill>
                <a:latin typeface="Calibri"/>
              </a:rPr>
              <a:t> </a:t>
            </a:r>
            <a:r>
              <a:rPr lang="en-US" sz="1000" dirty="0">
                <a:solidFill>
                  <a:srgbClr val="666666"/>
                </a:solidFill>
                <a:latin typeface="Calibri"/>
              </a:rPr>
              <a:t>PS/PL </a:t>
            </a:r>
            <a:r>
              <a:rPr lang="ko-KR" altLang="en-US" sz="1000" dirty="0">
                <a:solidFill>
                  <a:srgbClr val="666666"/>
                </a:solidFill>
                <a:latin typeface="Calibri"/>
              </a:rPr>
              <a:t>통신 구현 </a:t>
            </a:r>
            <a:r>
              <a:rPr lang="en-US" altLang="ko-KR" sz="1000" dirty="0">
                <a:solidFill>
                  <a:srgbClr val="666666"/>
                </a:solidFill>
                <a:latin typeface="Calibri"/>
              </a:rPr>
              <a:t>LED </a:t>
            </a:r>
            <a:r>
              <a:rPr lang="ko-KR" altLang="en-US" sz="1000" dirty="0">
                <a:solidFill>
                  <a:srgbClr val="666666"/>
                </a:solidFill>
                <a:latin typeface="Calibri"/>
              </a:rPr>
              <a:t>제어</a:t>
            </a:r>
            <a:endParaRPr sz="1000" b="0" dirty="0">
              <a:solidFill>
                <a:srgbClr val="666666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756619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11">
            <a:extLst>
              <a:ext uri="{FF2B5EF4-FFF2-40B4-BE49-F238E27FC236}">
                <a16:creationId xmlns:a16="http://schemas.microsoft.com/office/drawing/2014/main" id="{8FAADF53-BCBA-D117-E736-720C7798DE81}"/>
              </a:ext>
            </a:extLst>
          </p:cNvPr>
          <p:cNvSpPr/>
          <p:nvPr/>
        </p:nvSpPr>
        <p:spPr>
          <a:xfrm>
            <a:off x="457200" y="1512332"/>
            <a:ext cx="11277295" cy="4774168"/>
          </a:xfrm>
          <a:prstGeom prst="roundRect">
            <a:avLst>
              <a:gd name="adj" fmla="val 2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AEE1B39-8140-775D-A55D-5E03E78986BD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C77703D-EABC-E15A-6CB9-74D34E4E0F80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57048D-E8A3-1667-B35C-59859E94015F}"/>
              </a:ext>
            </a:extLst>
          </p:cNvPr>
          <p:cNvSpPr txBox="1"/>
          <p:nvPr/>
        </p:nvSpPr>
        <p:spPr>
          <a:xfrm>
            <a:off x="457200" y="309890"/>
            <a:ext cx="1127729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  <a:latin typeface="Calibri"/>
              </a:rPr>
              <a:t>PYNQ</a:t>
            </a:r>
            <a:r>
              <a:rPr lang="ko-KR" altLang="en-US" sz="2800" b="1" dirty="0">
                <a:solidFill>
                  <a:srgbClr val="FFFFFF"/>
                </a:solidFill>
                <a:latin typeface="Calibri"/>
              </a:rPr>
              <a:t>로 </a:t>
            </a:r>
            <a:r>
              <a:rPr lang="en-US" altLang="ko-KR" sz="2800" b="1" dirty="0">
                <a:solidFill>
                  <a:srgbClr val="FFFFFF"/>
                </a:solidFill>
                <a:latin typeface="Calibri"/>
              </a:rPr>
              <a:t>LED </a:t>
            </a:r>
            <a:r>
              <a:rPr lang="ko-KR" altLang="en-US" sz="2800" b="1" dirty="0">
                <a:solidFill>
                  <a:srgbClr val="FFFFFF"/>
                </a:solidFill>
                <a:latin typeface="Calibri"/>
              </a:rPr>
              <a:t>제어 </a:t>
            </a:r>
            <a:r>
              <a:rPr lang="en-US" altLang="ko-KR" sz="2800" b="1" dirty="0">
                <a:solidFill>
                  <a:srgbClr val="FFFFFF"/>
                </a:solidFill>
                <a:latin typeface="Calibri"/>
              </a:rPr>
              <a:t>(Python)</a:t>
            </a:r>
            <a:endParaRPr sz="28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517B1E-F7F4-656F-7CBA-432C74E0B805}"/>
              </a:ext>
            </a:extLst>
          </p:cNvPr>
          <p:cNvSpPr txBox="1"/>
          <p:nvPr/>
        </p:nvSpPr>
        <p:spPr>
          <a:xfrm>
            <a:off x="242047" y="1143000"/>
            <a:ext cx="69521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ko-KR" dirty="0"/>
              <a:t>3.3 LED </a:t>
            </a:r>
            <a:r>
              <a:rPr lang="ko-KR" altLang="en-US" dirty="0"/>
              <a:t>제어 코드</a:t>
            </a:r>
            <a:endParaRPr lang="en-US" altLang="ko-K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905186-C484-C935-3F1F-0BB879FED106}"/>
              </a:ext>
            </a:extLst>
          </p:cNvPr>
          <p:cNvSpPr txBox="1"/>
          <p:nvPr/>
        </p:nvSpPr>
        <p:spPr>
          <a:xfrm>
            <a:off x="242047" y="2129701"/>
            <a:ext cx="5561779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2"/>
            <a:r>
              <a:rPr lang="en-US" altLang="ko-KR" sz="1600" dirty="0">
                <a:solidFill>
                  <a:schemeClr val="bg1"/>
                </a:solidFill>
              </a:rPr>
              <a:t>from </a:t>
            </a:r>
            <a:r>
              <a:rPr lang="en-US" altLang="ko-KR" sz="1600" dirty="0" err="1">
                <a:solidFill>
                  <a:schemeClr val="bg1"/>
                </a:solidFill>
              </a:rPr>
              <a:t>pynq</a:t>
            </a:r>
            <a:r>
              <a:rPr lang="en-US" altLang="ko-KR" sz="1600" dirty="0">
                <a:solidFill>
                  <a:schemeClr val="bg1"/>
                </a:solidFill>
              </a:rPr>
              <a:t> import Overlay</a:t>
            </a:r>
          </a:p>
          <a:p>
            <a:pPr lvl="2"/>
            <a:r>
              <a:rPr lang="en-US" altLang="ko-KR" sz="1600" dirty="0">
                <a:solidFill>
                  <a:schemeClr val="bg1"/>
                </a:solidFill>
              </a:rPr>
              <a:t>import time</a:t>
            </a:r>
          </a:p>
          <a:p>
            <a:pPr lvl="2"/>
            <a:endParaRPr lang="en-US" altLang="ko-KR" sz="1600" dirty="0">
              <a:solidFill>
                <a:schemeClr val="bg1"/>
              </a:solidFill>
            </a:endParaRPr>
          </a:p>
          <a:p>
            <a:pPr lvl="2"/>
            <a:r>
              <a:rPr lang="en-US" altLang="ko-KR" sz="1600" dirty="0">
                <a:solidFill>
                  <a:schemeClr val="bg1"/>
                </a:solidFill>
              </a:rPr>
              <a:t># 1. Overlay </a:t>
            </a:r>
            <a:r>
              <a:rPr lang="ko-KR" altLang="en-US" sz="1600" dirty="0">
                <a:solidFill>
                  <a:schemeClr val="bg1"/>
                </a:solidFill>
              </a:rPr>
              <a:t>로드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lvl="2"/>
            <a:r>
              <a:rPr lang="en-US" altLang="ko-KR" sz="1600" dirty="0">
                <a:solidFill>
                  <a:schemeClr val="bg1"/>
                </a:solidFill>
              </a:rPr>
              <a:t>overlay = Overlay('/home/</a:t>
            </a:r>
            <a:r>
              <a:rPr lang="en-US" altLang="ko-KR" sz="1600" dirty="0" err="1">
                <a:solidFill>
                  <a:schemeClr val="bg1"/>
                </a:solidFill>
              </a:rPr>
              <a:t>xilinx</a:t>
            </a:r>
            <a:r>
              <a:rPr lang="en-US" altLang="ko-KR" sz="1600" dirty="0">
                <a:solidFill>
                  <a:schemeClr val="bg1"/>
                </a:solidFill>
              </a:rPr>
              <a:t>/kv260_axi_gpio.bit’)</a:t>
            </a:r>
          </a:p>
          <a:p>
            <a:pPr lvl="2"/>
            <a:endParaRPr lang="en-US" altLang="ko-KR" sz="1600" dirty="0">
              <a:solidFill>
                <a:schemeClr val="bg1"/>
              </a:solidFill>
            </a:endParaRPr>
          </a:p>
          <a:p>
            <a:pPr lvl="2"/>
            <a:r>
              <a:rPr lang="en-US" altLang="ko-KR" sz="1600" dirty="0">
                <a:solidFill>
                  <a:schemeClr val="bg1"/>
                </a:solidFill>
              </a:rPr>
              <a:t># 2. AXI GPIO </a:t>
            </a:r>
            <a:r>
              <a:rPr lang="ko-KR" altLang="en-US" sz="1600" dirty="0">
                <a:solidFill>
                  <a:schemeClr val="bg1"/>
                </a:solidFill>
              </a:rPr>
              <a:t>접근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lvl="2"/>
            <a:r>
              <a:rPr lang="en-US" altLang="ko-KR" sz="1600" dirty="0" err="1">
                <a:solidFill>
                  <a:schemeClr val="bg1"/>
                </a:solidFill>
              </a:rPr>
              <a:t>led_gpio</a:t>
            </a:r>
            <a:r>
              <a:rPr lang="en-US" altLang="ko-KR" sz="1600" dirty="0">
                <a:solidFill>
                  <a:schemeClr val="bg1"/>
                </a:solidFill>
              </a:rPr>
              <a:t> = overlay.axi_gpio_0.channel1</a:t>
            </a:r>
          </a:p>
          <a:p>
            <a:pPr lvl="2"/>
            <a:endParaRPr lang="en-US" altLang="ko-KR" sz="1600" dirty="0">
              <a:solidFill>
                <a:schemeClr val="bg1"/>
              </a:solidFill>
            </a:endParaRPr>
          </a:p>
          <a:p>
            <a:pPr lvl="2"/>
            <a:r>
              <a:rPr lang="en-US" altLang="ko-KR" sz="1600" dirty="0">
                <a:solidFill>
                  <a:schemeClr val="bg1"/>
                </a:solidFill>
              </a:rPr>
              <a:t># 3. LED </a:t>
            </a:r>
            <a:r>
              <a:rPr lang="ko-KR" altLang="en-US" sz="1600" dirty="0">
                <a:solidFill>
                  <a:schemeClr val="bg1"/>
                </a:solidFill>
              </a:rPr>
              <a:t>제어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lvl="2"/>
            <a:r>
              <a:rPr lang="en-US" altLang="ko-KR" sz="1600" dirty="0" err="1">
                <a:solidFill>
                  <a:schemeClr val="bg1"/>
                </a:solidFill>
              </a:rPr>
              <a:t>led_gpio.write</a:t>
            </a:r>
            <a:r>
              <a:rPr lang="en-US" altLang="ko-KR" sz="1600" dirty="0">
                <a:solidFill>
                  <a:schemeClr val="bg1"/>
                </a:solidFill>
              </a:rPr>
              <a:t>(</a:t>
            </a:r>
            <a:r>
              <a:rPr lang="ko-KR" altLang="en-US" sz="1600" dirty="0">
                <a:solidFill>
                  <a:schemeClr val="bg1"/>
                </a:solidFill>
              </a:rPr>
              <a:t>１</a:t>
            </a:r>
            <a:r>
              <a:rPr lang="en-US" altLang="ko-KR" sz="1600" dirty="0">
                <a:solidFill>
                  <a:schemeClr val="bg1"/>
                </a:solidFill>
              </a:rPr>
              <a:t>, 0xF)  # </a:t>
            </a:r>
            <a:r>
              <a:rPr lang="ko-KR" altLang="en-US" sz="1600" dirty="0">
                <a:solidFill>
                  <a:schemeClr val="bg1"/>
                </a:solidFill>
              </a:rPr>
              <a:t>모든 </a:t>
            </a:r>
            <a:r>
              <a:rPr lang="en-US" altLang="ko-KR" sz="1600" dirty="0">
                <a:solidFill>
                  <a:schemeClr val="bg1"/>
                </a:solidFill>
              </a:rPr>
              <a:t>LED </a:t>
            </a:r>
            <a:r>
              <a:rPr lang="ko-KR" altLang="en-US" sz="1600" dirty="0">
                <a:solidFill>
                  <a:schemeClr val="bg1"/>
                </a:solidFill>
              </a:rPr>
              <a:t>켜기 </a:t>
            </a:r>
            <a:r>
              <a:rPr lang="en-US" altLang="ko-KR" sz="1600" dirty="0">
                <a:solidFill>
                  <a:schemeClr val="bg1"/>
                </a:solidFill>
              </a:rPr>
              <a:t>(0xF = 1111)</a:t>
            </a:r>
          </a:p>
          <a:p>
            <a:pPr lvl="2"/>
            <a:r>
              <a:rPr lang="en-US" altLang="ko-KR" sz="1600" dirty="0" err="1">
                <a:solidFill>
                  <a:schemeClr val="bg1"/>
                </a:solidFill>
              </a:rPr>
              <a:t>time.sleep</a:t>
            </a:r>
            <a:r>
              <a:rPr lang="en-US" altLang="ko-KR" sz="1600" dirty="0">
                <a:solidFill>
                  <a:schemeClr val="bg1"/>
                </a:solidFill>
              </a:rPr>
              <a:t>(1)</a:t>
            </a:r>
          </a:p>
          <a:p>
            <a:pPr lvl="2"/>
            <a:r>
              <a:rPr lang="en-US" altLang="ko-KR" sz="1600" dirty="0" err="1">
                <a:solidFill>
                  <a:schemeClr val="bg1"/>
                </a:solidFill>
              </a:rPr>
              <a:t>led_gpio.write</a:t>
            </a:r>
            <a:r>
              <a:rPr lang="en-US" altLang="ko-KR" sz="1600" dirty="0">
                <a:solidFill>
                  <a:schemeClr val="bg1"/>
                </a:solidFill>
              </a:rPr>
              <a:t>(</a:t>
            </a:r>
            <a:r>
              <a:rPr lang="ko-KR" altLang="en-US" sz="1600" dirty="0">
                <a:solidFill>
                  <a:schemeClr val="bg1"/>
                </a:solidFill>
              </a:rPr>
              <a:t>１</a:t>
            </a:r>
            <a:r>
              <a:rPr lang="en-US" altLang="ko-KR" sz="1600" dirty="0">
                <a:solidFill>
                  <a:schemeClr val="bg1"/>
                </a:solidFill>
              </a:rPr>
              <a:t>, 0x0)  # </a:t>
            </a:r>
            <a:r>
              <a:rPr lang="ko-KR" altLang="en-US" sz="1600" dirty="0">
                <a:solidFill>
                  <a:schemeClr val="bg1"/>
                </a:solidFill>
              </a:rPr>
              <a:t>모든 </a:t>
            </a:r>
            <a:r>
              <a:rPr lang="en-US" altLang="ko-KR" sz="1600" dirty="0">
                <a:solidFill>
                  <a:schemeClr val="bg1"/>
                </a:solidFill>
              </a:rPr>
              <a:t>LED </a:t>
            </a:r>
            <a:r>
              <a:rPr lang="ko-KR" altLang="en-US" sz="1600" dirty="0">
                <a:solidFill>
                  <a:schemeClr val="bg1"/>
                </a:solidFill>
              </a:rPr>
              <a:t>끄기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lvl="2"/>
            <a:r>
              <a:rPr lang="en-US" altLang="ko-KR" sz="1600" dirty="0" err="1">
                <a:solidFill>
                  <a:schemeClr val="bg1"/>
                </a:solidFill>
              </a:rPr>
              <a:t>time.sleep</a:t>
            </a:r>
            <a:r>
              <a:rPr lang="en-US" altLang="ko-KR" sz="1600" dirty="0">
                <a:solidFill>
                  <a:schemeClr val="bg1"/>
                </a:solidFill>
              </a:rPr>
              <a:t>(1)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BC7438-FB9B-3D65-3EAC-07205FF20237}"/>
              </a:ext>
            </a:extLst>
          </p:cNvPr>
          <p:cNvSpPr txBox="1"/>
          <p:nvPr/>
        </p:nvSpPr>
        <p:spPr>
          <a:xfrm>
            <a:off x="5349689" y="2129701"/>
            <a:ext cx="4503797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2"/>
            <a:r>
              <a:rPr lang="en-US" altLang="ko-KR" sz="1600" dirty="0">
                <a:solidFill>
                  <a:schemeClr val="bg1"/>
                </a:solidFill>
              </a:rPr>
              <a:t># 4. </a:t>
            </a:r>
            <a:r>
              <a:rPr lang="ko-KR" altLang="en-US" sz="1600" dirty="0">
                <a:solidFill>
                  <a:schemeClr val="bg1"/>
                </a:solidFill>
              </a:rPr>
              <a:t>개별 </a:t>
            </a:r>
            <a:r>
              <a:rPr lang="en-US" altLang="ko-KR" sz="1600" dirty="0">
                <a:solidFill>
                  <a:schemeClr val="bg1"/>
                </a:solidFill>
              </a:rPr>
              <a:t>LED </a:t>
            </a:r>
            <a:r>
              <a:rPr lang="ko-KR" altLang="en-US" sz="1600" dirty="0">
                <a:solidFill>
                  <a:schemeClr val="bg1"/>
                </a:solidFill>
              </a:rPr>
              <a:t>제어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lvl="2"/>
            <a:r>
              <a:rPr lang="en-US" altLang="ko-KR" sz="1600" dirty="0" err="1">
                <a:solidFill>
                  <a:schemeClr val="bg1"/>
                </a:solidFill>
              </a:rPr>
              <a:t>led_gpio.write</a:t>
            </a:r>
            <a:r>
              <a:rPr lang="en-US" altLang="ko-KR" sz="1600" dirty="0">
                <a:solidFill>
                  <a:schemeClr val="bg1"/>
                </a:solidFill>
              </a:rPr>
              <a:t>(</a:t>
            </a:r>
            <a:r>
              <a:rPr lang="ko-KR" altLang="en-US" sz="1600" dirty="0">
                <a:solidFill>
                  <a:schemeClr val="bg1"/>
                </a:solidFill>
              </a:rPr>
              <a:t>１</a:t>
            </a:r>
            <a:r>
              <a:rPr lang="en-US" altLang="ko-KR" sz="1600" dirty="0">
                <a:solidFill>
                  <a:schemeClr val="bg1"/>
                </a:solidFill>
              </a:rPr>
              <a:t>, 0x1)  # LED0 </a:t>
            </a:r>
            <a:r>
              <a:rPr lang="ko-KR" altLang="en-US" sz="1600" dirty="0">
                <a:solidFill>
                  <a:schemeClr val="bg1"/>
                </a:solidFill>
              </a:rPr>
              <a:t>만 켜기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lvl="2"/>
            <a:r>
              <a:rPr lang="en-US" altLang="ko-KR" sz="1600" dirty="0" err="1">
                <a:solidFill>
                  <a:schemeClr val="bg1"/>
                </a:solidFill>
              </a:rPr>
              <a:t>time.sleep</a:t>
            </a:r>
            <a:r>
              <a:rPr lang="en-US" altLang="ko-KR" sz="1600" dirty="0">
                <a:solidFill>
                  <a:schemeClr val="bg1"/>
                </a:solidFill>
              </a:rPr>
              <a:t>(0.5)</a:t>
            </a:r>
          </a:p>
          <a:p>
            <a:pPr lvl="2"/>
            <a:r>
              <a:rPr lang="en-US" altLang="ko-KR" sz="1600" dirty="0" err="1">
                <a:solidFill>
                  <a:schemeClr val="bg1"/>
                </a:solidFill>
              </a:rPr>
              <a:t>led_gpio.write</a:t>
            </a:r>
            <a:r>
              <a:rPr lang="en-US" altLang="ko-KR" sz="1600" dirty="0">
                <a:solidFill>
                  <a:schemeClr val="bg1"/>
                </a:solidFill>
              </a:rPr>
              <a:t>(</a:t>
            </a:r>
            <a:r>
              <a:rPr lang="ko-KR" altLang="en-US" sz="1600" dirty="0">
                <a:solidFill>
                  <a:schemeClr val="bg1"/>
                </a:solidFill>
              </a:rPr>
              <a:t>１</a:t>
            </a:r>
            <a:r>
              <a:rPr lang="en-US" altLang="ko-KR" sz="1600" dirty="0">
                <a:solidFill>
                  <a:schemeClr val="bg1"/>
                </a:solidFill>
              </a:rPr>
              <a:t>, 0x2)  # LED1 </a:t>
            </a:r>
            <a:r>
              <a:rPr lang="ko-KR" altLang="en-US" sz="1600" dirty="0">
                <a:solidFill>
                  <a:schemeClr val="bg1"/>
                </a:solidFill>
              </a:rPr>
              <a:t>만 켜기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lvl="2"/>
            <a:r>
              <a:rPr lang="en-US" altLang="ko-KR" sz="1600" dirty="0" err="1">
                <a:solidFill>
                  <a:schemeClr val="bg1"/>
                </a:solidFill>
              </a:rPr>
              <a:t>time.sleep</a:t>
            </a:r>
            <a:r>
              <a:rPr lang="en-US" altLang="ko-KR" sz="1600" dirty="0">
                <a:solidFill>
                  <a:schemeClr val="bg1"/>
                </a:solidFill>
              </a:rPr>
              <a:t>(0.5)</a:t>
            </a:r>
          </a:p>
          <a:p>
            <a:pPr lvl="2"/>
            <a:r>
              <a:rPr lang="en-US" altLang="ko-KR" sz="1600" dirty="0" err="1">
                <a:solidFill>
                  <a:schemeClr val="bg1"/>
                </a:solidFill>
              </a:rPr>
              <a:t>led_gpio.write</a:t>
            </a:r>
            <a:r>
              <a:rPr lang="en-US" altLang="ko-KR" sz="1600" dirty="0">
                <a:solidFill>
                  <a:schemeClr val="bg1"/>
                </a:solidFill>
              </a:rPr>
              <a:t>(</a:t>
            </a:r>
            <a:r>
              <a:rPr lang="ko-KR" altLang="en-US" sz="1600" dirty="0">
                <a:solidFill>
                  <a:schemeClr val="bg1"/>
                </a:solidFill>
              </a:rPr>
              <a:t>１</a:t>
            </a:r>
            <a:r>
              <a:rPr lang="en-US" altLang="ko-KR" sz="1600" dirty="0">
                <a:solidFill>
                  <a:schemeClr val="bg1"/>
                </a:solidFill>
              </a:rPr>
              <a:t>, 0x4)  # LED2 </a:t>
            </a:r>
            <a:r>
              <a:rPr lang="ko-KR" altLang="en-US" sz="1600" dirty="0">
                <a:solidFill>
                  <a:schemeClr val="bg1"/>
                </a:solidFill>
              </a:rPr>
              <a:t>만 켜기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lvl="2"/>
            <a:r>
              <a:rPr lang="en-US" altLang="ko-KR" sz="1600" dirty="0" err="1">
                <a:solidFill>
                  <a:schemeClr val="bg1"/>
                </a:solidFill>
              </a:rPr>
              <a:t>time.sleep</a:t>
            </a:r>
            <a:r>
              <a:rPr lang="en-US" altLang="ko-KR" sz="1600" dirty="0">
                <a:solidFill>
                  <a:schemeClr val="bg1"/>
                </a:solidFill>
              </a:rPr>
              <a:t>(0.5)</a:t>
            </a:r>
          </a:p>
          <a:p>
            <a:pPr lvl="2"/>
            <a:r>
              <a:rPr lang="en-US" altLang="ko-KR" sz="1600" dirty="0" err="1">
                <a:solidFill>
                  <a:schemeClr val="bg1"/>
                </a:solidFill>
              </a:rPr>
              <a:t>led_gpio.write</a:t>
            </a:r>
            <a:r>
              <a:rPr lang="en-US" altLang="ko-KR" sz="1600" dirty="0">
                <a:solidFill>
                  <a:schemeClr val="bg1"/>
                </a:solidFill>
              </a:rPr>
              <a:t>(</a:t>
            </a:r>
            <a:r>
              <a:rPr lang="ko-KR" altLang="en-US" sz="1600" dirty="0">
                <a:solidFill>
                  <a:schemeClr val="bg1"/>
                </a:solidFill>
              </a:rPr>
              <a:t>１</a:t>
            </a:r>
            <a:r>
              <a:rPr lang="en-US" altLang="ko-KR" sz="1600" dirty="0">
                <a:solidFill>
                  <a:schemeClr val="bg1"/>
                </a:solidFill>
              </a:rPr>
              <a:t>, 0x8)  # LED3 </a:t>
            </a:r>
            <a:r>
              <a:rPr lang="ko-KR" altLang="en-US" sz="1600" dirty="0">
                <a:solidFill>
                  <a:schemeClr val="bg1"/>
                </a:solidFill>
              </a:rPr>
              <a:t>만 켜기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lvl="2"/>
            <a:endParaRPr lang="en-US" altLang="ko-KR" sz="1600" dirty="0">
              <a:solidFill>
                <a:schemeClr val="bg1"/>
              </a:solidFill>
            </a:endParaRPr>
          </a:p>
          <a:p>
            <a:pPr lvl="2"/>
            <a:r>
              <a:rPr lang="en-US" altLang="ko-KR" sz="1600" dirty="0">
                <a:solidFill>
                  <a:schemeClr val="bg1"/>
                </a:solidFill>
              </a:rPr>
              <a:t># 5. LED </a:t>
            </a:r>
            <a:r>
              <a:rPr lang="ko-KR" altLang="en-US" sz="1600" dirty="0">
                <a:solidFill>
                  <a:schemeClr val="bg1"/>
                </a:solidFill>
              </a:rPr>
              <a:t>상태 읽기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lvl="2"/>
            <a:r>
              <a:rPr lang="en-US" altLang="ko-KR" sz="1600" dirty="0">
                <a:solidFill>
                  <a:schemeClr val="bg1"/>
                </a:solidFill>
              </a:rPr>
              <a:t>status = </a:t>
            </a:r>
            <a:r>
              <a:rPr lang="en-US" altLang="ko-KR" sz="1600" dirty="0" err="1">
                <a:solidFill>
                  <a:schemeClr val="bg1"/>
                </a:solidFill>
              </a:rPr>
              <a:t>led_gpio.read</a:t>
            </a:r>
            <a:r>
              <a:rPr lang="en-US" altLang="ko-KR" sz="1600" dirty="0">
                <a:solidFill>
                  <a:schemeClr val="bg1"/>
                </a:solidFill>
              </a:rPr>
              <a:t>()</a:t>
            </a:r>
          </a:p>
          <a:p>
            <a:pPr lvl="2"/>
            <a:r>
              <a:rPr lang="en-US" altLang="ko-KR" sz="1600" dirty="0">
                <a:solidFill>
                  <a:schemeClr val="bg1"/>
                </a:solidFill>
              </a:rPr>
              <a:t>print(</a:t>
            </a:r>
            <a:r>
              <a:rPr lang="en-US" altLang="ko-KR" sz="1600" dirty="0" err="1">
                <a:solidFill>
                  <a:schemeClr val="bg1"/>
                </a:solidFill>
              </a:rPr>
              <a:t>f"LED</a:t>
            </a:r>
            <a:r>
              <a:rPr lang="en-US" altLang="ko-KR" sz="1600" dirty="0">
                <a:solidFill>
                  <a:schemeClr val="bg1"/>
                </a:solidFill>
              </a:rPr>
              <a:t> Status: {status:04b}")</a:t>
            </a:r>
            <a:endParaRPr lang="ko-KR" altLang="en-US" sz="4000" dirty="0">
              <a:solidFill>
                <a:schemeClr val="bg1"/>
              </a:solidFill>
            </a:endParaRPr>
          </a:p>
        </p:txBody>
      </p:sp>
      <p:sp>
        <p:nvSpPr>
          <p:cNvPr id="11" name="Rounded Rectangle 12">
            <a:extLst>
              <a:ext uri="{FF2B5EF4-FFF2-40B4-BE49-F238E27FC236}">
                <a16:creationId xmlns:a16="http://schemas.microsoft.com/office/drawing/2014/main" id="{EE1D39C8-1021-1D57-55D2-D2F38304B5C8}"/>
              </a:ext>
            </a:extLst>
          </p:cNvPr>
          <p:cNvSpPr/>
          <p:nvPr/>
        </p:nvSpPr>
        <p:spPr>
          <a:xfrm>
            <a:off x="10682935" y="1640184"/>
            <a:ext cx="914400" cy="148930"/>
          </a:xfrm>
          <a:prstGeom prst="roundRect">
            <a:avLst>
              <a:gd name="adj" fmla="val 15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900" dirty="0">
                <a:solidFill>
                  <a:srgbClr val="888888"/>
                </a:solidFill>
                <a:latin typeface="Calibri"/>
              </a:rPr>
              <a:t>code</a:t>
            </a:r>
            <a:endParaRPr sz="900" b="0" dirty="0">
              <a:solidFill>
                <a:srgbClr val="888888"/>
              </a:solidFill>
              <a:latin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495312-67FF-B14F-4B67-717F694BD04A}"/>
              </a:ext>
            </a:extLst>
          </p:cNvPr>
          <p:cNvSpPr txBox="1"/>
          <p:nvPr/>
        </p:nvSpPr>
        <p:spPr>
          <a:xfrm>
            <a:off x="11692703" y="6492240"/>
            <a:ext cx="31611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000" b="0" dirty="0">
                <a:solidFill>
                  <a:srgbClr val="666666"/>
                </a:solidFill>
                <a:latin typeface="Calibri"/>
              </a:rPr>
              <a:t>15</a:t>
            </a:r>
            <a:endParaRPr sz="1000" b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EDB1C309-6614-4A88-314C-48B2818B819C}"/>
              </a:ext>
            </a:extLst>
          </p:cNvPr>
          <p:cNvSpPr/>
          <p:nvPr/>
        </p:nvSpPr>
        <p:spPr>
          <a:xfrm>
            <a:off x="457200" y="6446520"/>
            <a:ext cx="1127729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DFFBD1-1912-E89C-3968-BF9EA32E0933}"/>
              </a:ext>
            </a:extLst>
          </p:cNvPr>
          <p:cNvSpPr txBox="1"/>
          <p:nvPr/>
        </p:nvSpPr>
        <p:spPr>
          <a:xfrm>
            <a:off x="457200" y="6492240"/>
            <a:ext cx="326403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dirty="0">
                <a:solidFill>
                  <a:srgbClr val="666666"/>
                </a:solidFill>
                <a:latin typeface="Calibri"/>
              </a:rPr>
              <a:t>Step 0</a:t>
            </a:r>
            <a:r>
              <a:rPr lang="en-US" sz="1000" b="0" dirty="0">
                <a:solidFill>
                  <a:srgbClr val="666666"/>
                </a:solidFill>
                <a:latin typeface="Calibri"/>
              </a:rPr>
              <a:t>3</a:t>
            </a:r>
            <a:r>
              <a:rPr sz="1000" b="0" dirty="0">
                <a:solidFill>
                  <a:srgbClr val="666666"/>
                </a:solidFill>
                <a:latin typeface="Calibri"/>
              </a:rPr>
              <a:t>: </a:t>
            </a:r>
            <a:r>
              <a:rPr lang="en-US" altLang="ko-KR" sz="1000" b="0" dirty="0">
                <a:solidFill>
                  <a:srgbClr val="666666"/>
                </a:solidFill>
                <a:latin typeface="Calibri"/>
              </a:rPr>
              <a:t>AXI GPIO Integration</a:t>
            </a:r>
            <a:r>
              <a:rPr sz="1000" b="0" dirty="0">
                <a:solidFill>
                  <a:srgbClr val="666666"/>
                </a:solidFill>
                <a:latin typeface="Calibri"/>
              </a:rPr>
              <a:t> —</a:t>
            </a:r>
            <a:r>
              <a:rPr lang="en-US" sz="1000" b="0" dirty="0">
                <a:solidFill>
                  <a:srgbClr val="666666"/>
                </a:solidFill>
                <a:latin typeface="Calibri"/>
              </a:rPr>
              <a:t> </a:t>
            </a:r>
            <a:r>
              <a:rPr lang="en-US" sz="1000" dirty="0">
                <a:solidFill>
                  <a:srgbClr val="666666"/>
                </a:solidFill>
                <a:latin typeface="Calibri"/>
              </a:rPr>
              <a:t>PS/PL </a:t>
            </a:r>
            <a:r>
              <a:rPr lang="ko-KR" altLang="en-US" sz="1000" dirty="0">
                <a:solidFill>
                  <a:srgbClr val="666666"/>
                </a:solidFill>
                <a:latin typeface="Calibri"/>
              </a:rPr>
              <a:t>통신 구현 </a:t>
            </a:r>
            <a:r>
              <a:rPr lang="en-US" altLang="ko-KR" sz="1000" dirty="0">
                <a:solidFill>
                  <a:srgbClr val="666666"/>
                </a:solidFill>
                <a:latin typeface="Calibri"/>
              </a:rPr>
              <a:t>LED </a:t>
            </a:r>
            <a:r>
              <a:rPr lang="ko-KR" altLang="en-US" sz="1000" dirty="0">
                <a:solidFill>
                  <a:srgbClr val="666666"/>
                </a:solidFill>
                <a:latin typeface="Calibri"/>
              </a:rPr>
              <a:t>제어</a:t>
            </a:r>
            <a:endParaRPr sz="1000" b="0" dirty="0">
              <a:solidFill>
                <a:srgbClr val="666666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60758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1">
            <a:extLst>
              <a:ext uri="{FF2B5EF4-FFF2-40B4-BE49-F238E27FC236}">
                <a16:creationId xmlns:a16="http://schemas.microsoft.com/office/drawing/2014/main" id="{AE97C431-5437-BAA1-20C3-24B05D402910}"/>
              </a:ext>
            </a:extLst>
          </p:cNvPr>
          <p:cNvSpPr/>
          <p:nvPr/>
        </p:nvSpPr>
        <p:spPr>
          <a:xfrm>
            <a:off x="5779994" y="2003614"/>
            <a:ext cx="5401235" cy="3411618"/>
          </a:xfrm>
          <a:prstGeom prst="roundRect">
            <a:avLst>
              <a:gd name="adj" fmla="val 2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11">
            <a:extLst>
              <a:ext uri="{FF2B5EF4-FFF2-40B4-BE49-F238E27FC236}">
                <a16:creationId xmlns:a16="http://schemas.microsoft.com/office/drawing/2014/main" id="{CCA60C18-7B6C-36D9-4944-F0501FB4CE60}"/>
              </a:ext>
            </a:extLst>
          </p:cNvPr>
          <p:cNvSpPr/>
          <p:nvPr/>
        </p:nvSpPr>
        <p:spPr>
          <a:xfrm>
            <a:off x="945777" y="2003614"/>
            <a:ext cx="4601135" cy="3411618"/>
          </a:xfrm>
          <a:prstGeom prst="roundRect">
            <a:avLst>
              <a:gd name="adj" fmla="val 2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4F64455-C052-750C-F39F-409B3EB94FDA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9655BFE-6A64-A070-923B-07DD751E9362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1D6A52-6B50-DA2C-5518-E6F18E890C2D}"/>
              </a:ext>
            </a:extLst>
          </p:cNvPr>
          <p:cNvSpPr txBox="1"/>
          <p:nvPr/>
        </p:nvSpPr>
        <p:spPr>
          <a:xfrm>
            <a:off x="457200" y="309890"/>
            <a:ext cx="1127729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  <a:latin typeface="Calibri"/>
              </a:rPr>
              <a:t>PYNQ</a:t>
            </a:r>
            <a:r>
              <a:rPr lang="ko-KR" altLang="en-US" sz="2800" b="1" dirty="0">
                <a:solidFill>
                  <a:srgbClr val="FFFFFF"/>
                </a:solidFill>
                <a:latin typeface="Calibri"/>
              </a:rPr>
              <a:t>로 </a:t>
            </a:r>
            <a:r>
              <a:rPr lang="en-US" altLang="ko-KR" sz="2800" b="1" dirty="0">
                <a:solidFill>
                  <a:srgbClr val="FFFFFF"/>
                </a:solidFill>
                <a:latin typeface="Calibri"/>
              </a:rPr>
              <a:t>LED </a:t>
            </a:r>
            <a:r>
              <a:rPr lang="ko-KR" altLang="en-US" sz="2800" b="1" dirty="0">
                <a:solidFill>
                  <a:srgbClr val="FFFFFF"/>
                </a:solidFill>
                <a:latin typeface="Calibri"/>
              </a:rPr>
              <a:t>제어 </a:t>
            </a:r>
            <a:r>
              <a:rPr lang="en-US" altLang="ko-KR" sz="2800" b="1" dirty="0">
                <a:solidFill>
                  <a:srgbClr val="FFFFFF"/>
                </a:solidFill>
                <a:latin typeface="Calibri"/>
              </a:rPr>
              <a:t>(Python)</a:t>
            </a:r>
            <a:endParaRPr sz="28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849483-8F1B-60D8-848E-5880D8046946}"/>
              </a:ext>
            </a:extLst>
          </p:cNvPr>
          <p:cNvSpPr txBox="1"/>
          <p:nvPr/>
        </p:nvSpPr>
        <p:spPr>
          <a:xfrm>
            <a:off x="727822" y="1593504"/>
            <a:ext cx="561919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00B050"/>
                </a:solidFill>
              </a:rPr>
              <a:t>Step 4: Walking LED </a:t>
            </a:r>
            <a:r>
              <a:rPr lang="ko-KR" altLang="en-US" b="1" dirty="0">
                <a:solidFill>
                  <a:srgbClr val="00B050"/>
                </a:solidFill>
              </a:rPr>
              <a:t>패턴</a:t>
            </a:r>
            <a:endParaRPr lang="en-US" altLang="ko-KR" b="1" dirty="0">
              <a:solidFill>
                <a:srgbClr val="00B050"/>
              </a:solidFill>
            </a:endParaRPr>
          </a:p>
          <a:p>
            <a:pPr lvl="1"/>
            <a:endParaRPr lang="en-US" altLang="ko-KR" dirty="0">
              <a:solidFill>
                <a:schemeClr val="bg1"/>
              </a:solidFill>
            </a:endParaRPr>
          </a:p>
          <a:p>
            <a:pPr lvl="1"/>
            <a:r>
              <a:rPr lang="en-US" altLang="ko-KR" dirty="0">
                <a:solidFill>
                  <a:schemeClr val="bg1"/>
                </a:solidFill>
              </a:rPr>
              <a:t>import time</a:t>
            </a:r>
          </a:p>
          <a:p>
            <a:pPr lvl="1"/>
            <a:endParaRPr lang="en-US" altLang="ko-KR" dirty="0">
              <a:solidFill>
                <a:schemeClr val="bg1"/>
              </a:solidFill>
            </a:endParaRPr>
          </a:p>
          <a:p>
            <a:pPr lvl="1"/>
            <a:r>
              <a:rPr lang="en-US" altLang="ko-KR" dirty="0">
                <a:solidFill>
                  <a:schemeClr val="bg1"/>
                </a:solidFill>
              </a:rPr>
              <a:t># Walking pattern (</a:t>
            </a:r>
            <a:r>
              <a:rPr lang="ko-KR" altLang="en-US" dirty="0">
                <a:solidFill>
                  <a:schemeClr val="bg1"/>
                </a:solidFill>
              </a:rPr>
              <a:t>순차적으로 </a:t>
            </a:r>
            <a:r>
              <a:rPr lang="en-US" altLang="ko-KR" dirty="0">
                <a:solidFill>
                  <a:schemeClr val="bg1"/>
                </a:solidFill>
              </a:rPr>
              <a:t>LED </a:t>
            </a:r>
            <a:r>
              <a:rPr lang="ko-KR" altLang="en-US" dirty="0">
                <a:solidFill>
                  <a:schemeClr val="bg1"/>
                </a:solidFill>
              </a:rPr>
              <a:t>이동</a:t>
            </a:r>
            <a:r>
              <a:rPr lang="en-US" altLang="ko-KR" dirty="0">
                <a:solidFill>
                  <a:schemeClr val="bg1"/>
                </a:solidFill>
              </a:rPr>
              <a:t>)</a:t>
            </a:r>
          </a:p>
          <a:p>
            <a:pPr lvl="1"/>
            <a:r>
              <a:rPr lang="en-US" altLang="ko-KR" dirty="0">
                <a:solidFill>
                  <a:schemeClr val="bg1"/>
                </a:solidFill>
              </a:rPr>
              <a:t>patterns = [0x1, 0x2, 0x4, 0x8, 0x4, 0x2]</a:t>
            </a:r>
          </a:p>
          <a:p>
            <a:pPr lvl="1"/>
            <a:r>
              <a:rPr lang="en-US" altLang="ko-KR" dirty="0">
                <a:solidFill>
                  <a:schemeClr val="bg1"/>
                </a:solidFill>
              </a:rPr>
              <a:t>for _ in range(10):    </a:t>
            </a:r>
          </a:p>
          <a:p>
            <a:pPr lvl="2"/>
            <a:r>
              <a:rPr lang="en-US" altLang="ko-KR" dirty="0">
                <a:solidFill>
                  <a:schemeClr val="bg1"/>
                </a:solidFill>
              </a:rPr>
              <a:t>for p in patterns:        </a:t>
            </a:r>
          </a:p>
          <a:p>
            <a:pPr lvl="3"/>
            <a:r>
              <a:rPr lang="en-US" altLang="ko-KR" dirty="0" err="1">
                <a:solidFill>
                  <a:schemeClr val="bg1"/>
                </a:solidFill>
              </a:rPr>
              <a:t>led_gpio.write</a:t>
            </a:r>
            <a:r>
              <a:rPr lang="en-US" altLang="ko-KR" dirty="0">
                <a:solidFill>
                  <a:schemeClr val="bg1"/>
                </a:solidFill>
              </a:rPr>
              <a:t>(</a:t>
            </a:r>
            <a:r>
              <a:rPr lang="ko-KR" altLang="en-US" dirty="0">
                <a:solidFill>
                  <a:schemeClr val="bg1"/>
                </a:solidFill>
              </a:rPr>
              <a:t>１</a:t>
            </a:r>
            <a:r>
              <a:rPr lang="en-US" altLang="ko-KR" dirty="0">
                <a:solidFill>
                  <a:schemeClr val="bg1"/>
                </a:solidFill>
              </a:rPr>
              <a:t>, p)        </a:t>
            </a:r>
          </a:p>
          <a:p>
            <a:pPr lvl="3"/>
            <a:r>
              <a:rPr lang="en-US" altLang="ko-KR" dirty="0" err="1">
                <a:solidFill>
                  <a:schemeClr val="bg1"/>
                </a:solidFill>
              </a:rPr>
              <a:t>time.sleep</a:t>
            </a:r>
            <a:r>
              <a:rPr lang="en-US" altLang="ko-KR" dirty="0">
                <a:solidFill>
                  <a:schemeClr val="bg1"/>
                </a:solidFill>
              </a:rPr>
              <a:t>(0.2)</a:t>
            </a:r>
          </a:p>
          <a:p>
            <a:pPr lvl="2"/>
            <a:endParaRPr lang="en-US" altLang="ko-KR" dirty="0">
              <a:solidFill>
                <a:schemeClr val="bg1"/>
              </a:solidFill>
            </a:endParaRPr>
          </a:p>
          <a:p>
            <a:pPr lvl="1"/>
            <a:r>
              <a:rPr lang="en-US" altLang="ko-KR" dirty="0">
                <a:solidFill>
                  <a:schemeClr val="bg1"/>
                </a:solidFill>
              </a:rPr>
              <a:t># </a:t>
            </a:r>
            <a:r>
              <a:rPr lang="ko-KR" altLang="en-US" dirty="0">
                <a:solidFill>
                  <a:schemeClr val="bg1"/>
                </a:solidFill>
              </a:rPr>
              <a:t>모두 끄기</a:t>
            </a:r>
            <a:endParaRPr lang="en-US" altLang="ko-KR" dirty="0">
              <a:solidFill>
                <a:schemeClr val="bg1"/>
              </a:solidFill>
            </a:endParaRPr>
          </a:p>
          <a:p>
            <a:pPr lvl="1"/>
            <a:r>
              <a:rPr lang="en-US" altLang="ko-KR" dirty="0" err="1">
                <a:solidFill>
                  <a:schemeClr val="bg1"/>
                </a:solidFill>
              </a:rPr>
              <a:t>led_gpio.write</a:t>
            </a:r>
            <a:r>
              <a:rPr lang="en-US" altLang="ko-KR" dirty="0">
                <a:solidFill>
                  <a:schemeClr val="bg1"/>
                </a:solidFill>
              </a:rPr>
              <a:t>(0, 0x0)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477FFD-AF07-DA45-59E2-C772ADAA437E}"/>
              </a:ext>
            </a:extLst>
          </p:cNvPr>
          <p:cNvSpPr txBox="1"/>
          <p:nvPr/>
        </p:nvSpPr>
        <p:spPr>
          <a:xfrm>
            <a:off x="5721163" y="1593504"/>
            <a:ext cx="561919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00B050"/>
                </a:solidFill>
              </a:rPr>
              <a:t>Step 5: </a:t>
            </a:r>
            <a:r>
              <a:rPr lang="ko-KR" altLang="en-US" b="1" dirty="0">
                <a:solidFill>
                  <a:srgbClr val="00B050"/>
                </a:solidFill>
              </a:rPr>
              <a:t>스위치 입력 읽기 </a:t>
            </a:r>
            <a:r>
              <a:rPr lang="en-US" altLang="ko-KR" b="1" dirty="0">
                <a:solidFill>
                  <a:srgbClr val="00B050"/>
                </a:solidFill>
              </a:rPr>
              <a:t>(Dual Channel </a:t>
            </a:r>
            <a:r>
              <a:rPr lang="ko-KR" altLang="en-US" b="1" dirty="0">
                <a:solidFill>
                  <a:srgbClr val="00B050"/>
                </a:solidFill>
              </a:rPr>
              <a:t>사용시</a:t>
            </a:r>
            <a:r>
              <a:rPr lang="en-US" altLang="ko-KR" b="1" dirty="0">
                <a:solidFill>
                  <a:srgbClr val="00B050"/>
                </a:solidFill>
              </a:rPr>
              <a:t>)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>
                <a:solidFill>
                  <a:schemeClr val="bg1"/>
                </a:solidFill>
              </a:rPr>
              <a:t># </a:t>
            </a:r>
            <a:r>
              <a:rPr lang="ko-KR" altLang="en-US" dirty="0">
                <a:solidFill>
                  <a:schemeClr val="bg1"/>
                </a:solidFill>
              </a:rPr>
              <a:t>스위치 </a:t>
            </a:r>
            <a:r>
              <a:rPr lang="en-US" altLang="ko-KR" dirty="0">
                <a:solidFill>
                  <a:schemeClr val="bg1"/>
                </a:solidFill>
              </a:rPr>
              <a:t>GPIO </a:t>
            </a:r>
            <a:r>
              <a:rPr lang="ko-KR" altLang="en-US" dirty="0">
                <a:solidFill>
                  <a:schemeClr val="bg1"/>
                </a:solidFill>
              </a:rPr>
              <a:t>접근 </a:t>
            </a:r>
            <a:r>
              <a:rPr lang="en-US" altLang="ko-KR" dirty="0">
                <a:solidFill>
                  <a:schemeClr val="bg1"/>
                </a:solidFill>
              </a:rPr>
              <a:t>(</a:t>
            </a:r>
            <a:r>
              <a:rPr lang="ko-KR" altLang="en-US" dirty="0">
                <a:solidFill>
                  <a:schemeClr val="bg1"/>
                </a:solidFill>
              </a:rPr>
              <a:t>두 번째 </a:t>
            </a:r>
            <a:r>
              <a:rPr lang="en-US" altLang="ko-KR" dirty="0">
                <a:solidFill>
                  <a:schemeClr val="bg1"/>
                </a:solidFill>
              </a:rPr>
              <a:t>AXI GPIO </a:t>
            </a:r>
            <a:r>
              <a:rPr lang="ko-KR" altLang="en-US" dirty="0">
                <a:solidFill>
                  <a:schemeClr val="bg1"/>
                </a:solidFill>
              </a:rPr>
              <a:t>사용시</a:t>
            </a:r>
            <a:r>
              <a:rPr lang="en-US" altLang="ko-KR" dirty="0">
                <a:solidFill>
                  <a:schemeClr val="bg1"/>
                </a:solidFill>
              </a:rPr>
              <a:t>)</a:t>
            </a:r>
          </a:p>
          <a:p>
            <a:pPr lvl="1"/>
            <a:r>
              <a:rPr lang="en-US" altLang="ko-KR" dirty="0" err="1">
                <a:solidFill>
                  <a:schemeClr val="bg1"/>
                </a:solidFill>
              </a:rPr>
              <a:t>switch_gpio</a:t>
            </a:r>
            <a:r>
              <a:rPr lang="en-US" altLang="ko-KR" dirty="0">
                <a:solidFill>
                  <a:schemeClr val="bg1"/>
                </a:solidFill>
              </a:rPr>
              <a:t> = overlay.axi_gpio_1.channel1</a:t>
            </a:r>
          </a:p>
          <a:p>
            <a:pPr lvl="1"/>
            <a:endParaRPr lang="en-US" altLang="ko-KR" dirty="0">
              <a:solidFill>
                <a:schemeClr val="bg1"/>
              </a:solidFill>
            </a:endParaRPr>
          </a:p>
          <a:p>
            <a:pPr lvl="1"/>
            <a:r>
              <a:rPr lang="en-US" altLang="ko-KR" dirty="0">
                <a:solidFill>
                  <a:schemeClr val="bg1"/>
                </a:solidFill>
              </a:rPr>
              <a:t># </a:t>
            </a:r>
            <a:r>
              <a:rPr lang="ko-KR" altLang="en-US" dirty="0">
                <a:solidFill>
                  <a:schemeClr val="bg1"/>
                </a:solidFill>
              </a:rPr>
              <a:t>스위치 상태 읽기</a:t>
            </a:r>
            <a:endParaRPr lang="en-US" altLang="ko-KR" dirty="0">
              <a:solidFill>
                <a:schemeClr val="bg1"/>
              </a:solidFill>
            </a:endParaRPr>
          </a:p>
          <a:p>
            <a:pPr lvl="1"/>
            <a:r>
              <a:rPr lang="en-US" altLang="ko-KR" dirty="0" err="1">
                <a:solidFill>
                  <a:schemeClr val="bg1"/>
                </a:solidFill>
              </a:rPr>
              <a:t>switch_status</a:t>
            </a:r>
            <a:r>
              <a:rPr lang="en-US" altLang="ko-KR" dirty="0">
                <a:solidFill>
                  <a:schemeClr val="bg1"/>
                </a:solidFill>
              </a:rPr>
              <a:t> = </a:t>
            </a:r>
            <a:r>
              <a:rPr lang="en-US" altLang="ko-KR" dirty="0" err="1">
                <a:solidFill>
                  <a:schemeClr val="bg1"/>
                </a:solidFill>
              </a:rPr>
              <a:t>switch_gpio.read</a:t>
            </a:r>
            <a:r>
              <a:rPr lang="en-US" altLang="ko-KR" dirty="0">
                <a:solidFill>
                  <a:schemeClr val="bg1"/>
                </a:solidFill>
              </a:rPr>
              <a:t>()</a:t>
            </a:r>
          </a:p>
          <a:p>
            <a:pPr lvl="1"/>
            <a:r>
              <a:rPr lang="en-US" altLang="ko-KR" dirty="0">
                <a:solidFill>
                  <a:schemeClr val="bg1"/>
                </a:solidFill>
              </a:rPr>
              <a:t>print(</a:t>
            </a:r>
            <a:r>
              <a:rPr lang="en-US" altLang="ko-KR" dirty="0" err="1">
                <a:solidFill>
                  <a:schemeClr val="bg1"/>
                </a:solidFill>
              </a:rPr>
              <a:t>f"Switch</a:t>
            </a:r>
            <a:r>
              <a:rPr lang="en-US" altLang="ko-KR" dirty="0">
                <a:solidFill>
                  <a:schemeClr val="bg1"/>
                </a:solidFill>
              </a:rPr>
              <a:t> Status: {switch_status:04b}”)</a:t>
            </a:r>
          </a:p>
          <a:p>
            <a:pPr lvl="1"/>
            <a:endParaRPr lang="en-US" altLang="ko-KR" dirty="0">
              <a:solidFill>
                <a:schemeClr val="bg1"/>
              </a:solidFill>
            </a:endParaRPr>
          </a:p>
          <a:p>
            <a:pPr lvl="1"/>
            <a:r>
              <a:rPr lang="en-US" altLang="ko-KR" dirty="0">
                <a:solidFill>
                  <a:schemeClr val="bg1"/>
                </a:solidFill>
              </a:rPr>
              <a:t># </a:t>
            </a:r>
            <a:r>
              <a:rPr lang="ko-KR" altLang="en-US" dirty="0">
                <a:solidFill>
                  <a:schemeClr val="bg1"/>
                </a:solidFill>
              </a:rPr>
              <a:t>스위치 값에 따라 </a:t>
            </a:r>
            <a:r>
              <a:rPr lang="en-US" altLang="ko-KR" dirty="0">
                <a:solidFill>
                  <a:schemeClr val="bg1"/>
                </a:solidFill>
              </a:rPr>
              <a:t>LED </a:t>
            </a:r>
            <a:r>
              <a:rPr lang="ko-KR" altLang="en-US" dirty="0">
                <a:solidFill>
                  <a:schemeClr val="bg1"/>
                </a:solidFill>
              </a:rPr>
              <a:t>제어</a:t>
            </a:r>
            <a:endParaRPr lang="en-US" altLang="ko-KR" dirty="0">
              <a:solidFill>
                <a:schemeClr val="bg1"/>
              </a:solidFill>
            </a:endParaRPr>
          </a:p>
          <a:p>
            <a:pPr lvl="1"/>
            <a:r>
              <a:rPr lang="en-US" altLang="ko-KR" dirty="0" err="1">
                <a:solidFill>
                  <a:schemeClr val="bg1"/>
                </a:solidFill>
              </a:rPr>
              <a:t>Led_gpio.write</a:t>
            </a:r>
            <a:r>
              <a:rPr lang="en-US" altLang="ko-KR" dirty="0">
                <a:solidFill>
                  <a:schemeClr val="bg1"/>
                </a:solidFill>
              </a:rPr>
              <a:t>(</a:t>
            </a:r>
            <a:r>
              <a:rPr lang="ko-KR" altLang="en-US" dirty="0">
                <a:solidFill>
                  <a:schemeClr val="bg1"/>
                </a:solidFill>
              </a:rPr>
              <a:t>１</a:t>
            </a:r>
            <a:r>
              <a:rPr lang="en-US" altLang="ko-KR" dirty="0">
                <a:solidFill>
                  <a:schemeClr val="bg1"/>
                </a:solidFill>
              </a:rPr>
              <a:t>, </a:t>
            </a:r>
            <a:r>
              <a:rPr lang="en-US" altLang="ko-KR" dirty="0" err="1">
                <a:solidFill>
                  <a:schemeClr val="bg1"/>
                </a:solidFill>
              </a:rPr>
              <a:t>switch_status</a:t>
            </a:r>
            <a:r>
              <a:rPr lang="en-US" altLang="ko-KR" dirty="0">
                <a:solidFill>
                  <a:schemeClr val="bg1"/>
                </a:solidFill>
              </a:rPr>
              <a:t>)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2" name="Rounded Rectangle 12">
            <a:extLst>
              <a:ext uri="{FF2B5EF4-FFF2-40B4-BE49-F238E27FC236}">
                <a16:creationId xmlns:a16="http://schemas.microsoft.com/office/drawing/2014/main" id="{24E183E7-AE71-9CDC-D8EC-4BBB0F7D472E}"/>
              </a:ext>
            </a:extLst>
          </p:cNvPr>
          <p:cNvSpPr/>
          <p:nvPr/>
        </p:nvSpPr>
        <p:spPr>
          <a:xfrm>
            <a:off x="10171947" y="2003614"/>
            <a:ext cx="914400" cy="148930"/>
          </a:xfrm>
          <a:prstGeom prst="roundRect">
            <a:avLst>
              <a:gd name="adj" fmla="val 15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900" dirty="0">
                <a:solidFill>
                  <a:srgbClr val="888888"/>
                </a:solidFill>
                <a:latin typeface="Calibri"/>
              </a:rPr>
              <a:t>code</a:t>
            </a:r>
            <a:endParaRPr sz="900" b="0" dirty="0">
              <a:solidFill>
                <a:srgbClr val="888888"/>
              </a:solidFill>
              <a:latin typeface="Calibri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7691BA6-03EB-139B-CCBF-A6167B452AA7}"/>
              </a:ext>
            </a:extLst>
          </p:cNvPr>
          <p:cNvSpPr/>
          <p:nvPr/>
        </p:nvSpPr>
        <p:spPr>
          <a:xfrm>
            <a:off x="4548835" y="2081549"/>
            <a:ext cx="914400" cy="148930"/>
          </a:xfrm>
          <a:prstGeom prst="roundRect">
            <a:avLst>
              <a:gd name="adj" fmla="val 15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900" dirty="0">
                <a:solidFill>
                  <a:srgbClr val="888888"/>
                </a:solidFill>
                <a:latin typeface="Calibri"/>
              </a:rPr>
              <a:t>code</a:t>
            </a:r>
            <a:endParaRPr sz="900" b="0" dirty="0">
              <a:solidFill>
                <a:srgbClr val="888888"/>
              </a:solidFill>
              <a:latin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B1785C-EECB-8BDC-2760-C3F6E9B4CA1C}"/>
              </a:ext>
            </a:extLst>
          </p:cNvPr>
          <p:cNvSpPr txBox="1"/>
          <p:nvPr/>
        </p:nvSpPr>
        <p:spPr>
          <a:xfrm>
            <a:off x="11692703" y="6492240"/>
            <a:ext cx="31611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000" b="0" dirty="0">
                <a:solidFill>
                  <a:srgbClr val="666666"/>
                </a:solidFill>
                <a:latin typeface="Calibri"/>
              </a:rPr>
              <a:t>16</a:t>
            </a:r>
            <a:endParaRPr sz="1000" b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15" name="Rectangle 11">
            <a:extLst>
              <a:ext uri="{FF2B5EF4-FFF2-40B4-BE49-F238E27FC236}">
                <a16:creationId xmlns:a16="http://schemas.microsoft.com/office/drawing/2014/main" id="{F7BB011A-A29B-64A8-65B3-255D403A76A9}"/>
              </a:ext>
            </a:extLst>
          </p:cNvPr>
          <p:cNvSpPr/>
          <p:nvPr/>
        </p:nvSpPr>
        <p:spPr>
          <a:xfrm>
            <a:off x="457200" y="6446520"/>
            <a:ext cx="1127729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AC2737-126F-6161-9203-D1AF27AB52C1}"/>
              </a:ext>
            </a:extLst>
          </p:cNvPr>
          <p:cNvSpPr txBox="1"/>
          <p:nvPr/>
        </p:nvSpPr>
        <p:spPr>
          <a:xfrm>
            <a:off x="457200" y="6492240"/>
            <a:ext cx="326403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dirty="0">
                <a:solidFill>
                  <a:srgbClr val="666666"/>
                </a:solidFill>
                <a:latin typeface="Calibri"/>
              </a:rPr>
              <a:t>Step 0</a:t>
            </a:r>
            <a:r>
              <a:rPr lang="en-US" sz="1000" b="0" dirty="0">
                <a:solidFill>
                  <a:srgbClr val="666666"/>
                </a:solidFill>
                <a:latin typeface="Calibri"/>
              </a:rPr>
              <a:t>3</a:t>
            </a:r>
            <a:r>
              <a:rPr sz="1000" b="0" dirty="0">
                <a:solidFill>
                  <a:srgbClr val="666666"/>
                </a:solidFill>
                <a:latin typeface="Calibri"/>
              </a:rPr>
              <a:t>: </a:t>
            </a:r>
            <a:r>
              <a:rPr lang="en-US" altLang="ko-KR" sz="1000" b="0" dirty="0">
                <a:solidFill>
                  <a:srgbClr val="666666"/>
                </a:solidFill>
                <a:latin typeface="Calibri"/>
              </a:rPr>
              <a:t>AXI GPIO Integration</a:t>
            </a:r>
            <a:r>
              <a:rPr sz="1000" b="0" dirty="0">
                <a:solidFill>
                  <a:srgbClr val="666666"/>
                </a:solidFill>
                <a:latin typeface="Calibri"/>
              </a:rPr>
              <a:t> —</a:t>
            </a:r>
            <a:r>
              <a:rPr lang="en-US" sz="1000" b="0" dirty="0">
                <a:solidFill>
                  <a:srgbClr val="666666"/>
                </a:solidFill>
                <a:latin typeface="Calibri"/>
              </a:rPr>
              <a:t> </a:t>
            </a:r>
            <a:r>
              <a:rPr lang="en-US" sz="1000" dirty="0">
                <a:solidFill>
                  <a:srgbClr val="666666"/>
                </a:solidFill>
                <a:latin typeface="Calibri"/>
              </a:rPr>
              <a:t>PS/PL </a:t>
            </a:r>
            <a:r>
              <a:rPr lang="ko-KR" altLang="en-US" sz="1000" dirty="0">
                <a:solidFill>
                  <a:srgbClr val="666666"/>
                </a:solidFill>
                <a:latin typeface="Calibri"/>
              </a:rPr>
              <a:t>통신 구현 </a:t>
            </a:r>
            <a:r>
              <a:rPr lang="en-US" altLang="ko-KR" sz="1000" dirty="0">
                <a:solidFill>
                  <a:srgbClr val="666666"/>
                </a:solidFill>
                <a:latin typeface="Calibri"/>
              </a:rPr>
              <a:t>LED </a:t>
            </a:r>
            <a:r>
              <a:rPr lang="ko-KR" altLang="en-US" sz="1000" dirty="0">
                <a:solidFill>
                  <a:srgbClr val="666666"/>
                </a:solidFill>
                <a:latin typeface="Calibri"/>
              </a:rPr>
              <a:t>제어</a:t>
            </a:r>
            <a:endParaRPr sz="1000" b="0" dirty="0">
              <a:solidFill>
                <a:srgbClr val="666666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350175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6B89B357-3F3B-F73C-FDD7-9BA2793EE88A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C60E054-8A6D-EA55-DC15-5869A47E3779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B4F17F-E0C2-7E43-9618-9EE24C382989}"/>
              </a:ext>
            </a:extLst>
          </p:cNvPr>
          <p:cNvSpPr txBox="1"/>
          <p:nvPr/>
        </p:nvSpPr>
        <p:spPr>
          <a:xfrm>
            <a:off x="457200" y="309890"/>
            <a:ext cx="1127729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ko-KR" altLang="en-US" sz="2800" b="1" dirty="0">
                <a:solidFill>
                  <a:srgbClr val="FFFFFF"/>
                </a:solidFill>
                <a:latin typeface="Calibri"/>
              </a:rPr>
              <a:t>방법 </a:t>
            </a:r>
            <a:r>
              <a:rPr lang="en-US" altLang="ko-KR" sz="2800" b="1" dirty="0">
                <a:solidFill>
                  <a:srgbClr val="FFFFFF"/>
                </a:solidFill>
                <a:latin typeface="Calibri"/>
              </a:rPr>
              <a:t>2: </a:t>
            </a:r>
            <a:r>
              <a:rPr lang="en-US" sz="2800" b="1" dirty="0">
                <a:solidFill>
                  <a:srgbClr val="FFFFFF"/>
                </a:solidFill>
                <a:latin typeface="Calibri"/>
              </a:rPr>
              <a:t>Vitis</a:t>
            </a:r>
            <a:r>
              <a:rPr lang="ko-KR" altLang="en-US" sz="2800" b="1" dirty="0">
                <a:solidFill>
                  <a:srgbClr val="FFFFFF"/>
                </a:solidFill>
                <a:latin typeface="Calibri"/>
              </a:rPr>
              <a:t>로 </a:t>
            </a:r>
            <a:r>
              <a:rPr lang="en-US" altLang="ko-KR" sz="2800" b="1" dirty="0">
                <a:solidFill>
                  <a:srgbClr val="FFFFFF"/>
                </a:solidFill>
                <a:latin typeface="Calibri"/>
              </a:rPr>
              <a:t>LED </a:t>
            </a:r>
            <a:r>
              <a:rPr lang="ko-KR" altLang="en-US" sz="2800" b="1" dirty="0">
                <a:solidFill>
                  <a:srgbClr val="FFFFFF"/>
                </a:solidFill>
                <a:latin typeface="Calibri"/>
              </a:rPr>
              <a:t>제어 </a:t>
            </a:r>
            <a:r>
              <a:rPr lang="en-US" altLang="ko-KR" sz="2800" b="1" dirty="0">
                <a:solidFill>
                  <a:srgbClr val="FFFFFF"/>
                </a:solidFill>
                <a:latin typeface="Calibri"/>
              </a:rPr>
              <a:t>(C-</a:t>
            </a:r>
            <a:r>
              <a:rPr lang="ko-KR" altLang="en-US" sz="2800" b="1" dirty="0">
                <a:solidFill>
                  <a:srgbClr val="FFFFFF"/>
                </a:solidFill>
                <a:latin typeface="Calibri"/>
              </a:rPr>
              <a:t>언어</a:t>
            </a:r>
            <a:r>
              <a:rPr lang="en-US" altLang="ko-KR" sz="2800" b="1" dirty="0">
                <a:solidFill>
                  <a:srgbClr val="FFFFFF"/>
                </a:solidFill>
                <a:latin typeface="Calibri"/>
              </a:rPr>
              <a:t>)</a:t>
            </a:r>
            <a:endParaRPr sz="28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518ABA-4A9F-DBF9-FA6B-26A41C2B55D8}"/>
              </a:ext>
            </a:extLst>
          </p:cNvPr>
          <p:cNvSpPr txBox="1"/>
          <p:nvPr/>
        </p:nvSpPr>
        <p:spPr>
          <a:xfrm>
            <a:off x="157000" y="1443841"/>
            <a:ext cx="680185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00B050"/>
                </a:solidFill>
              </a:rPr>
              <a:t>Vitis</a:t>
            </a:r>
            <a:r>
              <a:rPr lang="ko-KR" altLang="en-US" b="1" dirty="0">
                <a:solidFill>
                  <a:srgbClr val="00B050"/>
                </a:solidFill>
              </a:rPr>
              <a:t>에서 </a:t>
            </a:r>
            <a:r>
              <a:rPr lang="en-US" altLang="ko-KR" b="1" dirty="0">
                <a:solidFill>
                  <a:srgbClr val="00B050"/>
                </a:solidFill>
              </a:rPr>
              <a:t>C </a:t>
            </a:r>
            <a:r>
              <a:rPr lang="ko-KR" altLang="en-US" b="1" dirty="0">
                <a:solidFill>
                  <a:srgbClr val="00B050"/>
                </a:solidFill>
              </a:rPr>
              <a:t>애플리케이션으로 </a:t>
            </a:r>
            <a:r>
              <a:rPr lang="en-US" altLang="ko-KR" b="1" dirty="0">
                <a:solidFill>
                  <a:srgbClr val="00B050"/>
                </a:solidFill>
              </a:rPr>
              <a:t>LED</a:t>
            </a:r>
            <a:r>
              <a:rPr lang="ko-KR" altLang="en-US" b="1" dirty="0">
                <a:solidFill>
                  <a:srgbClr val="00B050"/>
                </a:solidFill>
              </a:rPr>
              <a:t>를 제어</a:t>
            </a:r>
            <a:r>
              <a:rPr lang="en-US" altLang="ko-KR" b="1" dirty="0">
                <a:solidFill>
                  <a:srgbClr val="00B050"/>
                </a:solidFill>
              </a:rPr>
              <a:t>.</a:t>
            </a:r>
          </a:p>
          <a:p>
            <a:endParaRPr lang="en-US" altLang="ko-KR" dirty="0"/>
          </a:p>
          <a:p>
            <a:pPr lvl="1"/>
            <a:r>
              <a:rPr lang="en-US" altLang="ko-KR" dirty="0"/>
              <a:t>Step 1: Vitis </a:t>
            </a:r>
            <a:r>
              <a:rPr lang="ko-KR" altLang="en-US" dirty="0"/>
              <a:t>실행</a:t>
            </a:r>
            <a:endParaRPr lang="en-US" altLang="ko-KR" dirty="0"/>
          </a:p>
          <a:p>
            <a:pPr lvl="2"/>
            <a:r>
              <a:rPr lang="en-US" altLang="ko-KR" dirty="0"/>
              <a:t>1.1 Vitis </a:t>
            </a:r>
            <a:r>
              <a:rPr lang="ko-KR" altLang="en-US" dirty="0"/>
              <a:t>열기</a:t>
            </a:r>
            <a:endParaRPr lang="en-US" altLang="ko-KR" dirty="0"/>
          </a:p>
          <a:p>
            <a:pPr lvl="3"/>
            <a:r>
              <a:rPr lang="en-US" altLang="ko-KR" dirty="0"/>
              <a:t>source /tools/Xilinx/</a:t>
            </a:r>
            <a:r>
              <a:rPr lang="en-US" altLang="ko-KR" dirty="0">
                <a:solidFill>
                  <a:srgbClr val="FF0000"/>
                </a:solidFill>
              </a:rPr>
              <a:t>Vitis</a:t>
            </a:r>
            <a:r>
              <a:rPr lang="en-US" altLang="ko-KR" dirty="0"/>
              <a:t>/2021.2/settings64.sh</a:t>
            </a:r>
          </a:p>
          <a:p>
            <a:pPr lvl="3"/>
            <a:r>
              <a:rPr lang="en-US" altLang="ko-KR" dirty="0" err="1"/>
              <a:t>vitis</a:t>
            </a:r>
            <a:r>
              <a:rPr lang="en-US" altLang="ko-KR" dirty="0"/>
              <a:t> &amp;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Step 2: Platform </a:t>
            </a:r>
            <a:r>
              <a:rPr lang="ko-KR" altLang="en-US" dirty="0"/>
              <a:t>프로젝트 생성</a:t>
            </a:r>
            <a:endParaRPr lang="en-US" altLang="ko-KR" dirty="0"/>
          </a:p>
          <a:p>
            <a:pPr lvl="2"/>
            <a:r>
              <a:rPr lang="en-US" altLang="ko-KR" dirty="0"/>
              <a:t>2.1 </a:t>
            </a:r>
            <a:r>
              <a:rPr lang="ko-KR" altLang="en-US" dirty="0"/>
              <a:t>새 </a:t>
            </a:r>
            <a:r>
              <a:rPr lang="en-US" altLang="ko-KR" dirty="0"/>
              <a:t>Platform </a:t>
            </a:r>
            <a:r>
              <a:rPr lang="ko-KR" altLang="en-US" dirty="0"/>
              <a:t>생성</a:t>
            </a:r>
            <a:endParaRPr lang="en-US" altLang="ko-KR" dirty="0"/>
          </a:p>
          <a:p>
            <a:pPr marL="1714500" lvl="3" indent="-342900">
              <a:buAutoNum type="arabicPeriod"/>
            </a:pPr>
            <a:r>
              <a:rPr lang="en-US" altLang="ko-KR" dirty="0"/>
              <a:t> </a:t>
            </a:r>
            <a:r>
              <a:rPr lang="en-US" altLang="ko-KR" b="1" dirty="0"/>
              <a:t>File</a:t>
            </a:r>
            <a:r>
              <a:rPr lang="en-US" altLang="ko-KR" dirty="0"/>
              <a:t> → </a:t>
            </a:r>
            <a:r>
              <a:rPr lang="en-US" altLang="ko-KR" b="1" dirty="0"/>
              <a:t>New</a:t>
            </a:r>
            <a:r>
              <a:rPr lang="en-US" altLang="ko-KR" dirty="0"/>
              <a:t> → </a:t>
            </a:r>
            <a:r>
              <a:rPr lang="en-US" altLang="ko-KR" b="1" dirty="0"/>
              <a:t>Platform Project</a:t>
            </a:r>
            <a:endParaRPr lang="en-US" altLang="ko-KR" dirty="0"/>
          </a:p>
          <a:p>
            <a:pPr marL="1714500" lvl="3" indent="-342900">
              <a:buAutoNum type="arabicPeriod"/>
            </a:pPr>
            <a:r>
              <a:rPr lang="ko-KR" altLang="en-US" dirty="0"/>
              <a:t>이름</a:t>
            </a:r>
            <a:r>
              <a:rPr lang="en-US" altLang="ko-KR" dirty="0"/>
              <a:t>: `kv260_gpio_platform`</a:t>
            </a:r>
          </a:p>
          <a:p>
            <a:pPr marL="1714500" lvl="3" indent="-342900">
              <a:buAutoNum type="arabicPeriod"/>
            </a:pPr>
            <a:r>
              <a:rPr lang="en-US" altLang="ko-KR" dirty="0"/>
              <a:t> </a:t>
            </a:r>
            <a:r>
              <a:rPr lang="en-US" altLang="ko-KR" b="1" dirty="0"/>
              <a:t>Browse</a:t>
            </a:r>
            <a:r>
              <a:rPr lang="en-US" altLang="ko-KR" dirty="0"/>
              <a:t> → </a:t>
            </a:r>
            <a:r>
              <a:rPr lang="ko-KR" altLang="en-US" dirty="0"/>
              <a:t>방금 생성한 </a:t>
            </a:r>
            <a:r>
              <a:rPr lang="en-US" altLang="ko-KR" dirty="0"/>
              <a:t>`kv260_axi_gpio.xsa` </a:t>
            </a:r>
            <a:r>
              <a:rPr lang="ko-KR" altLang="en-US" dirty="0"/>
              <a:t>선택</a:t>
            </a:r>
            <a:endParaRPr lang="en-US" altLang="ko-KR" dirty="0"/>
          </a:p>
          <a:p>
            <a:pPr marL="1714500" lvl="3" indent="-342900">
              <a:buAutoNum type="arabicPeriod"/>
            </a:pPr>
            <a:r>
              <a:rPr lang="en-US" altLang="ko-KR" dirty="0"/>
              <a:t> </a:t>
            </a:r>
            <a:r>
              <a:rPr lang="en-US" altLang="ko-KR" b="1" dirty="0"/>
              <a:t>Platform Type</a:t>
            </a:r>
            <a:r>
              <a:rPr lang="en-US" altLang="ko-KR" dirty="0"/>
              <a:t>: </a:t>
            </a:r>
            <a:r>
              <a:rPr lang="en-US" altLang="ko-KR" b="1" dirty="0"/>
              <a:t>Linux</a:t>
            </a:r>
            <a:r>
              <a:rPr lang="en-US" altLang="ko-KR" dirty="0"/>
              <a:t> (</a:t>
            </a:r>
            <a:r>
              <a:rPr lang="ko-KR" altLang="en-US" dirty="0"/>
              <a:t>또는 </a:t>
            </a:r>
            <a:r>
              <a:rPr lang="en-US" altLang="ko-KR" b="1" dirty="0"/>
              <a:t>Standalone</a:t>
            </a:r>
            <a:r>
              <a:rPr lang="en-US" altLang="ko-KR" dirty="0"/>
              <a:t>)</a:t>
            </a:r>
          </a:p>
          <a:p>
            <a:pPr marL="1714500" lvl="3" indent="-342900">
              <a:buAutoNum type="arabicPeriod"/>
            </a:pPr>
            <a:r>
              <a:rPr lang="en-US" altLang="ko-KR" dirty="0"/>
              <a:t> </a:t>
            </a:r>
            <a:r>
              <a:rPr lang="en-US" altLang="ko-KR" b="1" dirty="0"/>
              <a:t>Finish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2E3771-E642-E81C-901A-131E1315ABD0}"/>
              </a:ext>
            </a:extLst>
          </p:cNvPr>
          <p:cNvSpPr txBox="1"/>
          <p:nvPr/>
        </p:nvSpPr>
        <p:spPr>
          <a:xfrm>
            <a:off x="6768473" y="1440180"/>
            <a:ext cx="509855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Step 3: Application </a:t>
            </a:r>
            <a:r>
              <a:rPr lang="ko-KR" altLang="en-US" dirty="0"/>
              <a:t>프로젝트 생성</a:t>
            </a:r>
            <a:endParaRPr lang="en-US" altLang="ko-KR" dirty="0"/>
          </a:p>
          <a:p>
            <a:pPr lvl="1"/>
            <a:r>
              <a:rPr lang="en-US" altLang="ko-KR" dirty="0"/>
              <a:t>3.1 </a:t>
            </a:r>
            <a:r>
              <a:rPr lang="ko-KR" altLang="en-US" dirty="0"/>
              <a:t>새 애플리케이션 생성</a:t>
            </a:r>
            <a:endParaRPr lang="en-US" altLang="ko-KR" dirty="0"/>
          </a:p>
          <a:p>
            <a:pPr marL="1257300" lvl="2" indent="-342900">
              <a:buAutoNum type="arabicPeriod"/>
            </a:pPr>
            <a:r>
              <a:rPr lang="en-US" altLang="ko-KR" dirty="0"/>
              <a:t>File → New → Application Project</a:t>
            </a:r>
          </a:p>
          <a:p>
            <a:pPr marL="1257300" lvl="2" indent="-342900">
              <a:buAutoNum type="arabicPeriod"/>
            </a:pPr>
            <a:r>
              <a:rPr lang="en-US" altLang="ko-KR" dirty="0"/>
              <a:t>Next</a:t>
            </a:r>
          </a:p>
          <a:p>
            <a:pPr marL="1257300" lvl="2" indent="-342900">
              <a:buAutoNum type="arabicPeriod"/>
            </a:pPr>
            <a:r>
              <a:rPr lang="en-US" altLang="ko-KR" dirty="0"/>
              <a:t>Platform: kv260_gpio_platform </a:t>
            </a:r>
            <a:r>
              <a:rPr lang="ko-KR" altLang="en-US" dirty="0"/>
              <a:t>선택</a:t>
            </a:r>
            <a:endParaRPr lang="en-US" altLang="ko-KR" dirty="0"/>
          </a:p>
          <a:p>
            <a:pPr marL="1257300" lvl="2" indent="-342900">
              <a:buAutoNum type="arabicPeriod"/>
            </a:pPr>
            <a:r>
              <a:rPr lang="en-US" altLang="ko-KR" dirty="0"/>
              <a:t>Next</a:t>
            </a:r>
          </a:p>
          <a:p>
            <a:pPr marL="800100" lvl="1" indent="-342900">
              <a:buAutoNum type="arabicPeriod"/>
            </a:pPr>
            <a:endParaRPr lang="en-US" altLang="ko-KR" dirty="0"/>
          </a:p>
          <a:p>
            <a:pPr lvl="1"/>
            <a:r>
              <a:rPr lang="en-US" altLang="ko-KR" dirty="0"/>
              <a:t>3.2 </a:t>
            </a:r>
            <a:r>
              <a:rPr lang="ko-KR" altLang="en-US" dirty="0"/>
              <a:t>프로젝트 설정</a:t>
            </a:r>
            <a:endParaRPr lang="en-US" altLang="ko-KR" dirty="0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A0FFD5CC-A18E-FBDB-34A1-E27A62B682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5798363"/>
              </p:ext>
            </p:extLst>
          </p:nvPr>
        </p:nvGraphicFramePr>
        <p:xfrm>
          <a:off x="7328647" y="3690154"/>
          <a:ext cx="440584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5012">
                  <a:extLst>
                    <a:ext uri="{9D8B030D-6E8A-4147-A177-3AD203B41FA5}">
                      <a16:colId xmlns:a16="http://schemas.microsoft.com/office/drawing/2014/main" val="486823798"/>
                    </a:ext>
                  </a:extLst>
                </a:gridCol>
                <a:gridCol w="2630836">
                  <a:extLst>
                    <a:ext uri="{9D8B030D-6E8A-4147-A177-3AD203B41FA5}">
                      <a16:colId xmlns:a16="http://schemas.microsoft.com/office/drawing/2014/main" val="27561785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옵션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값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2458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Project Name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gpio_led_test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03170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Target Processor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ps_cortexa53_0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2983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OS Platform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Linux (</a:t>
                      </a:r>
                      <a:r>
                        <a:rPr lang="ko-KR" altLang="en-US" dirty="0"/>
                        <a:t>또는 </a:t>
                      </a:r>
                      <a:r>
                        <a:rPr lang="en-US" altLang="ko-KR" dirty="0"/>
                        <a:t>standalone)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7783739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7A6DA265-A155-23EE-9630-B553E20C02C8}"/>
              </a:ext>
            </a:extLst>
          </p:cNvPr>
          <p:cNvSpPr txBox="1"/>
          <p:nvPr/>
        </p:nvSpPr>
        <p:spPr>
          <a:xfrm>
            <a:off x="7328647" y="5296713"/>
            <a:ext cx="345774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3.3 </a:t>
            </a:r>
            <a:r>
              <a:rPr lang="ko-KR" altLang="en-US" dirty="0"/>
              <a:t>템플릿 선택</a:t>
            </a:r>
            <a:endParaRPr lang="en-US" altLang="ko-KR" dirty="0"/>
          </a:p>
          <a:p>
            <a:pPr marL="800100" lvl="1" indent="-342900">
              <a:buAutoNum type="arabicPeriod"/>
            </a:pPr>
            <a:r>
              <a:rPr lang="en-US" altLang="ko-KR" dirty="0"/>
              <a:t>Empty Application(C) </a:t>
            </a:r>
            <a:r>
              <a:rPr lang="ko-KR" altLang="en-US" dirty="0"/>
              <a:t>선택</a:t>
            </a:r>
            <a:endParaRPr lang="en-US" altLang="ko-KR" dirty="0"/>
          </a:p>
          <a:p>
            <a:pPr marL="800100" lvl="1" indent="-342900">
              <a:buAutoNum type="arabicPeriod"/>
            </a:pPr>
            <a:r>
              <a:rPr lang="en-US" altLang="ko-KR" dirty="0"/>
              <a:t>Finish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206BF5-D224-8233-6397-7641B8CC4B50}"/>
              </a:ext>
            </a:extLst>
          </p:cNvPr>
          <p:cNvSpPr txBox="1"/>
          <p:nvPr/>
        </p:nvSpPr>
        <p:spPr>
          <a:xfrm>
            <a:off x="285300" y="5596363"/>
            <a:ext cx="654525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* GUI</a:t>
            </a:r>
            <a:r>
              <a:rPr lang="ko-KR" altLang="en-US" sz="1400" dirty="0">
                <a:solidFill>
                  <a:srgbClr val="FF0000"/>
                </a:solidFill>
              </a:rPr>
              <a:t>로 </a:t>
            </a:r>
            <a:r>
              <a:rPr lang="en-US" altLang="ko-KR" sz="1400" dirty="0">
                <a:solidFill>
                  <a:srgbClr val="FF0000"/>
                </a:solidFill>
              </a:rPr>
              <a:t>Platform</a:t>
            </a:r>
            <a:r>
              <a:rPr lang="ko-KR" altLang="en-US" sz="1400" dirty="0">
                <a:solidFill>
                  <a:srgbClr val="FF0000"/>
                </a:solidFill>
              </a:rPr>
              <a:t>생성이 </a:t>
            </a:r>
            <a:r>
              <a:rPr lang="ko-KR" altLang="en-US" sz="1400" dirty="0" err="1">
                <a:solidFill>
                  <a:srgbClr val="FF0000"/>
                </a:solidFill>
              </a:rPr>
              <a:t>안될때</a:t>
            </a:r>
            <a:r>
              <a:rPr lang="ko-KR" altLang="en-US" sz="1400" dirty="0">
                <a:solidFill>
                  <a:srgbClr val="FF0000"/>
                </a:solidFill>
              </a:rPr>
              <a:t> </a:t>
            </a:r>
            <a:r>
              <a:rPr lang="en-US" altLang="ko-KR" sz="1400" dirty="0">
                <a:solidFill>
                  <a:srgbClr val="FF0000"/>
                </a:solidFill>
              </a:rPr>
              <a:t>XSCT Console</a:t>
            </a:r>
            <a:r>
              <a:rPr lang="ko-KR" altLang="en-US" sz="1400" dirty="0">
                <a:solidFill>
                  <a:srgbClr val="FF0000"/>
                </a:solidFill>
              </a:rPr>
              <a:t>에서 다음 실행</a:t>
            </a:r>
            <a:r>
              <a:rPr lang="en-US" altLang="ko-KR" sz="1400" dirty="0">
                <a:solidFill>
                  <a:srgbClr val="FF0000"/>
                </a:solidFill>
              </a:rPr>
              <a:t>:</a:t>
            </a:r>
          </a:p>
          <a:p>
            <a:r>
              <a:rPr lang="en-US" altLang="ko-KR" sz="1400" dirty="0" err="1"/>
              <a:t>createhw</a:t>
            </a:r>
            <a:r>
              <a:rPr lang="en-US" altLang="ko-KR" sz="1400" dirty="0"/>
              <a:t> -name kv260_hw -</a:t>
            </a:r>
            <a:r>
              <a:rPr lang="en-US" altLang="ko-KR" sz="1400" dirty="0" err="1"/>
              <a:t>hwspec</a:t>
            </a:r>
            <a:r>
              <a:rPr lang="en-US" altLang="ko-KR" sz="1400" dirty="0"/>
              <a:t> ./kv260_axi_gpio/kv260_axi_gpio.xsa</a:t>
            </a:r>
          </a:p>
          <a:p>
            <a:r>
              <a:rPr lang="en-US" altLang="ko-KR" sz="1400" dirty="0"/>
              <a:t>platform create -name kv260_platform -</a:t>
            </a:r>
            <a:r>
              <a:rPr lang="en-US" altLang="ko-KR" sz="1400" dirty="0" err="1"/>
              <a:t>hw</a:t>
            </a:r>
            <a:r>
              <a:rPr lang="en-US" altLang="ko-KR" sz="1400" dirty="0"/>
              <a:t> kv260_hw -</a:t>
            </a:r>
            <a:r>
              <a:rPr lang="en-US" altLang="ko-KR" sz="1400" dirty="0" err="1"/>
              <a:t>os</a:t>
            </a:r>
            <a:r>
              <a:rPr lang="en-US" altLang="ko-KR" sz="1400" dirty="0"/>
              <a:t> </a:t>
            </a:r>
            <a:r>
              <a:rPr lang="en-US" altLang="ko-KR" sz="1400" dirty="0" err="1"/>
              <a:t>linux</a:t>
            </a:r>
            <a:r>
              <a:rPr lang="en-US" altLang="ko-KR" sz="1400" dirty="0"/>
              <a:t> -arch 64 -out ./platform</a:t>
            </a:r>
            <a:endParaRPr lang="ko-KR" altLang="en-US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514D4B-48CA-6A7A-EC4E-88CF80C1245C}"/>
              </a:ext>
            </a:extLst>
          </p:cNvPr>
          <p:cNvSpPr txBox="1"/>
          <p:nvPr/>
        </p:nvSpPr>
        <p:spPr>
          <a:xfrm>
            <a:off x="11692703" y="6492240"/>
            <a:ext cx="31611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000" b="0" dirty="0">
                <a:solidFill>
                  <a:srgbClr val="666666"/>
                </a:solidFill>
                <a:latin typeface="Calibri"/>
              </a:rPr>
              <a:t>17</a:t>
            </a:r>
            <a:endParaRPr sz="1000" b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E8C32C54-7256-2E76-637F-D37FBF3D81BC}"/>
              </a:ext>
            </a:extLst>
          </p:cNvPr>
          <p:cNvSpPr/>
          <p:nvPr/>
        </p:nvSpPr>
        <p:spPr>
          <a:xfrm>
            <a:off x="457200" y="6446520"/>
            <a:ext cx="1127729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9EBD4F-D11F-2CA2-3703-8FE6159710B4}"/>
              </a:ext>
            </a:extLst>
          </p:cNvPr>
          <p:cNvSpPr txBox="1"/>
          <p:nvPr/>
        </p:nvSpPr>
        <p:spPr>
          <a:xfrm>
            <a:off x="457200" y="6492240"/>
            <a:ext cx="326403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dirty="0">
                <a:solidFill>
                  <a:srgbClr val="666666"/>
                </a:solidFill>
                <a:latin typeface="Calibri"/>
              </a:rPr>
              <a:t>Step 0</a:t>
            </a:r>
            <a:r>
              <a:rPr lang="en-US" sz="1000" b="0" dirty="0">
                <a:solidFill>
                  <a:srgbClr val="666666"/>
                </a:solidFill>
                <a:latin typeface="Calibri"/>
              </a:rPr>
              <a:t>3</a:t>
            </a:r>
            <a:r>
              <a:rPr sz="1000" b="0" dirty="0">
                <a:solidFill>
                  <a:srgbClr val="666666"/>
                </a:solidFill>
                <a:latin typeface="Calibri"/>
              </a:rPr>
              <a:t>: </a:t>
            </a:r>
            <a:r>
              <a:rPr lang="en-US" altLang="ko-KR" sz="1000" b="0" dirty="0">
                <a:solidFill>
                  <a:srgbClr val="666666"/>
                </a:solidFill>
                <a:latin typeface="Calibri"/>
              </a:rPr>
              <a:t>AXI GPIO Integration</a:t>
            </a:r>
            <a:r>
              <a:rPr sz="1000" b="0" dirty="0">
                <a:solidFill>
                  <a:srgbClr val="666666"/>
                </a:solidFill>
                <a:latin typeface="Calibri"/>
              </a:rPr>
              <a:t> —</a:t>
            </a:r>
            <a:r>
              <a:rPr lang="en-US" sz="1000" b="0" dirty="0">
                <a:solidFill>
                  <a:srgbClr val="666666"/>
                </a:solidFill>
                <a:latin typeface="Calibri"/>
              </a:rPr>
              <a:t> </a:t>
            </a:r>
            <a:r>
              <a:rPr lang="en-US" sz="1000" dirty="0">
                <a:solidFill>
                  <a:srgbClr val="666666"/>
                </a:solidFill>
                <a:latin typeface="Calibri"/>
              </a:rPr>
              <a:t>PS/PL </a:t>
            </a:r>
            <a:r>
              <a:rPr lang="ko-KR" altLang="en-US" sz="1000" dirty="0">
                <a:solidFill>
                  <a:srgbClr val="666666"/>
                </a:solidFill>
                <a:latin typeface="Calibri"/>
              </a:rPr>
              <a:t>통신 구현 </a:t>
            </a:r>
            <a:r>
              <a:rPr lang="en-US" altLang="ko-KR" sz="1000" dirty="0">
                <a:solidFill>
                  <a:srgbClr val="666666"/>
                </a:solidFill>
                <a:latin typeface="Calibri"/>
              </a:rPr>
              <a:t>LED </a:t>
            </a:r>
            <a:r>
              <a:rPr lang="ko-KR" altLang="en-US" sz="1000" dirty="0">
                <a:solidFill>
                  <a:srgbClr val="666666"/>
                </a:solidFill>
                <a:latin typeface="Calibri"/>
              </a:rPr>
              <a:t>제어</a:t>
            </a:r>
            <a:endParaRPr sz="1000" b="0" dirty="0">
              <a:solidFill>
                <a:srgbClr val="666666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454902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11">
            <a:extLst>
              <a:ext uri="{FF2B5EF4-FFF2-40B4-BE49-F238E27FC236}">
                <a16:creationId xmlns:a16="http://schemas.microsoft.com/office/drawing/2014/main" id="{93332A95-0887-6936-BCF5-D3B6C8A60524}"/>
              </a:ext>
            </a:extLst>
          </p:cNvPr>
          <p:cNvSpPr/>
          <p:nvPr/>
        </p:nvSpPr>
        <p:spPr>
          <a:xfrm>
            <a:off x="5449480" y="2035428"/>
            <a:ext cx="6052239" cy="3944779"/>
          </a:xfrm>
          <a:prstGeom prst="roundRect">
            <a:avLst>
              <a:gd name="adj" fmla="val 2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D24957D-6F7B-6179-9887-4BD83C51F649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C5F4914-536D-FB9C-2A69-A71A94687A53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6A2508-5420-8B4C-074A-77C25D745709}"/>
              </a:ext>
            </a:extLst>
          </p:cNvPr>
          <p:cNvSpPr txBox="1"/>
          <p:nvPr/>
        </p:nvSpPr>
        <p:spPr>
          <a:xfrm>
            <a:off x="457200" y="309890"/>
            <a:ext cx="1127729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  <a:latin typeface="Calibri"/>
              </a:rPr>
              <a:t>Vitis</a:t>
            </a:r>
            <a:r>
              <a:rPr lang="ko-KR" altLang="en-US" sz="2800" b="1" dirty="0">
                <a:solidFill>
                  <a:srgbClr val="FFFFFF"/>
                </a:solidFill>
                <a:latin typeface="Calibri"/>
              </a:rPr>
              <a:t>로 </a:t>
            </a:r>
            <a:r>
              <a:rPr lang="en-US" altLang="ko-KR" sz="2800" b="1" dirty="0">
                <a:solidFill>
                  <a:srgbClr val="FFFFFF"/>
                </a:solidFill>
                <a:latin typeface="Calibri"/>
              </a:rPr>
              <a:t>LED </a:t>
            </a:r>
            <a:r>
              <a:rPr lang="ko-KR" altLang="en-US" sz="2800" b="1" dirty="0">
                <a:solidFill>
                  <a:srgbClr val="FFFFFF"/>
                </a:solidFill>
                <a:latin typeface="Calibri"/>
              </a:rPr>
              <a:t>제어 </a:t>
            </a:r>
            <a:r>
              <a:rPr lang="en-US" altLang="ko-KR" sz="2800" b="1" dirty="0">
                <a:solidFill>
                  <a:srgbClr val="FFFFFF"/>
                </a:solidFill>
                <a:latin typeface="Calibri"/>
              </a:rPr>
              <a:t>(C-</a:t>
            </a:r>
            <a:r>
              <a:rPr lang="ko-KR" altLang="en-US" sz="2800" b="1" dirty="0">
                <a:solidFill>
                  <a:srgbClr val="FFFFFF"/>
                </a:solidFill>
                <a:latin typeface="Calibri"/>
              </a:rPr>
              <a:t>언어</a:t>
            </a:r>
            <a:r>
              <a:rPr lang="en-US" altLang="ko-KR" sz="2800" b="1" dirty="0">
                <a:solidFill>
                  <a:srgbClr val="FFFFFF"/>
                </a:solidFill>
                <a:latin typeface="Calibri"/>
              </a:rPr>
              <a:t>)</a:t>
            </a:r>
            <a:endParaRPr sz="28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6FBF6F-DE19-290D-3569-89140D6A81D9}"/>
              </a:ext>
            </a:extLst>
          </p:cNvPr>
          <p:cNvSpPr txBox="1"/>
          <p:nvPr/>
        </p:nvSpPr>
        <p:spPr>
          <a:xfrm>
            <a:off x="284749" y="1296765"/>
            <a:ext cx="474445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Step 4: </a:t>
            </a:r>
            <a:r>
              <a:rPr lang="ko-KR" altLang="en-US" dirty="0"/>
              <a:t>소스 코드 작성</a:t>
            </a:r>
            <a:endParaRPr lang="en-US" altLang="ko-KR" dirty="0"/>
          </a:p>
          <a:p>
            <a:pPr lvl="1"/>
            <a:r>
              <a:rPr lang="en-US" altLang="ko-KR" dirty="0"/>
              <a:t>4.1 </a:t>
            </a:r>
            <a:r>
              <a:rPr lang="ko-KR" altLang="en-US" dirty="0"/>
              <a:t>소스 파일 생성</a:t>
            </a:r>
            <a:endParaRPr lang="en-US" altLang="ko-KR" dirty="0"/>
          </a:p>
          <a:p>
            <a:pPr marL="800100" lvl="1" indent="-342900">
              <a:buAutoNum type="arabicPeriod"/>
            </a:pPr>
            <a:r>
              <a:rPr lang="en-US" altLang="ko-KR" dirty="0" err="1"/>
              <a:t>gpio_led_test</a:t>
            </a:r>
            <a:r>
              <a:rPr lang="en-US" altLang="ko-KR" dirty="0"/>
              <a:t> </a:t>
            </a:r>
            <a:r>
              <a:rPr lang="ko-KR" altLang="en-US" dirty="0"/>
              <a:t>프로젝트</a:t>
            </a:r>
            <a:endParaRPr lang="en-US" altLang="ko-KR" dirty="0"/>
          </a:p>
          <a:p>
            <a:pPr marL="800100" lvl="1" indent="-342900">
              <a:buAutoNum type="arabicPeriod"/>
            </a:pPr>
            <a:r>
              <a:rPr lang="en-US" altLang="ko-KR" dirty="0"/>
              <a:t>2. </a:t>
            </a:r>
            <a:r>
              <a:rPr lang="en-US" altLang="ko-KR" dirty="0" err="1"/>
              <a:t>src</a:t>
            </a:r>
            <a:r>
              <a:rPr lang="en-US" altLang="ko-KR" dirty="0"/>
              <a:t> </a:t>
            </a:r>
            <a:r>
              <a:rPr lang="ko-KR" altLang="en-US" dirty="0"/>
              <a:t>폴더 </a:t>
            </a:r>
            <a:r>
              <a:rPr lang="ko-KR" altLang="en-US" dirty="0" err="1"/>
              <a:t>우클릭</a:t>
            </a:r>
            <a:r>
              <a:rPr lang="ko-KR" altLang="en-US" dirty="0"/>
              <a:t> → </a:t>
            </a:r>
            <a:r>
              <a:rPr lang="en-US" altLang="ko-KR" dirty="0"/>
              <a:t>New → File</a:t>
            </a:r>
          </a:p>
          <a:p>
            <a:pPr marL="800100" lvl="1" indent="-342900">
              <a:buAutoNum type="arabicPeriod"/>
            </a:pPr>
            <a:r>
              <a:rPr lang="en-US" altLang="ko-KR" dirty="0"/>
              <a:t>3. </a:t>
            </a:r>
            <a:r>
              <a:rPr lang="ko-KR" altLang="en-US" dirty="0"/>
              <a:t>파일 이름</a:t>
            </a:r>
            <a:r>
              <a:rPr lang="en-US" altLang="ko-KR" dirty="0"/>
              <a:t>: </a:t>
            </a:r>
            <a:r>
              <a:rPr lang="en-US" altLang="ko-KR" dirty="0" err="1"/>
              <a:t>gpio_led_test.c</a:t>
            </a:r>
            <a:r>
              <a:rPr lang="en-US" altLang="ko-KR" dirty="0"/>
              <a:t> → Finish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2C430F-FBC0-F362-39AB-FAF843A5A8CD}"/>
              </a:ext>
            </a:extLst>
          </p:cNvPr>
          <p:cNvSpPr txBox="1"/>
          <p:nvPr/>
        </p:nvSpPr>
        <p:spPr>
          <a:xfrm>
            <a:off x="5197408" y="1543593"/>
            <a:ext cx="613610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4.2 LED </a:t>
            </a:r>
            <a:r>
              <a:rPr lang="ko-KR" altLang="en-US" dirty="0"/>
              <a:t>제어 코드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>
                <a:solidFill>
                  <a:schemeClr val="bg1"/>
                </a:solidFill>
              </a:rPr>
              <a:t>/* </a:t>
            </a:r>
          </a:p>
          <a:p>
            <a:pPr lvl="1"/>
            <a:r>
              <a:rPr lang="en-US" altLang="ko-KR" dirty="0">
                <a:solidFill>
                  <a:schemeClr val="bg1"/>
                </a:solidFill>
              </a:rPr>
              <a:t> * GPIO LED Control Application </a:t>
            </a:r>
          </a:p>
          <a:p>
            <a:pPr lvl="1"/>
            <a:r>
              <a:rPr lang="en-US" altLang="ko-KR" dirty="0">
                <a:solidFill>
                  <a:schemeClr val="bg1"/>
                </a:solidFill>
              </a:rPr>
              <a:t> * AXI GPIO</a:t>
            </a:r>
            <a:r>
              <a:rPr lang="ko-KR" altLang="en-US" dirty="0">
                <a:solidFill>
                  <a:schemeClr val="bg1"/>
                </a:solidFill>
              </a:rPr>
              <a:t>를 사용하여 </a:t>
            </a:r>
            <a:r>
              <a:rPr lang="en-US" altLang="ko-KR" dirty="0">
                <a:solidFill>
                  <a:schemeClr val="bg1"/>
                </a:solidFill>
              </a:rPr>
              <a:t>KV260 LED </a:t>
            </a:r>
            <a:r>
              <a:rPr lang="ko-KR" altLang="en-US" dirty="0">
                <a:solidFill>
                  <a:schemeClr val="bg1"/>
                </a:solidFill>
              </a:rPr>
              <a:t>제어</a:t>
            </a:r>
            <a:endParaRPr lang="en-US" altLang="ko-KR" dirty="0">
              <a:solidFill>
                <a:schemeClr val="bg1"/>
              </a:solidFill>
            </a:endParaRPr>
          </a:p>
          <a:p>
            <a:pPr lvl="1"/>
            <a:r>
              <a:rPr lang="ko-KR" altLang="en-US" dirty="0">
                <a:solidFill>
                  <a:schemeClr val="bg1"/>
                </a:solidFill>
              </a:rPr>
              <a:t> *</a:t>
            </a:r>
            <a:r>
              <a:rPr lang="en-US" altLang="ko-KR" dirty="0">
                <a:solidFill>
                  <a:schemeClr val="bg1"/>
                </a:solidFill>
              </a:rPr>
              <a:t>/</a:t>
            </a:r>
          </a:p>
          <a:p>
            <a:pPr lvl="1"/>
            <a:r>
              <a:rPr lang="en-US" altLang="ko-KR" dirty="0">
                <a:solidFill>
                  <a:schemeClr val="bg1"/>
                </a:solidFill>
              </a:rPr>
              <a:t>#include &lt;</a:t>
            </a:r>
            <a:r>
              <a:rPr lang="en-US" altLang="ko-KR" dirty="0" err="1">
                <a:solidFill>
                  <a:schemeClr val="bg1"/>
                </a:solidFill>
              </a:rPr>
              <a:t>stdio.h</a:t>
            </a:r>
            <a:r>
              <a:rPr lang="en-US" altLang="ko-KR" dirty="0">
                <a:solidFill>
                  <a:schemeClr val="bg1"/>
                </a:solidFill>
              </a:rPr>
              <a:t>&gt;</a:t>
            </a:r>
          </a:p>
          <a:p>
            <a:pPr lvl="1"/>
            <a:r>
              <a:rPr lang="en-US" altLang="ko-KR" dirty="0">
                <a:solidFill>
                  <a:schemeClr val="bg1"/>
                </a:solidFill>
              </a:rPr>
              <a:t>#include &lt;</a:t>
            </a:r>
            <a:r>
              <a:rPr lang="en-US" altLang="ko-KR" dirty="0" err="1">
                <a:solidFill>
                  <a:schemeClr val="bg1"/>
                </a:solidFill>
              </a:rPr>
              <a:t>stdlib.h</a:t>
            </a:r>
            <a:r>
              <a:rPr lang="en-US" altLang="ko-KR" dirty="0">
                <a:solidFill>
                  <a:schemeClr val="bg1"/>
                </a:solidFill>
              </a:rPr>
              <a:t>&gt;</a:t>
            </a:r>
          </a:p>
          <a:p>
            <a:pPr lvl="1"/>
            <a:r>
              <a:rPr lang="en-US" altLang="ko-KR" dirty="0">
                <a:solidFill>
                  <a:schemeClr val="bg1"/>
                </a:solidFill>
              </a:rPr>
              <a:t>#include &lt;</a:t>
            </a:r>
            <a:r>
              <a:rPr lang="en-US" altLang="ko-KR" dirty="0" err="1">
                <a:solidFill>
                  <a:schemeClr val="bg1"/>
                </a:solidFill>
              </a:rPr>
              <a:t>unistd.h</a:t>
            </a:r>
            <a:r>
              <a:rPr lang="en-US" altLang="ko-KR" dirty="0">
                <a:solidFill>
                  <a:schemeClr val="bg1"/>
                </a:solidFill>
              </a:rPr>
              <a:t>&gt;</a:t>
            </a:r>
          </a:p>
          <a:p>
            <a:pPr lvl="1"/>
            <a:r>
              <a:rPr lang="en-US" altLang="ko-KR" dirty="0">
                <a:solidFill>
                  <a:schemeClr val="bg1"/>
                </a:solidFill>
              </a:rPr>
              <a:t>#include "</a:t>
            </a:r>
            <a:r>
              <a:rPr lang="en-US" altLang="ko-KR" dirty="0" err="1">
                <a:solidFill>
                  <a:schemeClr val="bg1"/>
                </a:solidFill>
              </a:rPr>
              <a:t>xparameters.h</a:t>
            </a:r>
            <a:r>
              <a:rPr lang="en-US" altLang="ko-KR" dirty="0">
                <a:solidFill>
                  <a:schemeClr val="bg1"/>
                </a:solidFill>
              </a:rPr>
              <a:t>“</a:t>
            </a:r>
          </a:p>
          <a:p>
            <a:pPr lvl="1"/>
            <a:r>
              <a:rPr lang="en-US" altLang="ko-KR" dirty="0">
                <a:solidFill>
                  <a:schemeClr val="bg1"/>
                </a:solidFill>
              </a:rPr>
              <a:t>#include "</a:t>
            </a:r>
            <a:r>
              <a:rPr lang="en-US" altLang="ko-KR" dirty="0" err="1">
                <a:solidFill>
                  <a:schemeClr val="bg1"/>
                </a:solidFill>
              </a:rPr>
              <a:t>xgpio.h</a:t>
            </a:r>
            <a:r>
              <a:rPr lang="en-US" altLang="ko-KR" dirty="0">
                <a:solidFill>
                  <a:schemeClr val="bg1"/>
                </a:solidFill>
              </a:rPr>
              <a:t>“</a:t>
            </a:r>
          </a:p>
          <a:p>
            <a:pPr lvl="1"/>
            <a:endParaRPr lang="en-US" altLang="ko-KR" dirty="0">
              <a:solidFill>
                <a:schemeClr val="bg1"/>
              </a:solidFill>
            </a:endParaRPr>
          </a:p>
          <a:p>
            <a:pPr lvl="1"/>
            <a:r>
              <a:rPr lang="en-US" altLang="ko-KR" dirty="0">
                <a:solidFill>
                  <a:schemeClr val="bg1"/>
                </a:solidFill>
              </a:rPr>
              <a:t>// </a:t>
            </a:r>
            <a:r>
              <a:rPr lang="ko-KR" altLang="en-US" dirty="0">
                <a:solidFill>
                  <a:schemeClr val="bg1"/>
                </a:solidFill>
              </a:rPr>
              <a:t>장치 </a:t>
            </a:r>
            <a:r>
              <a:rPr lang="en-US" altLang="ko-KR" dirty="0">
                <a:solidFill>
                  <a:schemeClr val="bg1"/>
                </a:solidFill>
              </a:rPr>
              <a:t>ID (</a:t>
            </a:r>
            <a:r>
              <a:rPr lang="en-US" altLang="ko-KR" dirty="0" err="1">
                <a:solidFill>
                  <a:schemeClr val="bg1"/>
                </a:solidFill>
              </a:rPr>
              <a:t>Vivado</a:t>
            </a:r>
            <a:r>
              <a:rPr lang="ko-KR" altLang="en-US" dirty="0">
                <a:solidFill>
                  <a:schemeClr val="bg1"/>
                </a:solidFill>
              </a:rPr>
              <a:t>에서 자동 생성됨</a:t>
            </a:r>
            <a:r>
              <a:rPr lang="en-US" altLang="ko-KR" dirty="0">
                <a:solidFill>
                  <a:schemeClr val="bg1"/>
                </a:solidFill>
              </a:rPr>
              <a:t>)</a:t>
            </a:r>
          </a:p>
          <a:p>
            <a:pPr lvl="1"/>
            <a:r>
              <a:rPr lang="en-US" altLang="ko-KR" dirty="0">
                <a:solidFill>
                  <a:schemeClr val="bg1"/>
                </a:solidFill>
              </a:rPr>
              <a:t>#define GPIO_DEVICE_ID  XPAR_AXI_GPIO_0_DEVICE_ID</a:t>
            </a:r>
          </a:p>
          <a:p>
            <a:pPr lvl="1"/>
            <a:r>
              <a:rPr lang="en-US" altLang="ko-KR" dirty="0">
                <a:solidFill>
                  <a:schemeClr val="bg1"/>
                </a:solidFill>
              </a:rPr>
              <a:t>#define LED_CHANNEL     1</a:t>
            </a:r>
          </a:p>
        </p:txBody>
      </p:sp>
      <p:sp>
        <p:nvSpPr>
          <p:cNvPr id="11" name="Rounded Rectangle 12">
            <a:extLst>
              <a:ext uri="{FF2B5EF4-FFF2-40B4-BE49-F238E27FC236}">
                <a16:creationId xmlns:a16="http://schemas.microsoft.com/office/drawing/2014/main" id="{59E5D6B1-603E-3D88-2149-1B368ABB0F4B}"/>
              </a:ext>
            </a:extLst>
          </p:cNvPr>
          <p:cNvSpPr/>
          <p:nvPr/>
        </p:nvSpPr>
        <p:spPr>
          <a:xfrm>
            <a:off x="10503216" y="2143760"/>
            <a:ext cx="914400" cy="148930"/>
          </a:xfrm>
          <a:prstGeom prst="roundRect">
            <a:avLst>
              <a:gd name="adj" fmla="val 15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900" dirty="0">
                <a:solidFill>
                  <a:srgbClr val="888888"/>
                </a:solidFill>
                <a:latin typeface="Calibri"/>
              </a:rPr>
              <a:t>code</a:t>
            </a:r>
            <a:endParaRPr sz="900" b="0" dirty="0">
              <a:solidFill>
                <a:srgbClr val="888888"/>
              </a:solidFill>
              <a:latin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901CDC-222A-2560-8D0C-5DFA711D0339}"/>
              </a:ext>
            </a:extLst>
          </p:cNvPr>
          <p:cNvSpPr txBox="1"/>
          <p:nvPr/>
        </p:nvSpPr>
        <p:spPr>
          <a:xfrm>
            <a:off x="11692703" y="6492240"/>
            <a:ext cx="31611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000" b="0" dirty="0">
                <a:solidFill>
                  <a:srgbClr val="666666"/>
                </a:solidFill>
                <a:latin typeface="Calibri"/>
              </a:rPr>
              <a:t>18</a:t>
            </a:r>
            <a:endParaRPr sz="1000" b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EFF4A03C-CB0D-3F0C-22F8-42BDD8FAE975}"/>
              </a:ext>
            </a:extLst>
          </p:cNvPr>
          <p:cNvSpPr/>
          <p:nvPr/>
        </p:nvSpPr>
        <p:spPr>
          <a:xfrm>
            <a:off x="457200" y="6446520"/>
            <a:ext cx="1127729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716AA0-FDC1-F38F-B7E0-99B572D9DCCD}"/>
              </a:ext>
            </a:extLst>
          </p:cNvPr>
          <p:cNvSpPr txBox="1"/>
          <p:nvPr/>
        </p:nvSpPr>
        <p:spPr>
          <a:xfrm>
            <a:off x="457200" y="6492240"/>
            <a:ext cx="326403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dirty="0">
                <a:solidFill>
                  <a:srgbClr val="666666"/>
                </a:solidFill>
                <a:latin typeface="Calibri"/>
              </a:rPr>
              <a:t>Step 0</a:t>
            </a:r>
            <a:r>
              <a:rPr lang="en-US" sz="1000" b="0" dirty="0">
                <a:solidFill>
                  <a:srgbClr val="666666"/>
                </a:solidFill>
                <a:latin typeface="Calibri"/>
              </a:rPr>
              <a:t>3</a:t>
            </a:r>
            <a:r>
              <a:rPr sz="1000" b="0" dirty="0">
                <a:solidFill>
                  <a:srgbClr val="666666"/>
                </a:solidFill>
                <a:latin typeface="Calibri"/>
              </a:rPr>
              <a:t>: </a:t>
            </a:r>
            <a:r>
              <a:rPr lang="en-US" altLang="ko-KR" sz="1000" b="0" dirty="0">
                <a:solidFill>
                  <a:srgbClr val="666666"/>
                </a:solidFill>
                <a:latin typeface="Calibri"/>
              </a:rPr>
              <a:t>AXI GPIO Integration</a:t>
            </a:r>
            <a:r>
              <a:rPr sz="1000" b="0" dirty="0">
                <a:solidFill>
                  <a:srgbClr val="666666"/>
                </a:solidFill>
                <a:latin typeface="Calibri"/>
              </a:rPr>
              <a:t> —</a:t>
            </a:r>
            <a:r>
              <a:rPr lang="en-US" sz="1000" b="0" dirty="0">
                <a:solidFill>
                  <a:srgbClr val="666666"/>
                </a:solidFill>
                <a:latin typeface="Calibri"/>
              </a:rPr>
              <a:t> </a:t>
            </a:r>
            <a:r>
              <a:rPr lang="en-US" sz="1000" dirty="0">
                <a:solidFill>
                  <a:srgbClr val="666666"/>
                </a:solidFill>
                <a:latin typeface="Calibri"/>
              </a:rPr>
              <a:t>PS/PL </a:t>
            </a:r>
            <a:r>
              <a:rPr lang="ko-KR" altLang="en-US" sz="1000" dirty="0">
                <a:solidFill>
                  <a:srgbClr val="666666"/>
                </a:solidFill>
                <a:latin typeface="Calibri"/>
              </a:rPr>
              <a:t>통신 구현 </a:t>
            </a:r>
            <a:r>
              <a:rPr lang="en-US" altLang="ko-KR" sz="1000" dirty="0">
                <a:solidFill>
                  <a:srgbClr val="666666"/>
                </a:solidFill>
                <a:latin typeface="Calibri"/>
              </a:rPr>
              <a:t>LED </a:t>
            </a:r>
            <a:r>
              <a:rPr lang="ko-KR" altLang="en-US" sz="1000" dirty="0">
                <a:solidFill>
                  <a:srgbClr val="666666"/>
                </a:solidFill>
                <a:latin typeface="Calibri"/>
              </a:rPr>
              <a:t>제어</a:t>
            </a:r>
            <a:endParaRPr sz="1000" b="0" dirty="0">
              <a:solidFill>
                <a:srgbClr val="666666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584509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11">
            <a:extLst>
              <a:ext uri="{FF2B5EF4-FFF2-40B4-BE49-F238E27FC236}">
                <a16:creationId xmlns:a16="http://schemas.microsoft.com/office/drawing/2014/main" id="{AB4777A5-BD83-F607-8CC3-E71901E49F5C}"/>
              </a:ext>
            </a:extLst>
          </p:cNvPr>
          <p:cNvSpPr/>
          <p:nvPr/>
        </p:nvSpPr>
        <p:spPr>
          <a:xfrm>
            <a:off x="5551680" y="1277471"/>
            <a:ext cx="6254837" cy="5096262"/>
          </a:xfrm>
          <a:prstGeom prst="roundRect">
            <a:avLst>
              <a:gd name="adj" fmla="val 2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11">
            <a:extLst>
              <a:ext uri="{FF2B5EF4-FFF2-40B4-BE49-F238E27FC236}">
                <a16:creationId xmlns:a16="http://schemas.microsoft.com/office/drawing/2014/main" id="{6C3F5C31-5437-8DC5-87D5-2B0358F35A5A}"/>
              </a:ext>
            </a:extLst>
          </p:cNvPr>
          <p:cNvSpPr/>
          <p:nvPr/>
        </p:nvSpPr>
        <p:spPr>
          <a:xfrm>
            <a:off x="96675" y="1321236"/>
            <a:ext cx="5257208" cy="4945093"/>
          </a:xfrm>
          <a:prstGeom prst="roundRect">
            <a:avLst>
              <a:gd name="adj" fmla="val 2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C2BB83F-D840-235A-1853-2D03DE05E63E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0A6C469-42EE-AD0B-9606-F9D49BD7EC01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528F06-E6B5-D4D2-0BA1-DA732AF6691C}"/>
              </a:ext>
            </a:extLst>
          </p:cNvPr>
          <p:cNvSpPr txBox="1"/>
          <p:nvPr/>
        </p:nvSpPr>
        <p:spPr>
          <a:xfrm>
            <a:off x="457200" y="309890"/>
            <a:ext cx="1127729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  <a:latin typeface="Calibri"/>
              </a:rPr>
              <a:t>Vitis</a:t>
            </a:r>
            <a:r>
              <a:rPr lang="ko-KR" altLang="en-US" sz="2800" b="1" dirty="0">
                <a:solidFill>
                  <a:srgbClr val="FFFFFF"/>
                </a:solidFill>
                <a:latin typeface="Calibri"/>
              </a:rPr>
              <a:t>로 </a:t>
            </a:r>
            <a:r>
              <a:rPr lang="en-US" altLang="ko-KR" sz="2800" b="1" dirty="0">
                <a:solidFill>
                  <a:srgbClr val="FFFFFF"/>
                </a:solidFill>
                <a:latin typeface="Calibri"/>
              </a:rPr>
              <a:t>LED </a:t>
            </a:r>
            <a:r>
              <a:rPr lang="ko-KR" altLang="en-US" sz="2800" b="1" dirty="0">
                <a:solidFill>
                  <a:srgbClr val="FFFFFF"/>
                </a:solidFill>
                <a:latin typeface="Calibri"/>
              </a:rPr>
              <a:t>제어 </a:t>
            </a:r>
            <a:r>
              <a:rPr lang="en-US" altLang="ko-KR" sz="2800" b="1" dirty="0">
                <a:solidFill>
                  <a:srgbClr val="FFFFFF"/>
                </a:solidFill>
                <a:latin typeface="Calibri"/>
              </a:rPr>
              <a:t>(C-</a:t>
            </a:r>
            <a:r>
              <a:rPr lang="ko-KR" altLang="en-US" sz="2800" b="1" dirty="0">
                <a:solidFill>
                  <a:srgbClr val="FFFFFF"/>
                </a:solidFill>
                <a:latin typeface="Calibri"/>
              </a:rPr>
              <a:t>언어</a:t>
            </a:r>
            <a:r>
              <a:rPr lang="en-US" altLang="ko-KR" sz="2800" b="1" dirty="0">
                <a:solidFill>
                  <a:srgbClr val="FFFFFF"/>
                </a:solidFill>
                <a:latin typeface="Calibri"/>
              </a:rPr>
              <a:t>)</a:t>
            </a:r>
            <a:endParaRPr sz="28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72373A-E4B6-8AEC-B8E8-CC92F4ACD017}"/>
              </a:ext>
            </a:extLst>
          </p:cNvPr>
          <p:cNvSpPr txBox="1"/>
          <p:nvPr/>
        </p:nvSpPr>
        <p:spPr>
          <a:xfrm>
            <a:off x="195574" y="1310650"/>
            <a:ext cx="5257208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chemeClr val="bg1"/>
                </a:solidFill>
              </a:rPr>
              <a:t>int main() {    </a:t>
            </a:r>
          </a:p>
          <a:p>
            <a:pPr lvl="1"/>
            <a:r>
              <a:rPr lang="en-US" altLang="ko-KR" sz="1600" dirty="0" err="1">
                <a:solidFill>
                  <a:schemeClr val="bg1"/>
                </a:solidFill>
              </a:rPr>
              <a:t>XGpio</a:t>
            </a:r>
            <a:r>
              <a:rPr lang="en-US" altLang="ko-KR" sz="1600" dirty="0">
                <a:solidFill>
                  <a:schemeClr val="bg1"/>
                </a:solidFill>
              </a:rPr>
              <a:t> </a:t>
            </a:r>
            <a:r>
              <a:rPr lang="en-US" altLang="ko-KR" sz="1600" dirty="0" err="1">
                <a:solidFill>
                  <a:schemeClr val="bg1"/>
                </a:solidFill>
              </a:rPr>
              <a:t>gpio</a:t>
            </a:r>
            <a:r>
              <a:rPr lang="en-US" altLang="ko-KR" sz="1600" dirty="0">
                <a:solidFill>
                  <a:schemeClr val="bg1"/>
                </a:solidFill>
              </a:rPr>
              <a:t>;    </a:t>
            </a:r>
          </a:p>
          <a:p>
            <a:pPr lvl="1"/>
            <a:r>
              <a:rPr lang="en-US" altLang="ko-KR" sz="1600" dirty="0">
                <a:solidFill>
                  <a:schemeClr val="bg1"/>
                </a:solidFill>
              </a:rPr>
              <a:t>int status;    </a:t>
            </a:r>
          </a:p>
          <a:p>
            <a:pPr lvl="1"/>
            <a:r>
              <a:rPr lang="en-US" altLang="ko-KR" sz="1600" dirty="0">
                <a:solidFill>
                  <a:schemeClr val="bg1"/>
                </a:solidFill>
              </a:rPr>
              <a:t>int </a:t>
            </a:r>
            <a:r>
              <a:rPr lang="en-US" altLang="ko-KR" sz="1600" dirty="0" err="1">
                <a:solidFill>
                  <a:schemeClr val="bg1"/>
                </a:solidFill>
              </a:rPr>
              <a:t>led_value</a:t>
            </a:r>
            <a:r>
              <a:rPr lang="en-US" altLang="ko-KR" sz="1600" dirty="0">
                <a:solidFill>
                  <a:schemeClr val="bg1"/>
                </a:solidFill>
              </a:rPr>
              <a:t> = 0;    </a:t>
            </a:r>
          </a:p>
          <a:p>
            <a:pPr lvl="1"/>
            <a:r>
              <a:rPr lang="en-US" altLang="ko-KR" sz="1600" dirty="0" err="1">
                <a:solidFill>
                  <a:schemeClr val="bg1"/>
                </a:solidFill>
              </a:rPr>
              <a:t>printf</a:t>
            </a:r>
            <a:r>
              <a:rPr lang="en-US" altLang="ko-KR" sz="1600" dirty="0">
                <a:solidFill>
                  <a:schemeClr val="bg1"/>
                </a:solidFill>
              </a:rPr>
              <a:t>("KV260 AXI GPIO LED Test\n");    </a:t>
            </a:r>
            <a:r>
              <a:rPr lang="en-US" altLang="ko-KR" sz="1600" dirty="0" err="1">
                <a:solidFill>
                  <a:schemeClr val="bg1"/>
                </a:solidFill>
              </a:rPr>
              <a:t>printf</a:t>
            </a:r>
            <a:r>
              <a:rPr lang="en-US" altLang="ko-KR" sz="1600" dirty="0">
                <a:solidFill>
                  <a:schemeClr val="bg1"/>
                </a:solidFill>
              </a:rPr>
              <a:t>("========================\n");</a:t>
            </a:r>
          </a:p>
          <a:p>
            <a:pPr lvl="1"/>
            <a:r>
              <a:rPr lang="en-US" altLang="ko-KR" sz="1600" dirty="0">
                <a:solidFill>
                  <a:schemeClr val="bg1"/>
                </a:solidFill>
              </a:rPr>
              <a:t>    </a:t>
            </a:r>
          </a:p>
          <a:p>
            <a:pPr lvl="1"/>
            <a:r>
              <a:rPr lang="en-US" altLang="ko-KR" sz="1600" dirty="0">
                <a:solidFill>
                  <a:schemeClr val="bg1"/>
                </a:solidFill>
              </a:rPr>
              <a:t>// GPIO </a:t>
            </a:r>
            <a:r>
              <a:rPr lang="ko-KR" altLang="en-US" sz="1600" dirty="0">
                <a:solidFill>
                  <a:schemeClr val="bg1"/>
                </a:solidFill>
              </a:rPr>
              <a:t>초기화    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lvl="1"/>
            <a:r>
              <a:rPr lang="en-US" altLang="ko-KR" sz="1600" dirty="0">
                <a:solidFill>
                  <a:schemeClr val="bg1"/>
                </a:solidFill>
              </a:rPr>
              <a:t>status = </a:t>
            </a:r>
            <a:r>
              <a:rPr lang="en-US" altLang="ko-KR" sz="1600" dirty="0" err="1">
                <a:solidFill>
                  <a:schemeClr val="bg1"/>
                </a:solidFill>
              </a:rPr>
              <a:t>XGpio_Initialize</a:t>
            </a:r>
            <a:r>
              <a:rPr lang="en-US" altLang="ko-KR" sz="1600" dirty="0">
                <a:solidFill>
                  <a:schemeClr val="bg1"/>
                </a:solidFill>
              </a:rPr>
              <a:t>(&amp;</a:t>
            </a:r>
            <a:r>
              <a:rPr lang="en-US" altLang="ko-KR" sz="1600" dirty="0" err="1">
                <a:solidFill>
                  <a:schemeClr val="bg1"/>
                </a:solidFill>
              </a:rPr>
              <a:t>gpio</a:t>
            </a:r>
            <a:r>
              <a:rPr lang="en-US" altLang="ko-KR" sz="1600" dirty="0">
                <a:solidFill>
                  <a:schemeClr val="bg1"/>
                </a:solidFill>
              </a:rPr>
              <a:t>, GPIO_DEVICE_ID);   </a:t>
            </a:r>
          </a:p>
          <a:p>
            <a:pPr lvl="1"/>
            <a:r>
              <a:rPr lang="en-US" altLang="ko-KR" sz="1600" dirty="0">
                <a:solidFill>
                  <a:schemeClr val="bg1"/>
                </a:solidFill>
              </a:rPr>
              <a:t> if (status != XST_SUCCESS) {        </a:t>
            </a:r>
          </a:p>
          <a:p>
            <a:pPr lvl="2"/>
            <a:r>
              <a:rPr lang="en-US" altLang="ko-KR" sz="1600" dirty="0" err="1">
                <a:solidFill>
                  <a:schemeClr val="bg1"/>
                </a:solidFill>
              </a:rPr>
              <a:t>printf</a:t>
            </a:r>
            <a:r>
              <a:rPr lang="en-US" altLang="ko-KR" sz="1600" dirty="0">
                <a:solidFill>
                  <a:schemeClr val="bg1"/>
                </a:solidFill>
              </a:rPr>
              <a:t>("</a:t>
            </a:r>
            <a:r>
              <a:rPr lang="en-US" altLang="ko-KR" sz="1600" dirty="0" err="1">
                <a:solidFill>
                  <a:schemeClr val="bg1"/>
                </a:solidFill>
              </a:rPr>
              <a:t>XGpio_Initialize</a:t>
            </a:r>
            <a:r>
              <a:rPr lang="en-US" altLang="ko-KR" sz="1600" dirty="0">
                <a:solidFill>
                  <a:schemeClr val="bg1"/>
                </a:solidFill>
              </a:rPr>
              <a:t> failed!\n");        </a:t>
            </a:r>
          </a:p>
          <a:p>
            <a:pPr lvl="2"/>
            <a:r>
              <a:rPr lang="en-US" altLang="ko-KR" sz="1600" dirty="0">
                <a:solidFill>
                  <a:schemeClr val="bg1"/>
                </a:solidFill>
              </a:rPr>
              <a:t>return XST_FAILURE;   </a:t>
            </a:r>
          </a:p>
          <a:p>
            <a:pPr lvl="1"/>
            <a:r>
              <a:rPr lang="en-US" altLang="ko-KR" sz="1600" dirty="0">
                <a:solidFill>
                  <a:schemeClr val="bg1"/>
                </a:solidFill>
              </a:rPr>
              <a:t> }    </a:t>
            </a:r>
          </a:p>
          <a:p>
            <a:pPr lvl="1"/>
            <a:endParaRPr lang="en-US" altLang="ko-KR" sz="1600" dirty="0">
              <a:solidFill>
                <a:schemeClr val="bg1"/>
              </a:solidFill>
            </a:endParaRPr>
          </a:p>
          <a:p>
            <a:pPr lvl="1"/>
            <a:r>
              <a:rPr lang="en-US" altLang="ko-KR" sz="1600" dirty="0">
                <a:solidFill>
                  <a:schemeClr val="bg1"/>
                </a:solidFill>
              </a:rPr>
              <a:t>// </a:t>
            </a:r>
            <a:r>
              <a:rPr lang="ko-KR" altLang="en-US" sz="1600" dirty="0">
                <a:solidFill>
                  <a:schemeClr val="bg1"/>
                </a:solidFill>
              </a:rPr>
              <a:t>채널 </a:t>
            </a:r>
            <a:r>
              <a:rPr lang="en-US" altLang="ko-KR" sz="1600" dirty="0">
                <a:solidFill>
                  <a:schemeClr val="bg1"/>
                </a:solidFill>
              </a:rPr>
              <a:t>1</a:t>
            </a:r>
            <a:r>
              <a:rPr lang="ko-KR" altLang="en-US" sz="1600" dirty="0">
                <a:solidFill>
                  <a:schemeClr val="bg1"/>
                </a:solidFill>
              </a:rPr>
              <a:t>을 출력으로 설정 </a:t>
            </a:r>
            <a:r>
              <a:rPr lang="en-US" altLang="ko-KR" sz="1600" dirty="0">
                <a:solidFill>
                  <a:schemeClr val="bg1"/>
                </a:solidFill>
              </a:rPr>
              <a:t>(0 = </a:t>
            </a:r>
            <a:r>
              <a:rPr lang="ko-KR" altLang="en-US" sz="1600" dirty="0">
                <a:solidFill>
                  <a:schemeClr val="bg1"/>
                </a:solidFill>
              </a:rPr>
              <a:t>출력</a:t>
            </a:r>
            <a:r>
              <a:rPr lang="en-US" altLang="ko-KR" sz="1600" dirty="0">
                <a:solidFill>
                  <a:schemeClr val="bg1"/>
                </a:solidFill>
              </a:rPr>
              <a:t>)    </a:t>
            </a:r>
            <a:r>
              <a:rPr lang="en-US" altLang="ko-KR" sz="1600" dirty="0" err="1">
                <a:solidFill>
                  <a:schemeClr val="bg1"/>
                </a:solidFill>
              </a:rPr>
              <a:t>XGpio_SetDataDirection</a:t>
            </a:r>
            <a:r>
              <a:rPr lang="en-US" altLang="ko-KR" sz="1600" dirty="0">
                <a:solidFill>
                  <a:schemeClr val="bg1"/>
                </a:solidFill>
              </a:rPr>
              <a:t>(&amp;</a:t>
            </a:r>
            <a:r>
              <a:rPr lang="en-US" altLang="ko-KR" sz="1600" dirty="0" err="1">
                <a:solidFill>
                  <a:schemeClr val="bg1"/>
                </a:solidFill>
              </a:rPr>
              <a:t>gpio</a:t>
            </a:r>
            <a:r>
              <a:rPr lang="en-US" altLang="ko-KR" sz="1600" dirty="0">
                <a:solidFill>
                  <a:schemeClr val="bg1"/>
                </a:solidFill>
              </a:rPr>
              <a:t>, LED_CHANNEL, 0x0);    </a:t>
            </a:r>
            <a:r>
              <a:rPr lang="en-US" altLang="ko-KR" sz="1600" dirty="0" err="1">
                <a:solidFill>
                  <a:schemeClr val="bg1"/>
                </a:solidFill>
              </a:rPr>
              <a:t>printf</a:t>
            </a:r>
            <a:r>
              <a:rPr lang="en-US" altLang="ko-KR" sz="1600" dirty="0">
                <a:solidFill>
                  <a:schemeClr val="bg1"/>
                </a:solidFill>
              </a:rPr>
              <a:t>("Starting LED blink pattern...\n");  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BD10DA-E086-8FBF-9F5C-DE5F55D0102A}"/>
              </a:ext>
            </a:extLst>
          </p:cNvPr>
          <p:cNvSpPr txBox="1"/>
          <p:nvPr/>
        </p:nvSpPr>
        <p:spPr>
          <a:xfrm>
            <a:off x="5587254" y="1585406"/>
            <a:ext cx="646773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ko-KR" sz="1600" dirty="0">
                <a:solidFill>
                  <a:schemeClr val="bg1"/>
                </a:solidFill>
              </a:rPr>
              <a:t>// LED </a:t>
            </a:r>
            <a:r>
              <a:rPr lang="ko-KR" altLang="en-US" sz="1600" dirty="0">
                <a:solidFill>
                  <a:schemeClr val="bg1"/>
                </a:solidFill>
              </a:rPr>
              <a:t>패턴 시퀀스    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lvl="1"/>
            <a:r>
              <a:rPr lang="en-US" altLang="ko-KR" sz="1600" dirty="0">
                <a:solidFill>
                  <a:schemeClr val="bg1"/>
                </a:solidFill>
              </a:rPr>
              <a:t>int patterns[] = {0x1, 0x2, 0x4, 0x8, 0xF, 0x0};    </a:t>
            </a:r>
          </a:p>
          <a:p>
            <a:pPr lvl="1"/>
            <a:r>
              <a:rPr lang="en-US" altLang="ko-KR" sz="1600" dirty="0">
                <a:solidFill>
                  <a:schemeClr val="bg1"/>
                </a:solidFill>
              </a:rPr>
              <a:t>int </a:t>
            </a:r>
            <a:r>
              <a:rPr lang="en-US" altLang="ko-KR" sz="1600" dirty="0" err="1">
                <a:solidFill>
                  <a:schemeClr val="bg1"/>
                </a:solidFill>
              </a:rPr>
              <a:t>pattern_count</a:t>
            </a:r>
            <a:r>
              <a:rPr lang="en-US" altLang="ko-KR" sz="1600" dirty="0">
                <a:solidFill>
                  <a:schemeClr val="bg1"/>
                </a:solidFill>
              </a:rPr>
              <a:t> = </a:t>
            </a:r>
            <a:r>
              <a:rPr lang="en-US" altLang="ko-KR" sz="1600" dirty="0" err="1">
                <a:solidFill>
                  <a:schemeClr val="bg1"/>
                </a:solidFill>
              </a:rPr>
              <a:t>sizeof</a:t>
            </a:r>
            <a:r>
              <a:rPr lang="en-US" altLang="ko-KR" sz="1600" dirty="0">
                <a:solidFill>
                  <a:schemeClr val="bg1"/>
                </a:solidFill>
              </a:rPr>
              <a:t>(patterns) / </a:t>
            </a:r>
            <a:r>
              <a:rPr lang="en-US" altLang="ko-KR" sz="1600" dirty="0" err="1">
                <a:solidFill>
                  <a:schemeClr val="bg1"/>
                </a:solidFill>
              </a:rPr>
              <a:t>sizeof</a:t>
            </a:r>
            <a:r>
              <a:rPr lang="en-US" altLang="ko-KR" sz="1600" dirty="0">
                <a:solidFill>
                  <a:schemeClr val="bg1"/>
                </a:solidFill>
              </a:rPr>
              <a:t>(patterns[0]);    </a:t>
            </a:r>
          </a:p>
          <a:p>
            <a:pPr lvl="1"/>
            <a:endParaRPr lang="en-US" altLang="ko-KR" sz="1600" dirty="0">
              <a:solidFill>
                <a:schemeClr val="bg1"/>
              </a:solidFill>
            </a:endParaRPr>
          </a:p>
          <a:p>
            <a:pPr lvl="1"/>
            <a:r>
              <a:rPr lang="en-US" altLang="ko-KR" sz="1600" dirty="0">
                <a:solidFill>
                  <a:schemeClr val="bg1"/>
                </a:solidFill>
              </a:rPr>
              <a:t>// 10</a:t>
            </a:r>
            <a:r>
              <a:rPr lang="ko-KR" altLang="en-US" sz="1600" dirty="0">
                <a:solidFill>
                  <a:schemeClr val="bg1"/>
                </a:solidFill>
              </a:rPr>
              <a:t>번 반복    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lvl="1"/>
            <a:r>
              <a:rPr lang="en-US" altLang="ko-KR" sz="1600" dirty="0">
                <a:solidFill>
                  <a:schemeClr val="bg1"/>
                </a:solidFill>
              </a:rPr>
              <a:t>for (int repeat = 0; repeat &lt; 10; repeat++) {        </a:t>
            </a:r>
          </a:p>
          <a:p>
            <a:pPr lvl="2"/>
            <a:r>
              <a:rPr lang="en-US" altLang="ko-KR" sz="1600" dirty="0">
                <a:solidFill>
                  <a:schemeClr val="bg1"/>
                </a:solidFill>
              </a:rPr>
              <a:t>for (int </a:t>
            </a:r>
            <a:r>
              <a:rPr lang="en-US" altLang="ko-KR" sz="1600" dirty="0" err="1">
                <a:solidFill>
                  <a:schemeClr val="bg1"/>
                </a:solidFill>
              </a:rPr>
              <a:t>i</a:t>
            </a:r>
            <a:r>
              <a:rPr lang="en-US" altLang="ko-KR" sz="1600" dirty="0">
                <a:solidFill>
                  <a:schemeClr val="bg1"/>
                </a:solidFill>
              </a:rPr>
              <a:t> = 0; </a:t>
            </a:r>
            <a:r>
              <a:rPr lang="en-US" altLang="ko-KR" sz="1600" dirty="0" err="1">
                <a:solidFill>
                  <a:schemeClr val="bg1"/>
                </a:solidFill>
              </a:rPr>
              <a:t>i</a:t>
            </a:r>
            <a:r>
              <a:rPr lang="en-US" altLang="ko-KR" sz="1600" dirty="0">
                <a:solidFill>
                  <a:schemeClr val="bg1"/>
                </a:solidFill>
              </a:rPr>
              <a:t> &lt; </a:t>
            </a:r>
            <a:r>
              <a:rPr lang="en-US" altLang="ko-KR" sz="1600" dirty="0" err="1">
                <a:solidFill>
                  <a:schemeClr val="bg1"/>
                </a:solidFill>
              </a:rPr>
              <a:t>pattern_count</a:t>
            </a:r>
            <a:r>
              <a:rPr lang="en-US" altLang="ko-KR" sz="1600" dirty="0">
                <a:solidFill>
                  <a:schemeClr val="bg1"/>
                </a:solidFill>
              </a:rPr>
              <a:t>; </a:t>
            </a:r>
            <a:r>
              <a:rPr lang="en-US" altLang="ko-KR" sz="1600" dirty="0" err="1">
                <a:solidFill>
                  <a:schemeClr val="bg1"/>
                </a:solidFill>
              </a:rPr>
              <a:t>i</a:t>
            </a:r>
            <a:r>
              <a:rPr lang="en-US" altLang="ko-KR" sz="1600" dirty="0">
                <a:solidFill>
                  <a:schemeClr val="bg1"/>
                </a:solidFill>
              </a:rPr>
              <a:t>++) {            </a:t>
            </a:r>
          </a:p>
          <a:p>
            <a:pPr lvl="3"/>
            <a:r>
              <a:rPr lang="en-US" altLang="ko-KR" sz="1600" dirty="0" err="1">
                <a:solidFill>
                  <a:schemeClr val="bg1"/>
                </a:solidFill>
              </a:rPr>
              <a:t>led_value</a:t>
            </a:r>
            <a:r>
              <a:rPr lang="en-US" altLang="ko-KR" sz="1600" dirty="0">
                <a:solidFill>
                  <a:schemeClr val="bg1"/>
                </a:solidFill>
              </a:rPr>
              <a:t> = patterns[</a:t>
            </a:r>
            <a:r>
              <a:rPr lang="en-US" altLang="ko-KR" sz="1600" dirty="0" err="1">
                <a:solidFill>
                  <a:schemeClr val="bg1"/>
                </a:solidFill>
              </a:rPr>
              <a:t>i</a:t>
            </a:r>
            <a:r>
              <a:rPr lang="en-US" altLang="ko-KR" sz="1600" dirty="0">
                <a:solidFill>
                  <a:schemeClr val="bg1"/>
                </a:solidFill>
              </a:rPr>
              <a:t>];            </a:t>
            </a:r>
          </a:p>
          <a:p>
            <a:pPr lvl="3"/>
            <a:r>
              <a:rPr lang="en-US" altLang="ko-KR" sz="1600" dirty="0" err="1">
                <a:solidFill>
                  <a:schemeClr val="bg1"/>
                </a:solidFill>
              </a:rPr>
              <a:t>XGpio_DiscreteWrite</a:t>
            </a:r>
            <a:r>
              <a:rPr lang="en-US" altLang="ko-KR" sz="1600" dirty="0">
                <a:solidFill>
                  <a:schemeClr val="bg1"/>
                </a:solidFill>
              </a:rPr>
              <a:t>(&amp;</a:t>
            </a:r>
            <a:r>
              <a:rPr lang="en-US" altLang="ko-KR" sz="1600" dirty="0" err="1">
                <a:solidFill>
                  <a:schemeClr val="bg1"/>
                </a:solidFill>
              </a:rPr>
              <a:t>gpio</a:t>
            </a:r>
            <a:r>
              <a:rPr lang="en-US" altLang="ko-KR" sz="1600" dirty="0">
                <a:solidFill>
                  <a:schemeClr val="bg1"/>
                </a:solidFill>
              </a:rPr>
              <a:t>, LED_CHANNEL, </a:t>
            </a:r>
            <a:r>
              <a:rPr lang="en-US" altLang="ko-KR" sz="1600" dirty="0" err="1">
                <a:solidFill>
                  <a:schemeClr val="bg1"/>
                </a:solidFill>
              </a:rPr>
              <a:t>led_value</a:t>
            </a:r>
            <a:r>
              <a:rPr lang="en-US" altLang="ko-KR" sz="1600" dirty="0">
                <a:solidFill>
                  <a:schemeClr val="bg1"/>
                </a:solidFill>
              </a:rPr>
              <a:t>);            </a:t>
            </a:r>
            <a:r>
              <a:rPr lang="en-US" altLang="ko-KR" sz="1600" dirty="0" err="1">
                <a:solidFill>
                  <a:schemeClr val="bg1"/>
                </a:solidFill>
              </a:rPr>
              <a:t>printf</a:t>
            </a:r>
            <a:r>
              <a:rPr lang="en-US" altLang="ko-KR" sz="1600" dirty="0">
                <a:solidFill>
                  <a:schemeClr val="bg1"/>
                </a:solidFill>
              </a:rPr>
              <a:t>("LED Value: 0x%X\n", </a:t>
            </a:r>
            <a:r>
              <a:rPr lang="en-US" altLang="ko-KR" sz="1600" dirty="0" err="1">
                <a:solidFill>
                  <a:schemeClr val="bg1"/>
                </a:solidFill>
              </a:rPr>
              <a:t>led_value</a:t>
            </a:r>
            <a:r>
              <a:rPr lang="en-US" altLang="ko-KR" sz="1600" dirty="0">
                <a:solidFill>
                  <a:schemeClr val="bg1"/>
                </a:solidFill>
              </a:rPr>
              <a:t>);            </a:t>
            </a:r>
          </a:p>
          <a:p>
            <a:pPr lvl="3"/>
            <a:r>
              <a:rPr lang="en-US" altLang="ko-KR" sz="1600" dirty="0" err="1">
                <a:solidFill>
                  <a:schemeClr val="bg1"/>
                </a:solidFill>
              </a:rPr>
              <a:t>usleep</a:t>
            </a:r>
            <a:r>
              <a:rPr lang="en-US" altLang="ko-KR" sz="1600" dirty="0">
                <a:solidFill>
                  <a:schemeClr val="bg1"/>
                </a:solidFill>
              </a:rPr>
              <a:t>(300000);  // 300ms </a:t>
            </a:r>
            <a:r>
              <a:rPr lang="ko-KR" altLang="en-US" sz="1600" dirty="0">
                <a:solidFill>
                  <a:schemeClr val="bg1"/>
                </a:solidFill>
              </a:rPr>
              <a:t>대기        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lvl="2"/>
            <a:r>
              <a:rPr lang="en-US" altLang="ko-KR" sz="1600" dirty="0">
                <a:solidFill>
                  <a:schemeClr val="bg1"/>
                </a:solidFill>
              </a:rPr>
              <a:t>}    </a:t>
            </a:r>
          </a:p>
          <a:p>
            <a:pPr lvl="1"/>
            <a:r>
              <a:rPr lang="en-US" altLang="ko-KR" sz="1600" dirty="0">
                <a:solidFill>
                  <a:schemeClr val="bg1"/>
                </a:solidFill>
              </a:rPr>
              <a:t>}    </a:t>
            </a:r>
          </a:p>
          <a:p>
            <a:pPr lvl="1"/>
            <a:endParaRPr lang="en-US" altLang="ko-KR" sz="1600" dirty="0">
              <a:solidFill>
                <a:schemeClr val="bg1"/>
              </a:solidFill>
            </a:endParaRPr>
          </a:p>
          <a:p>
            <a:pPr lvl="1"/>
            <a:r>
              <a:rPr lang="en-US" altLang="ko-KR" sz="1600" dirty="0">
                <a:solidFill>
                  <a:schemeClr val="bg1"/>
                </a:solidFill>
              </a:rPr>
              <a:t>// </a:t>
            </a:r>
            <a:r>
              <a:rPr lang="ko-KR" altLang="en-US" sz="1600" dirty="0">
                <a:solidFill>
                  <a:schemeClr val="bg1"/>
                </a:solidFill>
              </a:rPr>
              <a:t>모든 </a:t>
            </a:r>
            <a:r>
              <a:rPr lang="en-US" altLang="ko-KR" sz="1600" dirty="0">
                <a:solidFill>
                  <a:schemeClr val="bg1"/>
                </a:solidFill>
              </a:rPr>
              <a:t>LED </a:t>
            </a:r>
            <a:r>
              <a:rPr lang="ko-KR" altLang="en-US" sz="1600" dirty="0">
                <a:solidFill>
                  <a:schemeClr val="bg1"/>
                </a:solidFill>
              </a:rPr>
              <a:t>끄기    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lvl="1"/>
            <a:r>
              <a:rPr lang="en-US" altLang="ko-KR" sz="1600" dirty="0" err="1">
                <a:solidFill>
                  <a:schemeClr val="bg1"/>
                </a:solidFill>
              </a:rPr>
              <a:t>XGpio_DiscreteWrite</a:t>
            </a:r>
            <a:r>
              <a:rPr lang="en-US" altLang="ko-KR" sz="1600" dirty="0">
                <a:solidFill>
                  <a:schemeClr val="bg1"/>
                </a:solidFill>
              </a:rPr>
              <a:t>(&amp;</a:t>
            </a:r>
            <a:r>
              <a:rPr lang="en-US" altLang="ko-KR" sz="1600" dirty="0" err="1">
                <a:solidFill>
                  <a:schemeClr val="bg1"/>
                </a:solidFill>
              </a:rPr>
              <a:t>gpio</a:t>
            </a:r>
            <a:r>
              <a:rPr lang="en-US" altLang="ko-KR" sz="1600" dirty="0">
                <a:solidFill>
                  <a:schemeClr val="bg1"/>
                </a:solidFill>
              </a:rPr>
              <a:t>, LED_CHANNEL, 0x0);    </a:t>
            </a:r>
          </a:p>
          <a:p>
            <a:pPr lvl="1"/>
            <a:r>
              <a:rPr lang="en-US" altLang="ko-KR" sz="1600" dirty="0" err="1">
                <a:solidFill>
                  <a:schemeClr val="bg1"/>
                </a:solidFill>
              </a:rPr>
              <a:t>printf</a:t>
            </a:r>
            <a:r>
              <a:rPr lang="en-US" altLang="ko-KR" sz="1600" dirty="0">
                <a:solidFill>
                  <a:schemeClr val="bg1"/>
                </a:solidFill>
              </a:rPr>
              <a:t>("LED Test Complete!\n");    </a:t>
            </a:r>
          </a:p>
          <a:p>
            <a:pPr lvl="1"/>
            <a:r>
              <a:rPr lang="en-US" altLang="ko-KR" sz="1600" dirty="0">
                <a:solidFill>
                  <a:schemeClr val="bg1"/>
                </a:solidFill>
              </a:rPr>
              <a:t>return 0;</a:t>
            </a:r>
          </a:p>
          <a:p>
            <a:r>
              <a:rPr lang="en-US" altLang="ko-KR" sz="1600" dirty="0">
                <a:solidFill>
                  <a:schemeClr val="bg1"/>
                </a:solidFill>
              </a:rPr>
              <a:t>}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sp>
        <p:nvSpPr>
          <p:cNvPr id="11" name="Rounded Rectangle 12">
            <a:extLst>
              <a:ext uri="{FF2B5EF4-FFF2-40B4-BE49-F238E27FC236}">
                <a16:creationId xmlns:a16="http://schemas.microsoft.com/office/drawing/2014/main" id="{5DFF5B9A-96E2-DB77-CA5E-244824CA7F6C}"/>
              </a:ext>
            </a:extLst>
          </p:cNvPr>
          <p:cNvSpPr/>
          <p:nvPr/>
        </p:nvSpPr>
        <p:spPr>
          <a:xfrm>
            <a:off x="10820095" y="1408480"/>
            <a:ext cx="914400" cy="148930"/>
          </a:xfrm>
          <a:prstGeom prst="roundRect">
            <a:avLst>
              <a:gd name="adj" fmla="val 15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900" dirty="0">
                <a:solidFill>
                  <a:srgbClr val="888888"/>
                </a:solidFill>
                <a:latin typeface="Calibri"/>
              </a:rPr>
              <a:t>code</a:t>
            </a:r>
            <a:endParaRPr sz="900" b="0" dirty="0">
              <a:solidFill>
                <a:srgbClr val="888888"/>
              </a:solidFill>
              <a:latin typeface="Calibri"/>
            </a:endParaRPr>
          </a:p>
        </p:txBody>
      </p:sp>
      <p:sp>
        <p:nvSpPr>
          <p:cNvPr id="12" name="Rounded Rectangle 12">
            <a:extLst>
              <a:ext uri="{FF2B5EF4-FFF2-40B4-BE49-F238E27FC236}">
                <a16:creationId xmlns:a16="http://schemas.microsoft.com/office/drawing/2014/main" id="{21BA7936-500C-EF00-E041-E23422C7C732}"/>
              </a:ext>
            </a:extLst>
          </p:cNvPr>
          <p:cNvSpPr/>
          <p:nvPr/>
        </p:nvSpPr>
        <p:spPr>
          <a:xfrm>
            <a:off x="4377302" y="1436476"/>
            <a:ext cx="914400" cy="148930"/>
          </a:xfrm>
          <a:prstGeom prst="roundRect">
            <a:avLst>
              <a:gd name="adj" fmla="val 15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900" dirty="0">
                <a:solidFill>
                  <a:srgbClr val="888888"/>
                </a:solidFill>
                <a:latin typeface="Calibri"/>
              </a:rPr>
              <a:t>code</a:t>
            </a:r>
            <a:endParaRPr sz="900" b="0" dirty="0">
              <a:solidFill>
                <a:srgbClr val="888888"/>
              </a:solidFill>
              <a:latin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7388F9-FF46-1585-5F87-ED8FD2894C1C}"/>
              </a:ext>
            </a:extLst>
          </p:cNvPr>
          <p:cNvSpPr txBox="1"/>
          <p:nvPr/>
        </p:nvSpPr>
        <p:spPr>
          <a:xfrm>
            <a:off x="11692703" y="6492240"/>
            <a:ext cx="31611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000" b="0" dirty="0">
                <a:solidFill>
                  <a:srgbClr val="666666"/>
                </a:solidFill>
                <a:latin typeface="Calibri"/>
              </a:rPr>
              <a:t>19</a:t>
            </a:r>
            <a:endParaRPr sz="1000" b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0C13E8DE-63A6-814C-B27A-2C6E00310E37}"/>
              </a:ext>
            </a:extLst>
          </p:cNvPr>
          <p:cNvSpPr/>
          <p:nvPr/>
        </p:nvSpPr>
        <p:spPr>
          <a:xfrm>
            <a:off x="457200" y="6446520"/>
            <a:ext cx="1127729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F75178-2E64-7096-9BCB-E43B2374ABB2}"/>
              </a:ext>
            </a:extLst>
          </p:cNvPr>
          <p:cNvSpPr txBox="1"/>
          <p:nvPr/>
        </p:nvSpPr>
        <p:spPr>
          <a:xfrm>
            <a:off x="457200" y="6492240"/>
            <a:ext cx="326403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dirty="0">
                <a:solidFill>
                  <a:srgbClr val="666666"/>
                </a:solidFill>
                <a:latin typeface="Calibri"/>
              </a:rPr>
              <a:t>Step 0</a:t>
            </a:r>
            <a:r>
              <a:rPr lang="en-US" sz="1000" b="0" dirty="0">
                <a:solidFill>
                  <a:srgbClr val="666666"/>
                </a:solidFill>
                <a:latin typeface="Calibri"/>
              </a:rPr>
              <a:t>3</a:t>
            </a:r>
            <a:r>
              <a:rPr sz="1000" b="0" dirty="0">
                <a:solidFill>
                  <a:srgbClr val="666666"/>
                </a:solidFill>
                <a:latin typeface="Calibri"/>
              </a:rPr>
              <a:t>: </a:t>
            </a:r>
            <a:r>
              <a:rPr lang="en-US" altLang="ko-KR" sz="1000" b="0" dirty="0">
                <a:solidFill>
                  <a:srgbClr val="666666"/>
                </a:solidFill>
                <a:latin typeface="Calibri"/>
              </a:rPr>
              <a:t>AXI GPIO Integration</a:t>
            </a:r>
            <a:r>
              <a:rPr sz="1000" b="0" dirty="0">
                <a:solidFill>
                  <a:srgbClr val="666666"/>
                </a:solidFill>
                <a:latin typeface="Calibri"/>
              </a:rPr>
              <a:t> —</a:t>
            </a:r>
            <a:r>
              <a:rPr lang="en-US" sz="1000" b="0" dirty="0">
                <a:solidFill>
                  <a:srgbClr val="666666"/>
                </a:solidFill>
                <a:latin typeface="Calibri"/>
              </a:rPr>
              <a:t> </a:t>
            </a:r>
            <a:r>
              <a:rPr lang="en-US" sz="1000" dirty="0">
                <a:solidFill>
                  <a:srgbClr val="666666"/>
                </a:solidFill>
                <a:latin typeface="Calibri"/>
              </a:rPr>
              <a:t>PS/PL </a:t>
            </a:r>
            <a:r>
              <a:rPr lang="ko-KR" altLang="en-US" sz="1000" dirty="0">
                <a:solidFill>
                  <a:srgbClr val="666666"/>
                </a:solidFill>
                <a:latin typeface="Calibri"/>
              </a:rPr>
              <a:t>통신 구현 </a:t>
            </a:r>
            <a:r>
              <a:rPr lang="en-US" altLang="ko-KR" sz="1000" dirty="0">
                <a:solidFill>
                  <a:srgbClr val="666666"/>
                </a:solidFill>
                <a:latin typeface="Calibri"/>
              </a:rPr>
              <a:t>LED </a:t>
            </a:r>
            <a:r>
              <a:rPr lang="ko-KR" altLang="en-US" sz="1000" dirty="0">
                <a:solidFill>
                  <a:srgbClr val="666666"/>
                </a:solidFill>
                <a:latin typeface="Calibri"/>
              </a:rPr>
              <a:t>제어</a:t>
            </a:r>
            <a:endParaRPr sz="1000" b="0" dirty="0">
              <a:solidFill>
                <a:srgbClr val="666666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89689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5E95888A-53A4-2058-1C6F-34EBD8AB149F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C8D05CE-56A0-1D9E-ADE4-EE381BA1DE73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5B0512-BE4D-DA55-2AD8-02EA77835DAA}"/>
              </a:ext>
            </a:extLst>
          </p:cNvPr>
          <p:cNvSpPr txBox="1"/>
          <p:nvPr/>
        </p:nvSpPr>
        <p:spPr>
          <a:xfrm>
            <a:off x="457200" y="309890"/>
            <a:ext cx="1127729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  <a:latin typeface="Calibri"/>
              </a:rPr>
              <a:t>Vitis</a:t>
            </a:r>
            <a:r>
              <a:rPr lang="ko-KR" altLang="en-US" sz="2800" b="1" dirty="0">
                <a:solidFill>
                  <a:srgbClr val="FFFFFF"/>
                </a:solidFill>
                <a:latin typeface="Calibri"/>
              </a:rPr>
              <a:t>로 </a:t>
            </a:r>
            <a:r>
              <a:rPr lang="en-US" altLang="ko-KR" sz="2800" b="1" dirty="0">
                <a:solidFill>
                  <a:srgbClr val="FFFFFF"/>
                </a:solidFill>
                <a:latin typeface="Calibri"/>
              </a:rPr>
              <a:t>LED </a:t>
            </a:r>
            <a:r>
              <a:rPr lang="ko-KR" altLang="en-US" sz="2800" b="1" dirty="0">
                <a:solidFill>
                  <a:srgbClr val="FFFFFF"/>
                </a:solidFill>
                <a:latin typeface="Calibri"/>
              </a:rPr>
              <a:t>제어 </a:t>
            </a:r>
            <a:r>
              <a:rPr lang="en-US" altLang="ko-KR" sz="2800" b="1" dirty="0">
                <a:solidFill>
                  <a:srgbClr val="FFFFFF"/>
                </a:solidFill>
                <a:latin typeface="Calibri"/>
              </a:rPr>
              <a:t>(C-</a:t>
            </a:r>
            <a:r>
              <a:rPr lang="ko-KR" altLang="en-US" sz="2800" b="1" dirty="0">
                <a:solidFill>
                  <a:srgbClr val="FFFFFF"/>
                </a:solidFill>
                <a:latin typeface="Calibri"/>
              </a:rPr>
              <a:t>언어</a:t>
            </a:r>
            <a:r>
              <a:rPr lang="en-US" altLang="ko-KR" sz="2800" b="1" dirty="0">
                <a:solidFill>
                  <a:srgbClr val="FFFFFF"/>
                </a:solidFill>
                <a:latin typeface="Calibri"/>
              </a:rPr>
              <a:t>)</a:t>
            </a:r>
            <a:endParaRPr sz="28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28EA4B-2254-F608-8440-9B3B56CFD8EA}"/>
              </a:ext>
            </a:extLst>
          </p:cNvPr>
          <p:cNvSpPr txBox="1"/>
          <p:nvPr/>
        </p:nvSpPr>
        <p:spPr>
          <a:xfrm>
            <a:off x="571263" y="1321889"/>
            <a:ext cx="1015948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Step 5: </a:t>
            </a:r>
            <a:r>
              <a:rPr lang="en-US" altLang="ko-KR" dirty="0" err="1"/>
              <a:t>xparameters.h</a:t>
            </a:r>
            <a:r>
              <a:rPr lang="en-US" altLang="ko-KR" dirty="0"/>
              <a:t> </a:t>
            </a:r>
            <a:r>
              <a:rPr lang="ko-KR" altLang="en-US" dirty="0"/>
              <a:t>확인</a:t>
            </a:r>
            <a:endParaRPr lang="en-US" altLang="ko-KR" dirty="0"/>
          </a:p>
          <a:p>
            <a:pPr lvl="1"/>
            <a:r>
              <a:rPr lang="en-US" altLang="ko-KR" dirty="0"/>
              <a:t>5.1 </a:t>
            </a:r>
            <a:r>
              <a:rPr lang="ko-KR" altLang="en-US" dirty="0"/>
              <a:t>자동 생성된 헤더 확인</a:t>
            </a:r>
            <a:endParaRPr lang="en-US" altLang="ko-KR" dirty="0"/>
          </a:p>
          <a:p>
            <a:pPr marL="1257300" lvl="2" indent="-342900">
              <a:buAutoNum type="arabicPeriod"/>
            </a:pPr>
            <a:r>
              <a:rPr lang="en-US" altLang="ko-KR" dirty="0"/>
              <a:t>kv260_gpio_platform → BSP → ps_cortexa53_0 → include</a:t>
            </a:r>
          </a:p>
          <a:p>
            <a:pPr marL="1257300" lvl="2" indent="-342900">
              <a:buAutoNum type="arabicPeriod"/>
            </a:pPr>
            <a:r>
              <a:rPr lang="en-US" altLang="ko-KR" dirty="0"/>
              <a:t>Kv260_gpio_platform </a:t>
            </a:r>
            <a:r>
              <a:rPr lang="en-US" altLang="ko-KR" dirty="0">
                <a:sym typeface="Wingdings" panose="05000000000000000000" pitchFamily="2" charset="2"/>
              </a:rPr>
              <a:t> psu_cortexa53_0  </a:t>
            </a:r>
            <a:r>
              <a:rPr lang="en-US" altLang="ko-KR" dirty="0" err="1">
                <a:sym typeface="Wingdings" panose="05000000000000000000" pitchFamily="2" charset="2"/>
              </a:rPr>
              <a:t>bsp</a:t>
            </a:r>
            <a:r>
              <a:rPr lang="en-US" altLang="ko-KR" dirty="0">
                <a:sym typeface="Wingdings" panose="05000000000000000000" pitchFamily="2" charset="2"/>
              </a:rPr>
              <a:t>  psu_cortexa53_0  include</a:t>
            </a:r>
            <a:endParaRPr lang="en-US" altLang="ko-KR" dirty="0"/>
          </a:p>
          <a:p>
            <a:pPr marL="1257300" lvl="2" indent="-342900">
              <a:buAutoNum type="arabicPeriod"/>
            </a:pPr>
            <a:r>
              <a:rPr lang="en-US" altLang="ko-KR" dirty="0" err="1"/>
              <a:t>xparameters.h</a:t>
            </a:r>
            <a:r>
              <a:rPr lang="en-US" altLang="ko-KR" dirty="0"/>
              <a:t> </a:t>
            </a:r>
            <a:r>
              <a:rPr lang="ko-KR" altLang="en-US" dirty="0"/>
              <a:t>파일 더블 클릭</a:t>
            </a:r>
            <a:endParaRPr lang="en-US" altLang="ko-KR" dirty="0"/>
          </a:p>
          <a:p>
            <a:pPr marL="1257300" lvl="2" indent="-342900">
              <a:buAutoNum type="arabicPeriod"/>
            </a:pPr>
            <a:r>
              <a:rPr lang="ko-KR" altLang="en-US" dirty="0"/>
              <a:t>다음 정의 확인</a:t>
            </a:r>
            <a:r>
              <a:rPr lang="en-US" altLang="ko-KR" dirty="0"/>
              <a:t>:</a:t>
            </a:r>
          </a:p>
          <a:p>
            <a:pPr lvl="3"/>
            <a:r>
              <a:rPr lang="en-US" altLang="ko-KR" dirty="0"/>
              <a:t>#define XPAR_AXI_GPIO_0_DEVICE_ID  0</a:t>
            </a:r>
          </a:p>
          <a:p>
            <a:pPr lvl="3"/>
            <a:r>
              <a:rPr lang="en-US" altLang="ko-KR" dirty="0"/>
              <a:t>#define XPAR_AXI_GPIO_0_BASEADDR    0xA0000000</a:t>
            </a:r>
          </a:p>
          <a:p>
            <a:pPr lvl="3"/>
            <a:endParaRPr lang="en-US" altLang="ko-KR" dirty="0"/>
          </a:p>
          <a:p>
            <a:pPr lvl="3"/>
            <a:r>
              <a:rPr lang="en-US" altLang="ko-KR" dirty="0"/>
              <a:t>⚠️ </a:t>
            </a:r>
            <a:r>
              <a:rPr lang="ko-KR" altLang="en-US" dirty="0"/>
              <a:t>실제 주소는 프로젝트에 맞게 확인</a:t>
            </a:r>
            <a:endParaRPr lang="en-US" altLang="ko-K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5E2935-828B-7CF2-743D-AF255BB8FEE5}"/>
              </a:ext>
            </a:extLst>
          </p:cNvPr>
          <p:cNvSpPr txBox="1"/>
          <p:nvPr/>
        </p:nvSpPr>
        <p:spPr>
          <a:xfrm>
            <a:off x="571264" y="4406692"/>
            <a:ext cx="613610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Step 6: </a:t>
            </a:r>
            <a:r>
              <a:rPr lang="ko-KR" altLang="en-US" dirty="0"/>
              <a:t>빌드</a:t>
            </a:r>
            <a:endParaRPr lang="en-US" altLang="ko-KR" dirty="0"/>
          </a:p>
          <a:p>
            <a:pPr lvl="1"/>
            <a:r>
              <a:rPr lang="en-US" altLang="ko-KR" dirty="0"/>
              <a:t>6.1 </a:t>
            </a:r>
            <a:r>
              <a:rPr lang="ko-KR" altLang="en-US" dirty="0"/>
              <a:t>빌드 실행</a:t>
            </a:r>
            <a:endParaRPr lang="en-US" altLang="ko-KR" dirty="0"/>
          </a:p>
          <a:p>
            <a:pPr marL="1257300" lvl="2" indent="-342900">
              <a:buAutoNum type="arabicPeriod"/>
            </a:pPr>
            <a:r>
              <a:rPr lang="en-US" altLang="ko-KR" dirty="0"/>
              <a:t>`</a:t>
            </a:r>
            <a:r>
              <a:rPr lang="en-US" altLang="ko-KR" dirty="0" err="1"/>
              <a:t>gpio_led_test</a:t>
            </a:r>
            <a:r>
              <a:rPr lang="en-US" altLang="ko-KR" dirty="0"/>
              <a:t>` </a:t>
            </a:r>
            <a:r>
              <a:rPr lang="ko-KR" altLang="en-US" dirty="0"/>
              <a:t>프로젝트 </a:t>
            </a:r>
            <a:r>
              <a:rPr lang="ko-KR" altLang="en-US" dirty="0" err="1"/>
              <a:t>우클릭</a:t>
            </a:r>
            <a:endParaRPr lang="en-US" altLang="ko-KR" dirty="0"/>
          </a:p>
          <a:p>
            <a:pPr marL="1257300" lvl="2" indent="-342900">
              <a:buAutoNum type="arabicPeriod"/>
            </a:pPr>
            <a:r>
              <a:rPr lang="en-US" altLang="ko-KR" dirty="0"/>
              <a:t> </a:t>
            </a:r>
            <a:r>
              <a:rPr lang="en-US" altLang="ko-KR" b="1" dirty="0"/>
              <a:t>Build Project</a:t>
            </a:r>
            <a:r>
              <a:rPr lang="en-US" altLang="ko-KR" dirty="0"/>
              <a:t> </a:t>
            </a:r>
            <a:r>
              <a:rPr lang="ko-KR" altLang="en-US" dirty="0"/>
              <a:t>클릭</a:t>
            </a:r>
            <a:endParaRPr lang="en-US" altLang="ko-KR" dirty="0"/>
          </a:p>
          <a:p>
            <a:pPr marL="1257300" lvl="2" indent="-342900">
              <a:buAutoNum type="arabicPeriod"/>
            </a:pPr>
            <a:r>
              <a:rPr lang="en-US" altLang="ko-KR" dirty="0"/>
              <a:t>Console</a:t>
            </a:r>
            <a:r>
              <a:rPr lang="ko-KR" altLang="en-US" dirty="0"/>
              <a:t>에서 빌드 결과 확인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4F26D9-DC32-EB31-6CC3-FC90BCD33557}"/>
              </a:ext>
            </a:extLst>
          </p:cNvPr>
          <p:cNvSpPr txBox="1"/>
          <p:nvPr/>
        </p:nvSpPr>
        <p:spPr>
          <a:xfrm>
            <a:off x="11692703" y="6492240"/>
            <a:ext cx="31611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000" b="0" dirty="0">
                <a:solidFill>
                  <a:srgbClr val="666666"/>
                </a:solidFill>
                <a:latin typeface="Calibri"/>
              </a:rPr>
              <a:t>20</a:t>
            </a:r>
            <a:endParaRPr sz="1000" b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0772BAD2-5A2D-CF5F-53B1-A0167B071A8E}"/>
              </a:ext>
            </a:extLst>
          </p:cNvPr>
          <p:cNvSpPr/>
          <p:nvPr/>
        </p:nvSpPr>
        <p:spPr>
          <a:xfrm>
            <a:off x="457200" y="6446520"/>
            <a:ext cx="1127729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945A36-B9AA-75F6-A4D4-290DDD80BC6A}"/>
              </a:ext>
            </a:extLst>
          </p:cNvPr>
          <p:cNvSpPr txBox="1"/>
          <p:nvPr/>
        </p:nvSpPr>
        <p:spPr>
          <a:xfrm>
            <a:off x="457200" y="6492240"/>
            <a:ext cx="326403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dirty="0">
                <a:solidFill>
                  <a:srgbClr val="666666"/>
                </a:solidFill>
                <a:latin typeface="Calibri"/>
              </a:rPr>
              <a:t>Step 0</a:t>
            </a:r>
            <a:r>
              <a:rPr lang="en-US" sz="1000" b="0" dirty="0">
                <a:solidFill>
                  <a:srgbClr val="666666"/>
                </a:solidFill>
                <a:latin typeface="Calibri"/>
              </a:rPr>
              <a:t>3</a:t>
            </a:r>
            <a:r>
              <a:rPr sz="1000" b="0" dirty="0">
                <a:solidFill>
                  <a:srgbClr val="666666"/>
                </a:solidFill>
                <a:latin typeface="Calibri"/>
              </a:rPr>
              <a:t>: </a:t>
            </a:r>
            <a:r>
              <a:rPr lang="en-US" altLang="ko-KR" sz="1000" b="0" dirty="0">
                <a:solidFill>
                  <a:srgbClr val="666666"/>
                </a:solidFill>
                <a:latin typeface="Calibri"/>
              </a:rPr>
              <a:t>AXI GPIO Integration</a:t>
            </a:r>
            <a:r>
              <a:rPr sz="1000" b="0" dirty="0">
                <a:solidFill>
                  <a:srgbClr val="666666"/>
                </a:solidFill>
                <a:latin typeface="Calibri"/>
              </a:rPr>
              <a:t> —</a:t>
            </a:r>
            <a:r>
              <a:rPr lang="en-US" sz="1000" b="0" dirty="0">
                <a:solidFill>
                  <a:srgbClr val="666666"/>
                </a:solidFill>
                <a:latin typeface="Calibri"/>
              </a:rPr>
              <a:t> </a:t>
            </a:r>
            <a:r>
              <a:rPr lang="en-US" sz="1000" dirty="0">
                <a:solidFill>
                  <a:srgbClr val="666666"/>
                </a:solidFill>
                <a:latin typeface="Calibri"/>
              </a:rPr>
              <a:t>PS/PL </a:t>
            </a:r>
            <a:r>
              <a:rPr lang="ko-KR" altLang="en-US" sz="1000" dirty="0">
                <a:solidFill>
                  <a:srgbClr val="666666"/>
                </a:solidFill>
                <a:latin typeface="Calibri"/>
              </a:rPr>
              <a:t>통신 구현 </a:t>
            </a:r>
            <a:r>
              <a:rPr lang="en-US" altLang="ko-KR" sz="1000" dirty="0">
                <a:solidFill>
                  <a:srgbClr val="666666"/>
                </a:solidFill>
                <a:latin typeface="Calibri"/>
              </a:rPr>
              <a:t>LED </a:t>
            </a:r>
            <a:r>
              <a:rPr lang="ko-KR" altLang="en-US" sz="1000" dirty="0">
                <a:solidFill>
                  <a:srgbClr val="666666"/>
                </a:solidFill>
                <a:latin typeface="Calibri"/>
              </a:rPr>
              <a:t>제어</a:t>
            </a:r>
            <a:endParaRPr sz="1000" b="0" dirty="0">
              <a:solidFill>
                <a:srgbClr val="666666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008249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F66123ED-44E4-82CC-3F8B-A954D861A15A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AA26130-719C-7FCE-1051-DCEF5A8DA53A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CCBD3F-1701-07E9-4289-EC6F067BA87C}"/>
              </a:ext>
            </a:extLst>
          </p:cNvPr>
          <p:cNvSpPr txBox="1"/>
          <p:nvPr/>
        </p:nvSpPr>
        <p:spPr>
          <a:xfrm>
            <a:off x="457200" y="309890"/>
            <a:ext cx="1127729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  <a:latin typeface="Calibri"/>
              </a:rPr>
              <a:t>Vitis</a:t>
            </a:r>
            <a:r>
              <a:rPr lang="ko-KR" altLang="en-US" sz="2800" b="1" dirty="0">
                <a:solidFill>
                  <a:srgbClr val="FFFFFF"/>
                </a:solidFill>
                <a:latin typeface="Calibri"/>
              </a:rPr>
              <a:t>로 </a:t>
            </a:r>
            <a:r>
              <a:rPr lang="en-US" altLang="ko-KR" sz="2800" b="1" dirty="0">
                <a:solidFill>
                  <a:srgbClr val="FFFFFF"/>
                </a:solidFill>
                <a:latin typeface="Calibri"/>
              </a:rPr>
              <a:t>LED </a:t>
            </a:r>
            <a:r>
              <a:rPr lang="ko-KR" altLang="en-US" sz="2800" b="1" dirty="0">
                <a:solidFill>
                  <a:srgbClr val="FFFFFF"/>
                </a:solidFill>
                <a:latin typeface="Calibri"/>
              </a:rPr>
              <a:t>제어 </a:t>
            </a:r>
            <a:r>
              <a:rPr lang="en-US" altLang="ko-KR" sz="2800" b="1" dirty="0">
                <a:solidFill>
                  <a:srgbClr val="FFFFFF"/>
                </a:solidFill>
                <a:latin typeface="Calibri"/>
              </a:rPr>
              <a:t>(C-</a:t>
            </a:r>
            <a:r>
              <a:rPr lang="ko-KR" altLang="en-US" sz="2800" b="1" dirty="0">
                <a:solidFill>
                  <a:srgbClr val="FFFFFF"/>
                </a:solidFill>
                <a:latin typeface="Calibri"/>
              </a:rPr>
              <a:t>언어</a:t>
            </a:r>
            <a:r>
              <a:rPr lang="en-US" altLang="ko-KR" sz="2800" b="1" dirty="0">
                <a:solidFill>
                  <a:srgbClr val="FFFFFF"/>
                </a:solidFill>
                <a:latin typeface="Calibri"/>
              </a:rPr>
              <a:t>)</a:t>
            </a:r>
            <a:endParaRPr sz="28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8EE9DE-FC14-2285-F43E-739C01ACB808}"/>
              </a:ext>
            </a:extLst>
          </p:cNvPr>
          <p:cNvSpPr txBox="1"/>
          <p:nvPr/>
        </p:nvSpPr>
        <p:spPr>
          <a:xfrm>
            <a:off x="803873" y="1087587"/>
            <a:ext cx="8789306" cy="5663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Step 7: KV260</a:t>
            </a:r>
            <a:r>
              <a:rPr lang="ko-KR" altLang="en-US" dirty="0"/>
              <a:t>에 배포</a:t>
            </a:r>
            <a:endParaRPr lang="en-US" altLang="ko-KR" dirty="0"/>
          </a:p>
          <a:p>
            <a:pPr lvl="1"/>
            <a:r>
              <a:rPr lang="en-US" altLang="ko-KR" dirty="0"/>
              <a:t>7.1 </a:t>
            </a:r>
            <a:r>
              <a:rPr lang="ko-KR" altLang="en-US" dirty="0"/>
              <a:t>실행 파일 확인</a:t>
            </a:r>
            <a:endParaRPr lang="en-US" altLang="ko-KR" dirty="0"/>
          </a:p>
          <a:p>
            <a:pPr lvl="2"/>
            <a:r>
              <a:rPr lang="en-US" altLang="ko-KR" sz="1600" dirty="0" err="1"/>
              <a:t>gpio_led_test</a:t>
            </a:r>
            <a:r>
              <a:rPr lang="en-US" altLang="ko-KR" sz="1600" dirty="0"/>
              <a:t>/Debug/</a:t>
            </a:r>
            <a:r>
              <a:rPr lang="en-US" altLang="ko-KR" sz="1600" dirty="0" err="1"/>
              <a:t>gpio_led_test.elf</a:t>
            </a:r>
            <a:endParaRPr lang="en-US" altLang="ko-KR" sz="1600" dirty="0"/>
          </a:p>
          <a:p>
            <a:pPr lvl="1"/>
            <a:r>
              <a:rPr lang="en-US" altLang="ko-KR" dirty="0"/>
              <a:t>7.2 KV260</a:t>
            </a:r>
            <a:r>
              <a:rPr lang="ko-KR" altLang="en-US" dirty="0"/>
              <a:t>로 전송</a:t>
            </a:r>
            <a:endParaRPr lang="en-US" altLang="ko-KR" dirty="0"/>
          </a:p>
          <a:p>
            <a:pPr lvl="2"/>
            <a:r>
              <a:rPr lang="en-US" altLang="ko-KR" sz="1600" dirty="0"/>
              <a:t># PC</a:t>
            </a:r>
            <a:r>
              <a:rPr lang="ko-KR" altLang="en-US" sz="1600" dirty="0"/>
              <a:t>에서</a:t>
            </a:r>
            <a:endParaRPr lang="en-US" altLang="ko-KR" sz="1600" dirty="0"/>
          </a:p>
          <a:p>
            <a:pPr lvl="2"/>
            <a:r>
              <a:rPr lang="en-US" altLang="ko-KR" sz="1600" dirty="0" err="1"/>
              <a:t>scp</a:t>
            </a:r>
            <a:r>
              <a:rPr lang="en-US" altLang="ko-KR" sz="1600" dirty="0"/>
              <a:t> </a:t>
            </a:r>
            <a:r>
              <a:rPr lang="en-US" altLang="ko-KR" sz="1600" dirty="0" err="1"/>
              <a:t>gpio_led_test</a:t>
            </a:r>
            <a:r>
              <a:rPr lang="en-US" altLang="ko-KR" sz="1600" dirty="0"/>
              <a:t>/Debug/</a:t>
            </a:r>
            <a:r>
              <a:rPr lang="en-US" altLang="ko-KR" sz="1600" dirty="0" err="1"/>
              <a:t>gpio_led_test.elf</a:t>
            </a:r>
            <a:r>
              <a:rPr lang="en-US" altLang="ko-KR" sz="1600" dirty="0"/>
              <a:t> </a:t>
            </a:r>
            <a:r>
              <a:rPr lang="en-US" altLang="ko-KR" sz="1600" dirty="0">
                <a:hlinkClick r:id="rId2"/>
              </a:rPr>
              <a:t>xilinx@192.168.1.100:~/</a:t>
            </a:r>
            <a:endParaRPr lang="en-US" altLang="ko-KR" sz="1600" dirty="0"/>
          </a:p>
          <a:p>
            <a:endParaRPr lang="en-US" altLang="ko-KR" dirty="0"/>
          </a:p>
          <a:p>
            <a:r>
              <a:rPr lang="en-US" altLang="ko-KR" dirty="0"/>
              <a:t>Step 8: KV260</a:t>
            </a:r>
            <a:r>
              <a:rPr lang="ko-KR" altLang="en-US" dirty="0"/>
              <a:t>에서 실행</a:t>
            </a:r>
            <a:endParaRPr lang="en-US" altLang="ko-KR" dirty="0"/>
          </a:p>
          <a:p>
            <a:pPr lvl="1"/>
            <a:r>
              <a:rPr lang="en-US" altLang="ko-KR" dirty="0"/>
              <a:t>8.1 SSH</a:t>
            </a:r>
            <a:r>
              <a:rPr lang="ko-KR" altLang="en-US" dirty="0"/>
              <a:t>로 </a:t>
            </a:r>
            <a:r>
              <a:rPr lang="en-US" altLang="ko-KR" dirty="0"/>
              <a:t>KV260</a:t>
            </a:r>
            <a:r>
              <a:rPr lang="ko-KR" altLang="en-US" dirty="0"/>
              <a:t>에 접속</a:t>
            </a:r>
            <a:endParaRPr lang="en-US" altLang="ko-KR" dirty="0"/>
          </a:p>
          <a:p>
            <a:pPr lvl="2"/>
            <a:r>
              <a:rPr lang="en-US" altLang="ko-KR" sz="1600" dirty="0"/>
              <a:t>ssh </a:t>
            </a:r>
            <a:r>
              <a:rPr lang="en-US" altLang="ko-KR" sz="1600" dirty="0">
                <a:hlinkClick r:id="rId3"/>
              </a:rPr>
              <a:t>xilinx@192.168.1.100</a:t>
            </a:r>
            <a:endParaRPr lang="en-US" altLang="ko-KR" sz="1600" dirty="0"/>
          </a:p>
          <a:p>
            <a:pPr lvl="1"/>
            <a:r>
              <a:rPr lang="en-US" altLang="ko-KR" dirty="0"/>
              <a:t>8.2 Linux Platform</a:t>
            </a:r>
            <a:r>
              <a:rPr lang="ko-KR" altLang="en-US" dirty="0"/>
              <a:t>으로 </a:t>
            </a:r>
            <a:r>
              <a:rPr lang="ko-KR" altLang="en-US" dirty="0" err="1"/>
              <a:t>생성했을때</a:t>
            </a:r>
            <a:r>
              <a:rPr lang="ko-KR" altLang="en-US" dirty="0"/>
              <a:t> 실행</a:t>
            </a:r>
            <a:endParaRPr lang="en-US" altLang="ko-KR" dirty="0"/>
          </a:p>
          <a:p>
            <a:pPr lvl="2"/>
            <a:r>
              <a:rPr lang="en-US" altLang="ko-KR" sz="1600" dirty="0" err="1"/>
              <a:t>chmode</a:t>
            </a:r>
            <a:r>
              <a:rPr lang="en-US" altLang="ko-KR" sz="1600" dirty="0"/>
              <a:t> +x ./</a:t>
            </a:r>
            <a:r>
              <a:rPr lang="en-US" altLang="ko-KR" sz="1600" dirty="0" err="1"/>
              <a:t>gpio_led_test.elf</a:t>
            </a:r>
            <a:r>
              <a:rPr lang="en-US" altLang="ko-KR" sz="1600" dirty="0"/>
              <a:t> </a:t>
            </a:r>
          </a:p>
          <a:p>
            <a:pPr lvl="2"/>
            <a:r>
              <a:rPr lang="en-US" altLang="ko-KR" sz="1600" dirty="0"/>
              <a:t>./</a:t>
            </a:r>
            <a:r>
              <a:rPr lang="en-US" altLang="ko-KR" sz="1600" dirty="0" err="1"/>
              <a:t>gpio_led_test.elf</a:t>
            </a:r>
            <a:endParaRPr lang="en-US" altLang="ko-KR" sz="1600" dirty="0"/>
          </a:p>
          <a:p>
            <a:pPr lvl="1"/>
            <a:r>
              <a:rPr lang="en-US" altLang="ko-KR" dirty="0"/>
              <a:t>8.3 Standalone (Bare-metal) Platform</a:t>
            </a:r>
            <a:r>
              <a:rPr lang="ko-KR" altLang="en-US" dirty="0"/>
              <a:t>으로 </a:t>
            </a:r>
            <a:r>
              <a:rPr lang="ko-KR" altLang="en-US" dirty="0" err="1"/>
              <a:t>생성했을때</a:t>
            </a:r>
            <a:r>
              <a:rPr lang="ko-KR" altLang="en-US" dirty="0"/>
              <a:t> 실행</a:t>
            </a:r>
            <a:endParaRPr lang="en-US" altLang="ko-KR" dirty="0"/>
          </a:p>
          <a:p>
            <a:pPr marL="1257300" lvl="2" indent="-342900">
              <a:buFont typeface="+mj-lt"/>
              <a:buAutoNum type="arabicPeriod"/>
            </a:pPr>
            <a:r>
              <a:rPr lang="en-US" altLang="ko-KR" sz="1600" dirty="0"/>
              <a:t>KV260</a:t>
            </a:r>
            <a:r>
              <a:rPr lang="ko-KR" altLang="en-US" sz="1600" dirty="0"/>
              <a:t>와 </a:t>
            </a:r>
            <a:r>
              <a:rPr lang="en-US" altLang="ko-KR" sz="1600" dirty="0"/>
              <a:t>PC</a:t>
            </a:r>
            <a:r>
              <a:rPr lang="ko-KR" altLang="en-US" sz="1600" dirty="0"/>
              <a:t>를 </a:t>
            </a:r>
            <a:r>
              <a:rPr lang="en-US" altLang="ko-KR" sz="1600" b="1" dirty="0"/>
              <a:t>JTAG</a:t>
            </a:r>
            <a:r>
              <a:rPr lang="ko-KR" altLang="en-US" sz="1600" b="1" dirty="0"/>
              <a:t>케이블</a:t>
            </a:r>
            <a:r>
              <a:rPr lang="ko-KR" altLang="en-US" sz="1600" dirty="0"/>
              <a:t>로 연결</a:t>
            </a:r>
            <a:endParaRPr lang="en-US" altLang="ko-KR" sz="1600" dirty="0"/>
          </a:p>
          <a:p>
            <a:pPr marL="1257300" lvl="2" indent="-342900">
              <a:buFont typeface="+mj-lt"/>
              <a:buAutoNum type="arabicPeriod"/>
            </a:pPr>
            <a:r>
              <a:rPr lang="en-US" altLang="ko-KR" sz="1600" dirty="0"/>
              <a:t>Vivis</a:t>
            </a:r>
            <a:r>
              <a:rPr lang="ko-KR" altLang="en-US" sz="1600" dirty="0"/>
              <a:t>에서 </a:t>
            </a:r>
            <a:r>
              <a:rPr lang="en-US" altLang="ko-KR" sz="1600" b="1" dirty="0"/>
              <a:t>Run</a:t>
            </a:r>
            <a:r>
              <a:rPr lang="en-US" altLang="ko-KR" sz="1600" dirty="0"/>
              <a:t> </a:t>
            </a:r>
            <a:r>
              <a:rPr lang="en-US" altLang="ko-KR" sz="1600" dirty="0">
                <a:sym typeface="Wingdings" panose="05000000000000000000" pitchFamily="2" charset="2"/>
              </a:rPr>
              <a:t> </a:t>
            </a:r>
            <a:r>
              <a:rPr lang="en-US" altLang="ko-KR" sz="1600" b="1" dirty="0">
                <a:sym typeface="Wingdings" panose="05000000000000000000" pitchFamily="2" charset="2"/>
              </a:rPr>
              <a:t>Run Configuration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altLang="ko-KR" sz="1600" dirty="0">
                <a:sym typeface="Wingdings" panose="05000000000000000000" pitchFamily="2" charset="2"/>
              </a:rPr>
              <a:t> </a:t>
            </a:r>
            <a:r>
              <a:rPr lang="en-US" altLang="ko-KR" sz="1600" b="1" dirty="0">
                <a:sym typeface="Wingdings" panose="05000000000000000000" pitchFamily="2" charset="2"/>
              </a:rPr>
              <a:t>System Debugger </a:t>
            </a:r>
            <a:r>
              <a:rPr lang="ko-KR" altLang="en-US" sz="1600" dirty="0">
                <a:sym typeface="Wingdings" panose="05000000000000000000" pitchFamily="2" charset="2"/>
              </a:rPr>
              <a:t>선택</a:t>
            </a:r>
            <a:endParaRPr lang="en-US" altLang="ko-KR" sz="1600" dirty="0">
              <a:sym typeface="Wingdings" panose="05000000000000000000" pitchFamily="2" charset="2"/>
            </a:endParaRPr>
          </a:p>
          <a:p>
            <a:pPr marL="1257300" lvl="2" indent="-342900">
              <a:buFont typeface="+mj-lt"/>
              <a:buAutoNum type="arabicPeriod"/>
            </a:pPr>
            <a:r>
              <a:rPr lang="ko-KR" altLang="en-US" sz="1600" dirty="0">
                <a:sym typeface="Wingdings" panose="05000000000000000000" pitchFamily="2" charset="2"/>
              </a:rPr>
              <a:t>설정</a:t>
            </a:r>
            <a:r>
              <a:rPr lang="en-US" altLang="ko-KR" sz="1600" dirty="0">
                <a:sym typeface="Wingdings" panose="05000000000000000000" pitchFamily="2" charset="2"/>
              </a:rPr>
              <a:t>:</a:t>
            </a:r>
          </a:p>
          <a:p>
            <a:pPr lvl="3"/>
            <a:r>
              <a:rPr lang="en-US" altLang="ko-KR" sz="1600" dirty="0">
                <a:sym typeface="Wingdings" panose="05000000000000000000" pitchFamily="2" charset="2"/>
              </a:rPr>
              <a:t>- Connection: Platform Cable USB   </a:t>
            </a:r>
          </a:p>
          <a:p>
            <a:pPr lvl="3"/>
            <a:r>
              <a:rPr lang="en-US" altLang="ko-KR" sz="1600" dirty="0">
                <a:sym typeface="Wingdings" panose="05000000000000000000" pitchFamily="2" charset="2"/>
              </a:rPr>
              <a:t>- Device: KV260 (XCK26)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altLang="ko-KR" sz="1600" dirty="0">
                <a:sym typeface="Wingdings" panose="05000000000000000000" pitchFamily="2" charset="2"/>
              </a:rPr>
              <a:t> </a:t>
            </a:r>
            <a:r>
              <a:rPr lang="en-US" altLang="ko-KR" sz="1600" b="1" dirty="0">
                <a:sym typeface="Wingdings" panose="05000000000000000000" pitchFamily="2" charset="2"/>
              </a:rPr>
              <a:t>Run</a:t>
            </a:r>
            <a:r>
              <a:rPr lang="ko-KR" altLang="en-US" sz="1600" dirty="0">
                <a:sym typeface="Wingdings" panose="05000000000000000000" pitchFamily="2" charset="2"/>
              </a:rPr>
              <a:t> 클릭</a:t>
            </a:r>
            <a:endParaRPr lang="ko-KR" altLang="en-US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5BD3DE-E6C9-F8E5-E12B-D3E4779EAB2B}"/>
              </a:ext>
            </a:extLst>
          </p:cNvPr>
          <p:cNvSpPr txBox="1"/>
          <p:nvPr/>
        </p:nvSpPr>
        <p:spPr>
          <a:xfrm>
            <a:off x="11692703" y="6492240"/>
            <a:ext cx="31611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000" b="0" dirty="0">
                <a:solidFill>
                  <a:srgbClr val="666666"/>
                </a:solidFill>
                <a:latin typeface="Calibri"/>
              </a:rPr>
              <a:t>21</a:t>
            </a:r>
            <a:endParaRPr sz="1000" b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D60B693E-5C21-D5C6-5CFC-E86477C9E635}"/>
              </a:ext>
            </a:extLst>
          </p:cNvPr>
          <p:cNvSpPr/>
          <p:nvPr/>
        </p:nvSpPr>
        <p:spPr>
          <a:xfrm>
            <a:off x="457200" y="6446520"/>
            <a:ext cx="1127729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19CE33-406C-338E-AA13-49CD39A59CF7}"/>
              </a:ext>
            </a:extLst>
          </p:cNvPr>
          <p:cNvSpPr txBox="1"/>
          <p:nvPr/>
        </p:nvSpPr>
        <p:spPr>
          <a:xfrm>
            <a:off x="457200" y="6492240"/>
            <a:ext cx="326403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dirty="0">
                <a:solidFill>
                  <a:srgbClr val="666666"/>
                </a:solidFill>
                <a:latin typeface="Calibri"/>
              </a:rPr>
              <a:t>Step 0</a:t>
            </a:r>
            <a:r>
              <a:rPr lang="en-US" sz="1000" b="0" dirty="0">
                <a:solidFill>
                  <a:srgbClr val="666666"/>
                </a:solidFill>
                <a:latin typeface="Calibri"/>
              </a:rPr>
              <a:t>3</a:t>
            </a:r>
            <a:r>
              <a:rPr sz="1000" b="0" dirty="0">
                <a:solidFill>
                  <a:srgbClr val="666666"/>
                </a:solidFill>
                <a:latin typeface="Calibri"/>
              </a:rPr>
              <a:t>: </a:t>
            </a:r>
            <a:r>
              <a:rPr lang="en-US" altLang="ko-KR" sz="1000" b="0" dirty="0">
                <a:solidFill>
                  <a:srgbClr val="666666"/>
                </a:solidFill>
                <a:latin typeface="Calibri"/>
              </a:rPr>
              <a:t>AXI GPIO Integration</a:t>
            </a:r>
            <a:r>
              <a:rPr sz="1000" b="0" dirty="0">
                <a:solidFill>
                  <a:srgbClr val="666666"/>
                </a:solidFill>
                <a:latin typeface="Calibri"/>
              </a:rPr>
              <a:t> —</a:t>
            </a:r>
            <a:r>
              <a:rPr lang="en-US" sz="1000" b="0" dirty="0">
                <a:solidFill>
                  <a:srgbClr val="666666"/>
                </a:solidFill>
                <a:latin typeface="Calibri"/>
              </a:rPr>
              <a:t> </a:t>
            </a:r>
            <a:r>
              <a:rPr lang="en-US" sz="1000" dirty="0">
                <a:solidFill>
                  <a:srgbClr val="666666"/>
                </a:solidFill>
                <a:latin typeface="Calibri"/>
              </a:rPr>
              <a:t>PS/PL </a:t>
            </a:r>
            <a:r>
              <a:rPr lang="ko-KR" altLang="en-US" sz="1000" dirty="0">
                <a:solidFill>
                  <a:srgbClr val="666666"/>
                </a:solidFill>
                <a:latin typeface="Calibri"/>
              </a:rPr>
              <a:t>통신 구현 </a:t>
            </a:r>
            <a:r>
              <a:rPr lang="en-US" altLang="ko-KR" sz="1000" dirty="0">
                <a:solidFill>
                  <a:srgbClr val="666666"/>
                </a:solidFill>
                <a:latin typeface="Calibri"/>
              </a:rPr>
              <a:t>LED </a:t>
            </a:r>
            <a:r>
              <a:rPr lang="ko-KR" altLang="en-US" sz="1000" dirty="0">
                <a:solidFill>
                  <a:srgbClr val="666666"/>
                </a:solidFill>
                <a:latin typeface="Calibri"/>
              </a:rPr>
              <a:t>제어</a:t>
            </a:r>
            <a:endParaRPr sz="1000" b="0" dirty="0">
              <a:solidFill>
                <a:srgbClr val="666666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639578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1">
            <a:extLst>
              <a:ext uri="{FF2B5EF4-FFF2-40B4-BE49-F238E27FC236}">
                <a16:creationId xmlns:a16="http://schemas.microsoft.com/office/drawing/2014/main" id="{679FCF1B-64D3-EF76-978A-8F6F63D94BBC}"/>
              </a:ext>
            </a:extLst>
          </p:cNvPr>
          <p:cNvSpPr/>
          <p:nvPr/>
        </p:nvSpPr>
        <p:spPr>
          <a:xfrm>
            <a:off x="6434419" y="1603017"/>
            <a:ext cx="5682382" cy="4791059"/>
          </a:xfrm>
          <a:prstGeom prst="roundRect">
            <a:avLst>
              <a:gd name="adj" fmla="val 2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11">
            <a:extLst>
              <a:ext uri="{FF2B5EF4-FFF2-40B4-BE49-F238E27FC236}">
                <a16:creationId xmlns:a16="http://schemas.microsoft.com/office/drawing/2014/main" id="{C13E835F-9674-99FC-AB3C-BD6B2E113499}"/>
              </a:ext>
            </a:extLst>
          </p:cNvPr>
          <p:cNvSpPr/>
          <p:nvPr/>
        </p:nvSpPr>
        <p:spPr>
          <a:xfrm>
            <a:off x="130109" y="1603017"/>
            <a:ext cx="6158754" cy="4791059"/>
          </a:xfrm>
          <a:prstGeom prst="roundRect">
            <a:avLst>
              <a:gd name="adj" fmla="val 2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0A28737-42AF-E76C-A5A2-AE76B18D6C7B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DA6FE5D-2A0D-0E1A-9254-8FF9350321D9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70F973-F70B-2526-8A15-BBDF13AE6AF9}"/>
              </a:ext>
            </a:extLst>
          </p:cNvPr>
          <p:cNvSpPr txBox="1"/>
          <p:nvPr/>
        </p:nvSpPr>
        <p:spPr>
          <a:xfrm>
            <a:off x="457200" y="309890"/>
            <a:ext cx="1127729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  <a:latin typeface="Calibri"/>
              </a:rPr>
              <a:t>Vitis</a:t>
            </a:r>
            <a:r>
              <a:rPr lang="ko-KR" altLang="en-US" sz="2800" b="1" dirty="0">
                <a:solidFill>
                  <a:srgbClr val="FFFFFF"/>
                </a:solidFill>
                <a:latin typeface="Calibri"/>
              </a:rPr>
              <a:t>로 </a:t>
            </a:r>
            <a:r>
              <a:rPr lang="en-US" altLang="ko-KR" sz="2800" b="1" dirty="0">
                <a:solidFill>
                  <a:srgbClr val="FFFFFF"/>
                </a:solidFill>
                <a:latin typeface="Calibri"/>
              </a:rPr>
              <a:t>LED </a:t>
            </a:r>
            <a:r>
              <a:rPr lang="ko-KR" altLang="en-US" sz="2800" b="1" dirty="0">
                <a:solidFill>
                  <a:srgbClr val="FFFFFF"/>
                </a:solidFill>
                <a:latin typeface="Calibri"/>
              </a:rPr>
              <a:t>제어 </a:t>
            </a:r>
            <a:r>
              <a:rPr lang="en-US" altLang="ko-KR" sz="2800" b="1" dirty="0">
                <a:solidFill>
                  <a:srgbClr val="FFFFFF"/>
                </a:solidFill>
                <a:latin typeface="Calibri"/>
              </a:rPr>
              <a:t>(C-</a:t>
            </a:r>
            <a:r>
              <a:rPr lang="ko-KR" altLang="en-US" sz="2800" b="1" dirty="0">
                <a:solidFill>
                  <a:srgbClr val="FFFFFF"/>
                </a:solidFill>
                <a:latin typeface="Calibri"/>
              </a:rPr>
              <a:t>언어</a:t>
            </a:r>
            <a:r>
              <a:rPr lang="en-US" altLang="ko-KR" sz="2800" b="1" dirty="0">
                <a:solidFill>
                  <a:srgbClr val="FFFFFF"/>
                </a:solidFill>
                <a:latin typeface="Calibri"/>
              </a:rPr>
              <a:t>)</a:t>
            </a:r>
            <a:endParaRPr sz="28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42B716-9A3D-4CE3-E2BD-A29881B5E181}"/>
              </a:ext>
            </a:extLst>
          </p:cNvPr>
          <p:cNvSpPr txBox="1"/>
          <p:nvPr/>
        </p:nvSpPr>
        <p:spPr>
          <a:xfrm>
            <a:off x="161546" y="1459209"/>
            <a:ext cx="609588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ko-KR" dirty="0"/>
          </a:p>
          <a:p>
            <a:r>
              <a:rPr lang="en-US" altLang="ko-KR" dirty="0">
                <a:solidFill>
                  <a:schemeClr val="bg1"/>
                </a:solidFill>
              </a:rPr>
              <a:t>// </a:t>
            </a:r>
            <a:r>
              <a:rPr lang="ko-KR" altLang="en-US" dirty="0">
                <a:solidFill>
                  <a:schemeClr val="bg1"/>
                </a:solidFill>
              </a:rPr>
              <a:t>스위치 상태 읽어서 </a:t>
            </a:r>
            <a:r>
              <a:rPr lang="en-US" altLang="ko-KR" dirty="0">
                <a:solidFill>
                  <a:schemeClr val="bg1"/>
                </a:solidFill>
              </a:rPr>
              <a:t>LED</a:t>
            </a:r>
            <a:r>
              <a:rPr lang="ko-KR" altLang="en-US" dirty="0">
                <a:solidFill>
                  <a:schemeClr val="bg1"/>
                </a:solidFill>
              </a:rPr>
              <a:t>에 연결</a:t>
            </a:r>
            <a:endParaRPr lang="en-US" altLang="ko-KR" dirty="0">
              <a:solidFill>
                <a:schemeClr val="bg1"/>
              </a:solidFill>
            </a:endParaRPr>
          </a:p>
          <a:p>
            <a:r>
              <a:rPr lang="en-US" altLang="ko-KR" dirty="0">
                <a:solidFill>
                  <a:schemeClr val="bg1"/>
                </a:solidFill>
              </a:rPr>
              <a:t>#include "</a:t>
            </a:r>
            <a:r>
              <a:rPr lang="en-US" altLang="ko-KR" dirty="0" err="1">
                <a:solidFill>
                  <a:schemeClr val="bg1"/>
                </a:solidFill>
              </a:rPr>
              <a:t>xgpio.h</a:t>
            </a:r>
            <a:r>
              <a:rPr lang="en-US" altLang="ko-KR" dirty="0">
                <a:solidFill>
                  <a:schemeClr val="bg1"/>
                </a:solidFill>
              </a:rPr>
              <a:t>“</a:t>
            </a:r>
          </a:p>
          <a:p>
            <a:endParaRPr lang="en-US" altLang="ko-KR" dirty="0">
              <a:solidFill>
                <a:schemeClr val="bg1"/>
              </a:solidFill>
            </a:endParaRPr>
          </a:p>
          <a:p>
            <a:r>
              <a:rPr lang="en-US" altLang="ko-KR" dirty="0">
                <a:solidFill>
                  <a:schemeClr val="bg1"/>
                </a:solidFill>
              </a:rPr>
              <a:t>#define SW_GPIO_DEVICE_ID  XPAR_AXI_GPIO_1_DEVICE_ID</a:t>
            </a:r>
          </a:p>
          <a:p>
            <a:endParaRPr lang="en-US" altLang="ko-KR" dirty="0">
              <a:solidFill>
                <a:schemeClr val="bg1"/>
              </a:solidFill>
            </a:endParaRPr>
          </a:p>
          <a:p>
            <a:r>
              <a:rPr lang="en-US" altLang="ko-KR" dirty="0">
                <a:solidFill>
                  <a:schemeClr val="bg1"/>
                </a:solidFill>
              </a:rPr>
              <a:t>int main() {    </a:t>
            </a:r>
          </a:p>
          <a:p>
            <a:pPr lvl="1"/>
            <a:r>
              <a:rPr lang="en-US" altLang="ko-KR" dirty="0" err="1">
                <a:solidFill>
                  <a:schemeClr val="bg1"/>
                </a:solidFill>
              </a:rPr>
              <a:t>XGpio</a:t>
            </a:r>
            <a:r>
              <a:rPr lang="en-US" altLang="ko-KR" dirty="0">
                <a:solidFill>
                  <a:schemeClr val="bg1"/>
                </a:solidFill>
              </a:rPr>
              <a:t> </a:t>
            </a:r>
            <a:r>
              <a:rPr lang="en-US" altLang="ko-KR" dirty="0" err="1">
                <a:solidFill>
                  <a:schemeClr val="bg1"/>
                </a:solidFill>
              </a:rPr>
              <a:t>led_gpio</a:t>
            </a:r>
            <a:r>
              <a:rPr lang="en-US" altLang="ko-KR" dirty="0">
                <a:solidFill>
                  <a:schemeClr val="bg1"/>
                </a:solidFill>
              </a:rPr>
              <a:t>, </a:t>
            </a:r>
            <a:r>
              <a:rPr lang="en-US" altLang="ko-KR" dirty="0" err="1">
                <a:solidFill>
                  <a:schemeClr val="bg1"/>
                </a:solidFill>
              </a:rPr>
              <a:t>sw_gpio</a:t>
            </a:r>
            <a:r>
              <a:rPr lang="en-US" altLang="ko-KR" dirty="0">
                <a:solidFill>
                  <a:schemeClr val="bg1"/>
                </a:solidFill>
              </a:rPr>
              <a:t>;    </a:t>
            </a:r>
          </a:p>
          <a:p>
            <a:pPr lvl="1"/>
            <a:r>
              <a:rPr lang="en-US" altLang="ko-KR" dirty="0">
                <a:solidFill>
                  <a:schemeClr val="bg1"/>
                </a:solidFill>
              </a:rPr>
              <a:t>int </a:t>
            </a:r>
            <a:r>
              <a:rPr lang="en-US" altLang="ko-KR" dirty="0" err="1">
                <a:solidFill>
                  <a:schemeClr val="bg1"/>
                </a:solidFill>
              </a:rPr>
              <a:t>sw_value</a:t>
            </a:r>
            <a:r>
              <a:rPr lang="en-US" altLang="ko-KR" dirty="0">
                <a:solidFill>
                  <a:schemeClr val="bg1"/>
                </a:solidFill>
              </a:rPr>
              <a:t>;    </a:t>
            </a:r>
          </a:p>
          <a:p>
            <a:pPr lvl="1"/>
            <a:endParaRPr lang="en-US" altLang="ko-KR" dirty="0">
              <a:solidFill>
                <a:schemeClr val="bg1"/>
              </a:solidFill>
            </a:endParaRPr>
          </a:p>
          <a:p>
            <a:pPr lvl="1"/>
            <a:r>
              <a:rPr lang="en-US" altLang="ko-KR" dirty="0">
                <a:solidFill>
                  <a:schemeClr val="bg1"/>
                </a:solidFill>
              </a:rPr>
              <a:t>// LED GPIO </a:t>
            </a:r>
            <a:r>
              <a:rPr lang="ko-KR" altLang="en-US" dirty="0">
                <a:solidFill>
                  <a:schemeClr val="bg1"/>
                </a:solidFill>
              </a:rPr>
              <a:t>초기화    </a:t>
            </a:r>
            <a:endParaRPr lang="en-US" altLang="ko-KR" dirty="0">
              <a:solidFill>
                <a:schemeClr val="bg1"/>
              </a:solidFill>
            </a:endParaRPr>
          </a:p>
          <a:p>
            <a:pPr lvl="1"/>
            <a:r>
              <a:rPr lang="en-US" altLang="ko-KR" dirty="0" err="1">
                <a:solidFill>
                  <a:schemeClr val="bg1"/>
                </a:solidFill>
              </a:rPr>
              <a:t>XGpio_Initialize</a:t>
            </a:r>
            <a:r>
              <a:rPr lang="en-US" altLang="ko-KR" dirty="0">
                <a:solidFill>
                  <a:schemeClr val="bg1"/>
                </a:solidFill>
              </a:rPr>
              <a:t>(&amp;</a:t>
            </a:r>
            <a:r>
              <a:rPr lang="en-US" altLang="ko-KR" dirty="0" err="1">
                <a:solidFill>
                  <a:schemeClr val="bg1"/>
                </a:solidFill>
              </a:rPr>
              <a:t>led_gpio</a:t>
            </a:r>
            <a:r>
              <a:rPr lang="en-US" altLang="ko-KR" dirty="0">
                <a:solidFill>
                  <a:schemeClr val="bg1"/>
                </a:solidFill>
              </a:rPr>
              <a:t>, GPIO_DEVICE_ID);    </a:t>
            </a:r>
          </a:p>
          <a:p>
            <a:pPr lvl="1"/>
            <a:r>
              <a:rPr lang="en-US" altLang="ko-KR" dirty="0" err="1">
                <a:solidFill>
                  <a:schemeClr val="bg1"/>
                </a:solidFill>
              </a:rPr>
              <a:t>XGpio_SetDataDirection</a:t>
            </a:r>
            <a:r>
              <a:rPr lang="en-US" altLang="ko-KR" dirty="0">
                <a:solidFill>
                  <a:schemeClr val="bg1"/>
                </a:solidFill>
              </a:rPr>
              <a:t>(&amp;</a:t>
            </a:r>
            <a:r>
              <a:rPr lang="en-US" altLang="ko-KR" dirty="0" err="1">
                <a:solidFill>
                  <a:schemeClr val="bg1"/>
                </a:solidFill>
              </a:rPr>
              <a:t>led_gpio</a:t>
            </a:r>
            <a:r>
              <a:rPr lang="en-US" altLang="ko-KR" dirty="0">
                <a:solidFill>
                  <a:schemeClr val="bg1"/>
                </a:solidFill>
              </a:rPr>
              <a:t>, 1, 0x0);  // </a:t>
            </a:r>
            <a:r>
              <a:rPr lang="ko-KR" altLang="en-US" dirty="0">
                <a:solidFill>
                  <a:schemeClr val="bg1"/>
                </a:solidFill>
              </a:rPr>
              <a:t>출력  </a:t>
            </a:r>
            <a:endParaRPr lang="en-US" altLang="ko-KR" dirty="0">
              <a:solidFill>
                <a:schemeClr val="bg1"/>
              </a:solidFill>
            </a:endParaRPr>
          </a:p>
          <a:p>
            <a:pPr lvl="1"/>
            <a:r>
              <a:rPr lang="ko-KR" altLang="en-US" dirty="0">
                <a:solidFill>
                  <a:schemeClr val="bg1"/>
                </a:solidFill>
              </a:rPr>
              <a:t>  </a:t>
            </a:r>
            <a:endParaRPr lang="en-US" altLang="ko-KR" dirty="0">
              <a:solidFill>
                <a:schemeClr val="bg1"/>
              </a:solidFill>
            </a:endParaRPr>
          </a:p>
          <a:p>
            <a:pPr lvl="1"/>
            <a:r>
              <a:rPr lang="en-US" altLang="ko-KR" dirty="0">
                <a:solidFill>
                  <a:schemeClr val="bg1"/>
                </a:solidFill>
              </a:rPr>
              <a:t>// Switch GPIO </a:t>
            </a:r>
            <a:r>
              <a:rPr lang="ko-KR" altLang="en-US" dirty="0">
                <a:solidFill>
                  <a:schemeClr val="bg1"/>
                </a:solidFill>
              </a:rPr>
              <a:t>초기화    </a:t>
            </a:r>
            <a:endParaRPr lang="en-US" altLang="ko-KR" dirty="0">
              <a:solidFill>
                <a:schemeClr val="bg1"/>
              </a:solidFill>
            </a:endParaRPr>
          </a:p>
          <a:p>
            <a:pPr lvl="1"/>
            <a:r>
              <a:rPr lang="en-US" altLang="ko-KR" dirty="0" err="1">
                <a:solidFill>
                  <a:schemeClr val="bg1"/>
                </a:solidFill>
              </a:rPr>
              <a:t>XGpio_Initialize</a:t>
            </a:r>
            <a:r>
              <a:rPr lang="en-US" altLang="ko-KR" dirty="0">
                <a:solidFill>
                  <a:schemeClr val="bg1"/>
                </a:solidFill>
              </a:rPr>
              <a:t>(&amp;</a:t>
            </a:r>
            <a:r>
              <a:rPr lang="en-US" altLang="ko-KR" dirty="0" err="1">
                <a:solidFill>
                  <a:schemeClr val="bg1"/>
                </a:solidFill>
              </a:rPr>
              <a:t>sw_gpio</a:t>
            </a:r>
            <a:r>
              <a:rPr lang="en-US" altLang="ko-KR" dirty="0">
                <a:solidFill>
                  <a:schemeClr val="bg1"/>
                </a:solidFill>
              </a:rPr>
              <a:t>, SW_GPIO_DEVICE_ID);   </a:t>
            </a:r>
          </a:p>
          <a:p>
            <a:pPr lvl="1"/>
            <a:r>
              <a:rPr lang="en-US" altLang="ko-KR" dirty="0" err="1">
                <a:solidFill>
                  <a:schemeClr val="bg1"/>
                </a:solidFill>
              </a:rPr>
              <a:t>XGpio_SetDataDirection</a:t>
            </a:r>
            <a:r>
              <a:rPr lang="en-US" altLang="ko-KR" dirty="0">
                <a:solidFill>
                  <a:schemeClr val="bg1"/>
                </a:solidFill>
              </a:rPr>
              <a:t>(&amp;</a:t>
            </a:r>
            <a:r>
              <a:rPr lang="en-US" altLang="ko-KR" dirty="0" err="1">
                <a:solidFill>
                  <a:schemeClr val="bg1"/>
                </a:solidFill>
              </a:rPr>
              <a:t>sw_gpio</a:t>
            </a:r>
            <a:r>
              <a:rPr lang="en-US" altLang="ko-KR" dirty="0">
                <a:solidFill>
                  <a:schemeClr val="bg1"/>
                </a:solidFill>
              </a:rPr>
              <a:t>, 1, 0xF);  // </a:t>
            </a:r>
            <a:r>
              <a:rPr lang="ko-KR" altLang="en-US" dirty="0">
                <a:solidFill>
                  <a:schemeClr val="bg1"/>
                </a:solidFill>
              </a:rPr>
              <a:t>입력    </a:t>
            </a:r>
            <a:endParaRPr lang="en-US" altLang="ko-KR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BEC1C1-AF88-0F52-2A2F-6D0938363F71}"/>
              </a:ext>
            </a:extLst>
          </p:cNvPr>
          <p:cNvSpPr txBox="1"/>
          <p:nvPr/>
        </p:nvSpPr>
        <p:spPr>
          <a:xfrm>
            <a:off x="6515100" y="2705884"/>
            <a:ext cx="611701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ko-KR" dirty="0">
                <a:solidFill>
                  <a:schemeClr val="bg1"/>
                </a:solidFill>
              </a:rPr>
              <a:t>while (1) {        </a:t>
            </a:r>
          </a:p>
          <a:p>
            <a:pPr lvl="2"/>
            <a:r>
              <a:rPr lang="en-US" altLang="ko-KR" dirty="0">
                <a:solidFill>
                  <a:schemeClr val="bg1"/>
                </a:solidFill>
              </a:rPr>
              <a:t>// </a:t>
            </a:r>
            <a:r>
              <a:rPr lang="ko-KR" altLang="en-US" dirty="0">
                <a:solidFill>
                  <a:schemeClr val="bg1"/>
                </a:solidFill>
              </a:rPr>
              <a:t>스위치 값 읽기        </a:t>
            </a:r>
            <a:endParaRPr lang="en-US" altLang="ko-KR" dirty="0">
              <a:solidFill>
                <a:schemeClr val="bg1"/>
              </a:solidFill>
            </a:endParaRPr>
          </a:p>
          <a:p>
            <a:pPr lvl="2"/>
            <a:r>
              <a:rPr lang="en-US" altLang="ko-KR" dirty="0" err="1">
                <a:solidFill>
                  <a:schemeClr val="bg1"/>
                </a:solidFill>
              </a:rPr>
              <a:t>sw_value</a:t>
            </a:r>
            <a:r>
              <a:rPr lang="en-US" altLang="ko-KR" dirty="0">
                <a:solidFill>
                  <a:schemeClr val="bg1"/>
                </a:solidFill>
              </a:rPr>
              <a:t> = </a:t>
            </a:r>
            <a:r>
              <a:rPr lang="en-US" altLang="ko-KR" dirty="0" err="1">
                <a:solidFill>
                  <a:schemeClr val="bg1"/>
                </a:solidFill>
              </a:rPr>
              <a:t>XGpio_DiscreteRead</a:t>
            </a:r>
            <a:r>
              <a:rPr lang="en-US" altLang="ko-KR" dirty="0">
                <a:solidFill>
                  <a:schemeClr val="bg1"/>
                </a:solidFill>
              </a:rPr>
              <a:t>(&amp;</a:t>
            </a:r>
            <a:r>
              <a:rPr lang="en-US" altLang="ko-KR" dirty="0" err="1">
                <a:solidFill>
                  <a:schemeClr val="bg1"/>
                </a:solidFill>
              </a:rPr>
              <a:t>sw_gpio</a:t>
            </a:r>
            <a:r>
              <a:rPr lang="en-US" altLang="ko-KR" dirty="0">
                <a:solidFill>
                  <a:schemeClr val="bg1"/>
                </a:solidFill>
              </a:rPr>
              <a:t>, 1); </a:t>
            </a:r>
          </a:p>
          <a:p>
            <a:pPr lvl="2"/>
            <a:r>
              <a:rPr lang="en-US" altLang="ko-KR" dirty="0">
                <a:solidFill>
                  <a:schemeClr val="bg1"/>
                </a:solidFill>
              </a:rPr>
              <a:t>               </a:t>
            </a:r>
          </a:p>
          <a:p>
            <a:pPr lvl="2"/>
            <a:r>
              <a:rPr lang="en-US" altLang="ko-KR" dirty="0">
                <a:solidFill>
                  <a:schemeClr val="bg1"/>
                </a:solidFill>
              </a:rPr>
              <a:t>// LED</a:t>
            </a:r>
            <a:r>
              <a:rPr lang="ko-KR" altLang="en-US" dirty="0">
                <a:solidFill>
                  <a:schemeClr val="bg1"/>
                </a:solidFill>
              </a:rPr>
              <a:t>에 쓰기        </a:t>
            </a:r>
            <a:endParaRPr lang="en-US" altLang="ko-KR" dirty="0">
              <a:solidFill>
                <a:schemeClr val="bg1"/>
              </a:solidFill>
            </a:endParaRPr>
          </a:p>
          <a:p>
            <a:pPr lvl="2"/>
            <a:r>
              <a:rPr lang="en-US" altLang="ko-KR" dirty="0" err="1">
                <a:solidFill>
                  <a:schemeClr val="bg1"/>
                </a:solidFill>
              </a:rPr>
              <a:t>XGpio_DiscreteWrite</a:t>
            </a:r>
            <a:r>
              <a:rPr lang="en-US" altLang="ko-KR" dirty="0">
                <a:solidFill>
                  <a:schemeClr val="bg1"/>
                </a:solidFill>
              </a:rPr>
              <a:t>(&amp;</a:t>
            </a:r>
            <a:r>
              <a:rPr lang="en-US" altLang="ko-KR" dirty="0" err="1">
                <a:solidFill>
                  <a:schemeClr val="bg1"/>
                </a:solidFill>
              </a:rPr>
              <a:t>led_gpio</a:t>
            </a:r>
            <a:r>
              <a:rPr lang="en-US" altLang="ko-KR" dirty="0">
                <a:solidFill>
                  <a:schemeClr val="bg1"/>
                </a:solidFill>
              </a:rPr>
              <a:t>, 1, </a:t>
            </a:r>
            <a:r>
              <a:rPr lang="en-US" altLang="ko-KR" dirty="0" err="1">
                <a:solidFill>
                  <a:schemeClr val="bg1"/>
                </a:solidFill>
              </a:rPr>
              <a:t>sw_value</a:t>
            </a:r>
            <a:r>
              <a:rPr lang="en-US" altLang="ko-KR" dirty="0">
                <a:solidFill>
                  <a:schemeClr val="bg1"/>
                </a:solidFill>
              </a:rPr>
              <a:t>);                </a:t>
            </a:r>
          </a:p>
          <a:p>
            <a:pPr lvl="2"/>
            <a:r>
              <a:rPr lang="en-US" altLang="ko-KR" dirty="0" err="1">
                <a:solidFill>
                  <a:schemeClr val="bg1"/>
                </a:solidFill>
              </a:rPr>
              <a:t>printf</a:t>
            </a:r>
            <a:r>
              <a:rPr lang="en-US" altLang="ko-KR" dirty="0">
                <a:solidFill>
                  <a:schemeClr val="bg1"/>
                </a:solidFill>
              </a:rPr>
              <a:t>("Switch: 0x%X, LED: 0x%X\n", </a:t>
            </a:r>
          </a:p>
          <a:p>
            <a:pPr lvl="2"/>
            <a:r>
              <a:rPr lang="en-US" altLang="ko-KR" dirty="0">
                <a:solidFill>
                  <a:schemeClr val="bg1"/>
                </a:solidFill>
              </a:rPr>
              <a:t>	</a:t>
            </a:r>
            <a:r>
              <a:rPr lang="en-US" altLang="ko-KR" dirty="0" err="1">
                <a:solidFill>
                  <a:schemeClr val="bg1"/>
                </a:solidFill>
              </a:rPr>
              <a:t>sw_value</a:t>
            </a:r>
            <a:r>
              <a:rPr lang="en-US" altLang="ko-KR" dirty="0">
                <a:solidFill>
                  <a:schemeClr val="bg1"/>
                </a:solidFill>
              </a:rPr>
              <a:t>, </a:t>
            </a:r>
            <a:r>
              <a:rPr lang="en-US" altLang="ko-KR" dirty="0" err="1">
                <a:solidFill>
                  <a:schemeClr val="bg1"/>
                </a:solidFill>
              </a:rPr>
              <a:t>sw_value</a:t>
            </a:r>
            <a:r>
              <a:rPr lang="en-US" altLang="ko-KR" dirty="0">
                <a:solidFill>
                  <a:schemeClr val="bg1"/>
                </a:solidFill>
              </a:rPr>
              <a:t>);        </a:t>
            </a:r>
          </a:p>
          <a:p>
            <a:pPr lvl="2"/>
            <a:r>
              <a:rPr lang="en-US" altLang="ko-KR" dirty="0" err="1">
                <a:solidFill>
                  <a:schemeClr val="bg1"/>
                </a:solidFill>
              </a:rPr>
              <a:t>usleep</a:t>
            </a:r>
            <a:r>
              <a:rPr lang="en-US" altLang="ko-KR" dirty="0">
                <a:solidFill>
                  <a:schemeClr val="bg1"/>
                </a:solidFill>
              </a:rPr>
              <a:t>(100000);    </a:t>
            </a:r>
          </a:p>
          <a:p>
            <a:pPr lvl="1"/>
            <a:r>
              <a:rPr lang="en-US" altLang="ko-KR" dirty="0">
                <a:solidFill>
                  <a:schemeClr val="bg1"/>
                </a:solidFill>
              </a:rPr>
              <a:t>}</a:t>
            </a:r>
          </a:p>
          <a:p>
            <a:r>
              <a:rPr lang="en-US" altLang="ko-KR" dirty="0">
                <a:solidFill>
                  <a:schemeClr val="bg1"/>
                </a:solidFill>
              </a:rPr>
              <a:t>}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018A4A-4B7C-A6E1-3B52-5F066A93350B}"/>
              </a:ext>
            </a:extLst>
          </p:cNvPr>
          <p:cNvSpPr txBox="1"/>
          <p:nvPr/>
        </p:nvSpPr>
        <p:spPr>
          <a:xfrm>
            <a:off x="161546" y="1161781"/>
            <a:ext cx="2609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Step 9: </a:t>
            </a:r>
            <a:r>
              <a:rPr lang="ko-KR" altLang="en-US" dirty="0"/>
              <a:t>스위치 입력</a:t>
            </a:r>
            <a:r>
              <a:rPr lang="en-US" altLang="ko-KR" dirty="0"/>
              <a:t> </a:t>
            </a:r>
            <a:r>
              <a:rPr lang="ko-KR" altLang="en-US" dirty="0"/>
              <a:t>읽기</a:t>
            </a:r>
            <a:endParaRPr lang="en-US" altLang="ko-K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821CC1-FBFF-020A-FA44-A9A4332E1AC1}"/>
              </a:ext>
            </a:extLst>
          </p:cNvPr>
          <p:cNvSpPr txBox="1"/>
          <p:nvPr/>
        </p:nvSpPr>
        <p:spPr>
          <a:xfrm>
            <a:off x="11692703" y="6492240"/>
            <a:ext cx="31611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000" b="0" dirty="0">
                <a:solidFill>
                  <a:srgbClr val="666666"/>
                </a:solidFill>
                <a:latin typeface="Calibri"/>
              </a:rPr>
              <a:t>22</a:t>
            </a:r>
            <a:endParaRPr sz="1000" b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60B104CD-607C-83F1-8B95-DBB658E81877}"/>
              </a:ext>
            </a:extLst>
          </p:cNvPr>
          <p:cNvSpPr/>
          <p:nvPr/>
        </p:nvSpPr>
        <p:spPr>
          <a:xfrm>
            <a:off x="457200" y="6446520"/>
            <a:ext cx="1127729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CB7C7B-CEDC-105C-9CD5-16F4C0E2CC50}"/>
              </a:ext>
            </a:extLst>
          </p:cNvPr>
          <p:cNvSpPr txBox="1"/>
          <p:nvPr/>
        </p:nvSpPr>
        <p:spPr>
          <a:xfrm>
            <a:off x="457200" y="6492240"/>
            <a:ext cx="326403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dirty="0">
                <a:solidFill>
                  <a:srgbClr val="666666"/>
                </a:solidFill>
                <a:latin typeface="Calibri"/>
              </a:rPr>
              <a:t>Step 0</a:t>
            </a:r>
            <a:r>
              <a:rPr lang="en-US" sz="1000" b="0" dirty="0">
                <a:solidFill>
                  <a:srgbClr val="666666"/>
                </a:solidFill>
                <a:latin typeface="Calibri"/>
              </a:rPr>
              <a:t>3</a:t>
            </a:r>
            <a:r>
              <a:rPr sz="1000" b="0" dirty="0">
                <a:solidFill>
                  <a:srgbClr val="666666"/>
                </a:solidFill>
                <a:latin typeface="Calibri"/>
              </a:rPr>
              <a:t>: </a:t>
            </a:r>
            <a:r>
              <a:rPr lang="en-US" altLang="ko-KR" sz="1000" b="0" dirty="0">
                <a:solidFill>
                  <a:srgbClr val="666666"/>
                </a:solidFill>
                <a:latin typeface="Calibri"/>
              </a:rPr>
              <a:t>AXI GPIO Integration</a:t>
            </a:r>
            <a:r>
              <a:rPr sz="1000" b="0" dirty="0">
                <a:solidFill>
                  <a:srgbClr val="666666"/>
                </a:solidFill>
                <a:latin typeface="Calibri"/>
              </a:rPr>
              <a:t> —</a:t>
            </a:r>
            <a:r>
              <a:rPr lang="en-US" sz="1000" b="0" dirty="0">
                <a:solidFill>
                  <a:srgbClr val="666666"/>
                </a:solidFill>
                <a:latin typeface="Calibri"/>
              </a:rPr>
              <a:t> </a:t>
            </a:r>
            <a:r>
              <a:rPr lang="en-US" sz="1000" dirty="0">
                <a:solidFill>
                  <a:srgbClr val="666666"/>
                </a:solidFill>
                <a:latin typeface="Calibri"/>
              </a:rPr>
              <a:t>PS/PL </a:t>
            </a:r>
            <a:r>
              <a:rPr lang="ko-KR" altLang="en-US" sz="1000" dirty="0">
                <a:solidFill>
                  <a:srgbClr val="666666"/>
                </a:solidFill>
                <a:latin typeface="Calibri"/>
              </a:rPr>
              <a:t>통신 구현 </a:t>
            </a:r>
            <a:r>
              <a:rPr lang="en-US" altLang="ko-KR" sz="1000" dirty="0">
                <a:solidFill>
                  <a:srgbClr val="666666"/>
                </a:solidFill>
                <a:latin typeface="Calibri"/>
              </a:rPr>
              <a:t>LED </a:t>
            </a:r>
            <a:r>
              <a:rPr lang="ko-KR" altLang="en-US" sz="1000" dirty="0">
                <a:solidFill>
                  <a:srgbClr val="666666"/>
                </a:solidFill>
                <a:latin typeface="Calibri"/>
              </a:rPr>
              <a:t>제어</a:t>
            </a:r>
            <a:endParaRPr sz="1000" b="0" dirty="0">
              <a:solidFill>
                <a:srgbClr val="666666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718810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A31DE393-E816-F0FF-CA9E-CB9971121EBA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4858964-68FA-F3D0-B2F2-8FD671A6685A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07F3AD-F39F-7F13-1EC9-FB37C3A5FC27}"/>
              </a:ext>
            </a:extLst>
          </p:cNvPr>
          <p:cNvSpPr txBox="1"/>
          <p:nvPr/>
        </p:nvSpPr>
        <p:spPr>
          <a:xfrm>
            <a:off x="457200" y="309890"/>
            <a:ext cx="1127729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  <a:latin typeface="Calibri"/>
              </a:rPr>
              <a:t>PYNQ / Vitis</a:t>
            </a:r>
            <a:endParaRPr sz="28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FDEA82-2AC5-40DF-A353-E362634FAD3A}"/>
              </a:ext>
            </a:extLst>
          </p:cNvPr>
          <p:cNvSpPr txBox="1"/>
          <p:nvPr/>
        </p:nvSpPr>
        <p:spPr>
          <a:xfrm>
            <a:off x="598394" y="1310650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비교 요약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9CB3A394-3BC6-648A-8D53-A3B0BE781D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6138466"/>
              </p:ext>
            </p:extLst>
          </p:nvPr>
        </p:nvGraphicFramePr>
        <p:xfrm>
          <a:off x="855382" y="1679982"/>
          <a:ext cx="8127999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57358619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91704360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1512685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PYNQ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Vitis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3898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언어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Python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C/C++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90068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개발 속도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빠름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중간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18880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성능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보통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높음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36664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실행 환경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Ubuntu + </a:t>
                      </a:r>
                      <a:r>
                        <a:rPr lang="en-US" altLang="ko-KR" dirty="0" err="1"/>
                        <a:t>Jupyter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Bare-metal / Linux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33037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용도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프로토타입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테스트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최종 제품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445170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8ADBBAC7-000D-FA07-3D37-7CA21C91411D}"/>
              </a:ext>
            </a:extLst>
          </p:cNvPr>
          <p:cNvSpPr txBox="1"/>
          <p:nvPr/>
        </p:nvSpPr>
        <p:spPr>
          <a:xfrm>
            <a:off x="598394" y="4250918"/>
            <a:ext cx="1675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주요 오류 원인</a:t>
            </a: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910A0C34-0C77-6A25-BF0C-C15675BBB0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557095"/>
              </p:ext>
            </p:extLst>
          </p:nvPr>
        </p:nvGraphicFramePr>
        <p:xfrm>
          <a:off x="855381" y="4620250"/>
          <a:ext cx="907527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76478">
                  <a:extLst>
                    <a:ext uri="{9D8B030D-6E8A-4147-A177-3AD203B41FA5}">
                      <a16:colId xmlns:a16="http://schemas.microsoft.com/office/drawing/2014/main" val="3573586195"/>
                    </a:ext>
                  </a:extLst>
                </a:gridCol>
                <a:gridCol w="3798794">
                  <a:extLst>
                    <a:ext uri="{9D8B030D-6E8A-4147-A177-3AD203B41FA5}">
                      <a16:colId xmlns:a16="http://schemas.microsoft.com/office/drawing/2014/main" val="29170436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오류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원인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3898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GLIBCXX_3.4.26 not found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C++</a:t>
                      </a:r>
                      <a:r>
                        <a:rPr lang="ko-KR" altLang="en-US" dirty="0"/>
                        <a:t> 라이브러리 버전 불일치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90068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libGL</a:t>
                      </a:r>
                      <a:r>
                        <a:rPr lang="en-US" altLang="ko-KR" dirty="0"/>
                        <a:t> error: MESA-LOADER: failed to open </a:t>
                      </a:r>
                      <a:r>
                        <a:rPr lang="en-US" altLang="ko-KR" dirty="0" err="1"/>
                        <a:t>swrast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OpenGL </a:t>
                      </a:r>
                      <a:r>
                        <a:rPr lang="ko-KR" altLang="en-US" dirty="0"/>
                        <a:t>라이브러리 문제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18880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glXCreateNewContext</a:t>
                      </a:r>
                      <a:r>
                        <a:rPr lang="en-US" altLang="ko-KR" dirty="0"/>
                        <a:t>, remote GLX is likely disabled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WSL</a:t>
                      </a:r>
                      <a:r>
                        <a:rPr lang="ko-KR" altLang="en-US" dirty="0"/>
                        <a:t>의 원격 </a:t>
                      </a:r>
                      <a:r>
                        <a:rPr lang="en-US" altLang="ko-KR" dirty="0"/>
                        <a:t>GLX </a:t>
                      </a:r>
                      <a:r>
                        <a:rPr lang="ko-KR" altLang="en-US" dirty="0"/>
                        <a:t>미지원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 err="1"/>
                        <a:t>미설정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36664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killed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메모리 부족 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가장 유력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3303708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0042CB50-5187-5F04-1C67-ACEF4A462DF8}"/>
              </a:ext>
            </a:extLst>
          </p:cNvPr>
          <p:cNvSpPr txBox="1"/>
          <p:nvPr/>
        </p:nvSpPr>
        <p:spPr>
          <a:xfrm>
            <a:off x="11692703" y="6492240"/>
            <a:ext cx="31611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000" b="0" dirty="0">
                <a:solidFill>
                  <a:srgbClr val="666666"/>
                </a:solidFill>
                <a:latin typeface="Calibri"/>
              </a:rPr>
              <a:t>23</a:t>
            </a:r>
            <a:endParaRPr sz="1000" b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183E218B-1557-8653-975A-3E97634C1D1F}"/>
              </a:ext>
            </a:extLst>
          </p:cNvPr>
          <p:cNvSpPr/>
          <p:nvPr/>
        </p:nvSpPr>
        <p:spPr>
          <a:xfrm>
            <a:off x="457200" y="6446520"/>
            <a:ext cx="1127729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00C97B-0999-9EEC-D8E0-5CCBA95B364E}"/>
              </a:ext>
            </a:extLst>
          </p:cNvPr>
          <p:cNvSpPr txBox="1"/>
          <p:nvPr/>
        </p:nvSpPr>
        <p:spPr>
          <a:xfrm>
            <a:off x="457200" y="6492240"/>
            <a:ext cx="326403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dirty="0">
                <a:solidFill>
                  <a:srgbClr val="666666"/>
                </a:solidFill>
                <a:latin typeface="Calibri"/>
              </a:rPr>
              <a:t>Step 0</a:t>
            </a:r>
            <a:r>
              <a:rPr lang="en-US" sz="1000" b="0" dirty="0">
                <a:solidFill>
                  <a:srgbClr val="666666"/>
                </a:solidFill>
                <a:latin typeface="Calibri"/>
              </a:rPr>
              <a:t>3</a:t>
            </a:r>
            <a:r>
              <a:rPr sz="1000" b="0" dirty="0">
                <a:solidFill>
                  <a:srgbClr val="666666"/>
                </a:solidFill>
                <a:latin typeface="Calibri"/>
              </a:rPr>
              <a:t>: </a:t>
            </a:r>
            <a:r>
              <a:rPr lang="en-US" altLang="ko-KR" sz="1000" b="0" dirty="0">
                <a:solidFill>
                  <a:srgbClr val="666666"/>
                </a:solidFill>
                <a:latin typeface="Calibri"/>
              </a:rPr>
              <a:t>AXI GPIO Integration</a:t>
            </a:r>
            <a:r>
              <a:rPr sz="1000" b="0" dirty="0">
                <a:solidFill>
                  <a:srgbClr val="666666"/>
                </a:solidFill>
                <a:latin typeface="Calibri"/>
              </a:rPr>
              <a:t> —</a:t>
            </a:r>
            <a:r>
              <a:rPr lang="en-US" sz="1000" b="0" dirty="0">
                <a:solidFill>
                  <a:srgbClr val="666666"/>
                </a:solidFill>
                <a:latin typeface="Calibri"/>
              </a:rPr>
              <a:t> </a:t>
            </a:r>
            <a:r>
              <a:rPr lang="en-US" sz="1000" dirty="0">
                <a:solidFill>
                  <a:srgbClr val="666666"/>
                </a:solidFill>
                <a:latin typeface="Calibri"/>
              </a:rPr>
              <a:t>PS/PL </a:t>
            </a:r>
            <a:r>
              <a:rPr lang="ko-KR" altLang="en-US" sz="1000" dirty="0">
                <a:solidFill>
                  <a:srgbClr val="666666"/>
                </a:solidFill>
                <a:latin typeface="Calibri"/>
              </a:rPr>
              <a:t>통신 구현 </a:t>
            </a:r>
            <a:r>
              <a:rPr lang="en-US" altLang="ko-KR" sz="1000" dirty="0">
                <a:solidFill>
                  <a:srgbClr val="666666"/>
                </a:solidFill>
                <a:latin typeface="Calibri"/>
              </a:rPr>
              <a:t>LED </a:t>
            </a:r>
            <a:r>
              <a:rPr lang="ko-KR" altLang="en-US" sz="1000" dirty="0">
                <a:solidFill>
                  <a:srgbClr val="666666"/>
                </a:solidFill>
                <a:latin typeface="Calibri"/>
              </a:rPr>
              <a:t>제어</a:t>
            </a:r>
            <a:endParaRPr sz="1000" b="0" dirty="0">
              <a:solidFill>
                <a:srgbClr val="666666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063466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F96A330-37F7-C631-5938-69CA1A6DDEAE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A5BF0B-733B-88F4-BF8B-235E444B7697}"/>
              </a:ext>
            </a:extLst>
          </p:cNvPr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C2B80D-83BA-B36D-66F4-1496959BB364}"/>
              </a:ext>
            </a:extLst>
          </p:cNvPr>
          <p:cNvSpPr txBox="1"/>
          <p:nvPr/>
        </p:nvSpPr>
        <p:spPr>
          <a:xfrm>
            <a:off x="457200" y="548640"/>
            <a:ext cx="10972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rPr dirty="0"/>
              <a:t>Step 0</a:t>
            </a:r>
            <a:r>
              <a:rPr lang="en-US" dirty="0"/>
              <a:t>3</a:t>
            </a:r>
            <a:r>
              <a:rPr dirty="0"/>
              <a:t> </a:t>
            </a:r>
            <a:r>
              <a:rPr dirty="0" err="1"/>
              <a:t>완료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D8692B-7CC2-F65A-1969-403777327DB1}"/>
              </a:ext>
            </a:extLst>
          </p:cNvPr>
          <p:cNvSpPr txBox="1"/>
          <p:nvPr/>
        </p:nvSpPr>
        <p:spPr>
          <a:xfrm>
            <a:off x="457200" y="2011680"/>
            <a:ext cx="381226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AACCEE"/>
                </a:solidFill>
              </a:defRPr>
            </a:pPr>
            <a:r>
              <a:rPr dirty="0" err="1"/>
              <a:t>다음</a:t>
            </a:r>
            <a:r>
              <a:rPr dirty="0"/>
              <a:t> </a:t>
            </a:r>
            <a:r>
              <a:rPr dirty="0" err="1"/>
              <a:t>단계</a:t>
            </a:r>
            <a:r>
              <a:rPr dirty="0"/>
              <a:t>: </a:t>
            </a:r>
            <a:r>
              <a:rPr lang="en-US" dirty="0"/>
              <a:t>Vitis HLS + PMOD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AB6F84-F37B-7B58-B297-D1CB2A748F67}"/>
              </a:ext>
            </a:extLst>
          </p:cNvPr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ACCEE"/>
                </a:solidFill>
              </a:defRPr>
            </a:pPr>
            <a:r>
              <a:t>KV260 FPGA Training Series</a:t>
            </a:r>
          </a:p>
        </p:txBody>
      </p:sp>
    </p:spTree>
    <p:extLst>
      <p:ext uri="{BB962C8B-B14F-4D97-AF65-F5344CB8AC3E}">
        <p14:creationId xmlns:p14="http://schemas.microsoft.com/office/powerpoint/2010/main" val="4221442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2003</TotalTime>
  <Words>3008</Words>
  <Application>Microsoft Office PowerPoint</Application>
  <PresentationFormat>와이드스크린</PresentationFormat>
  <Paragraphs>533</Paragraphs>
  <Slides>24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9" baseType="lpstr">
      <vt:lpstr>맑은 고딕</vt:lpstr>
      <vt:lpstr>Arial</vt:lpstr>
      <vt:lpstr>Calibri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JAEUK NAM</cp:lastModifiedBy>
  <cp:revision>37</cp:revision>
  <dcterms:created xsi:type="dcterms:W3CDTF">2013-01-27T09:14:16Z</dcterms:created>
  <dcterms:modified xsi:type="dcterms:W3CDTF">2026-04-01T05:51:37Z</dcterms:modified>
  <cp:category/>
</cp:coreProperties>
</file>