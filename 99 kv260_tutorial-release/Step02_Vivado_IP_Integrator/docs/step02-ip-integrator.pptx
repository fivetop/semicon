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34" d="100"/>
          <a:sy n="234" d="100"/>
        </p:scale>
        <p:origin x="834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0F4F21ED-CD12-1BC3-E9FC-7090A159788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7062B85-C588-96ED-7018-DBE3857F758C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45088" y="1249250"/>
            <a:ext cx="66970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/>
              <a:t>Vivado</a:t>
            </a:r>
            <a:r>
              <a:rPr dirty="0"/>
              <a:t> IP Integrator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258" y="3821720"/>
            <a:ext cx="6091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rPr dirty="0"/>
              <a:t>PS-PL </a:t>
            </a:r>
            <a:r>
              <a:rPr dirty="0" err="1"/>
              <a:t>인터페이스와</a:t>
            </a:r>
            <a:r>
              <a:rPr dirty="0"/>
              <a:t> </a:t>
            </a:r>
            <a:r>
              <a:rPr dirty="0" err="1"/>
              <a:t>블록</a:t>
            </a:r>
            <a:r>
              <a:rPr dirty="0"/>
              <a:t> </a:t>
            </a:r>
            <a:r>
              <a:rPr dirty="0" err="1"/>
              <a:t>자동화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36F6B-A090-9516-A601-F9817D6E87FA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E191348-6057-392B-CE24-E3515808694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20E968-7D4D-2104-9FB7-20BA1021A2F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C46DA-C53A-E39B-5289-80FA26D6DD99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E587C-2892-0A43-1613-3D119DA91DEB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2B77248-6C92-FC36-CE6E-8E5E2EB24B2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8653C-FCAA-747A-20ED-7FC4D8BCD43A}"/>
              </a:ext>
            </a:extLst>
          </p:cNvPr>
          <p:cNvSpPr txBox="1"/>
          <p:nvPr/>
        </p:nvSpPr>
        <p:spPr>
          <a:xfrm>
            <a:off x="457200" y="6492240"/>
            <a:ext cx="3602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 err="1">
                <a:solidFill>
                  <a:srgbClr val="666666"/>
                </a:solidFill>
                <a:latin typeface="Calibri"/>
              </a:rPr>
              <a:t>vivado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IP Integrator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PS/PL 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인터페이스와 블록 자동화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211BA2-AF0A-F566-4278-4D7CA9E5D975}"/>
              </a:ext>
            </a:extLst>
          </p:cNvPr>
          <p:cNvSpPr txBox="1"/>
          <p:nvPr/>
        </p:nvSpPr>
        <p:spPr>
          <a:xfrm>
            <a:off x="457200" y="1473663"/>
            <a:ext cx="11277295" cy="2377119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b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lang="en-US" sz="1800" b="0" dirty="0">
                <a:solidFill>
                  <a:srgbClr val="000000"/>
                </a:solidFill>
                <a:latin typeface="Calibri"/>
              </a:rPr>
              <a:t> IP 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Integrator</a:t>
            </a:r>
            <a:r>
              <a:rPr lang="ko-KR" altLang="en-US" dirty="0">
                <a:solidFill>
                  <a:srgbClr val="000000"/>
                </a:solidFill>
                <a:latin typeface="Calibri"/>
              </a:rPr>
              <a:t>의 기본 사용법 습득</a:t>
            </a:r>
            <a:endParaRPr lang="en-US" sz="1800" b="0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PS-PL</a:t>
            </a:r>
            <a:r>
              <a:rPr lang="ko-KR" altLang="en-US" dirty="0">
                <a:solidFill>
                  <a:srgbClr val="000000"/>
                </a:solidFill>
              </a:rPr>
              <a:t> 인터페이스 이해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블록 자동화</a:t>
            </a:r>
            <a:r>
              <a:rPr lang="en-US" altLang="ko-KR" dirty="0">
                <a:solidFill>
                  <a:srgbClr val="000000"/>
                </a:solidFill>
              </a:rPr>
              <a:t>(Block Automation) </a:t>
            </a:r>
            <a:r>
              <a:rPr lang="ko-KR" altLang="en-US" dirty="0">
                <a:solidFill>
                  <a:srgbClr val="000000"/>
                </a:solidFill>
              </a:rPr>
              <a:t>활용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플랫폼 </a:t>
            </a:r>
            <a:r>
              <a:rPr lang="ko-KR" altLang="en-US" dirty="0" err="1">
                <a:solidFill>
                  <a:srgbClr val="000000"/>
                </a:solidFill>
              </a:rPr>
              <a:t>익스포트</a:t>
            </a:r>
            <a:r>
              <a:rPr lang="en-US" altLang="ko-KR" dirty="0">
                <a:solidFill>
                  <a:srgbClr val="000000"/>
                </a:solidFill>
              </a:rPr>
              <a:t>(XSA) </a:t>
            </a:r>
            <a:r>
              <a:rPr lang="ko-KR" altLang="en-US" dirty="0">
                <a:solidFill>
                  <a:srgbClr val="000000"/>
                </a:solidFill>
              </a:rPr>
              <a:t>이해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rgbClr val="000000"/>
                </a:solidFill>
              </a:rPr>
              <a:t>난이도</a:t>
            </a:r>
            <a:r>
              <a:rPr lang="en-US" altLang="ko-KR" dirty="0">
                <a:solidFill>
                  <a:srgbClr val="000000"/>
                </a:solidFill>
              </a:rPr>
              <a:t>: ★★☆☆☆ (</a:t>
            </a:r>
            <a:r>
              <a:rPr lang="ko-KR" altLang="en-US" dirty="0">
                <a:solidFill>
                  <a:srgbClr val="000000"/>
                </a:solidFill>
              </a:rPr>
              <a:t>입문</a:t>
            </a:r>
            <a:r>
              <a:rPr lang="en-US" altLang="ko-KR" dirty="0">
                <a:solidFill>
                  <a:srgbClr val="000000"/>
                </a:solidFill>
              </a:rPr>
              <a:t>) | </a:t>
            </a:r>
            <a:r>
              <a:rPr lang="ko-KR" altLang="en-US" b="1" dirty="0">
                <a:solidFill>
                  <a:srgbClr val="003366"/>
                </a:solidFill>
              </a:rPr>
              <a:t>소요 시간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약 </a:t>
            </a:r>
            <a:r>
              <a:rPr lang="en-US" altLang="ko-KR" dirty="0">
                <a:solidFill>
                  <a:srgbClr val="000000"/>
                </a:solidFill>
              </a:rPr>
              <a:t>3~4</a:t>
            </a:r>
            <a:r>
              <a:rPr lang="ko-KR" altLang="en-US" dirty="0">
                <a:solidFill>
                  <a:srgbClr val="000000"/>
                </a:solidFill>
              </a:rPr>
              <a:t>시간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0232A6F7-AEFA-EA61-5107-39EAB43B1A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41FC7CA-099C-B688-B1FD-5A8D22DE838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BDC68-1095-B36C-2EA9-6F2F7623E331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프로젝트 생성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459D0-A77A-EC52-429C-4735DE90DABA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7370BE-2861-40E6-F2E1-151CCF997A7B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51AF94-8464-0F6C-1CF3-31FD559D792D}"/>
              </a:ext>
            </a:extLst>
          </p:cNvPr>
          <p:cNvSpPr txBox="1"/>
          <p:nvPr/>
        </p:nvSpPr>
        <p:spPr>
          <a:xfrm>
            <a:off x="457200" y="6492240"/>
            <a:ext cx="3602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 err="1">
                <a:solidFill>
                  <a:srgbClr val="666666"/>
                </a:solidFill>
                <a:latin typeface="Calibri"/>
              </a:rPr>
              <a:t>vivado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IP Integrator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PS/PL 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인터페이스와 블록 자동화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745C2-A043-B7C1-623F-978BDF1B538C}"/>
              </a:ext>
            </a:extLst>
          </p:cNvPr>
          <p:cNvSpPr txBox="1"/>
          <p:nvPr/>
        </p:nvSpPr>
        <p:spPr>
          <a:xfrm>
            <a:off x="457200" y="1473663"/>
            <a:ext cx="11277295" cy="555797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sz="1800" b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lang="ko-KR" altLang="en-US" sz="1800" b="0" dirty="0">
                <a:solidFill>
                  <a:srgbClr val="000000"/>
                </a:solidFill>
                <a:latin typeface="Calibri"/>
              </a:rPr>
              <a:t>에서는 두 가지 유형의 프로젝트를 생성할 수 있다</a:t>
            </a:r>
            <a:r>
              <a:rPr lang="en-US" altLang="ko-KR" sz="1800" b="0" dirty="0">
                <a:solidFill>
                  <a:srgbClr val="000000"/>
                </a:solidFill>
                <a:latin typeface="Calibri"/>
              </a:rPr>
              <a:t>.</a:t>
            </a: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01D437-7773-BF15-3A96-CB59785CA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42548"/>
              </p:ext>
            </p:extLst>
          </p:nvPr>
        </p:nvGraphicFramePr>
        <p:xfrm>
          <a:off x="995251" y="2029460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237461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83500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1724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91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RTL Project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PL</a:t>
                      </a:r>
                      <a:r>
                        <a:rPr lang="ko-KR" altLang="en-US" sz="1600" dirty="0"/>
                        <a:t>만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FPGA Design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1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Embedded Project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PS + PL </a:t>
                      </a:r>
                      <a:r>
                        <a:rPr lang="ko-KR" altLang="en-US" sz="1600" dirty="0"/>
                        <a:t>설계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Zynq </a:t>
                      </a:r>
                      <a:r>
                        <a:rPr lang="ko-KR" altLang="en-US" sz="1600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71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D710911-E655-B115-6BF0-9A344E8EFAC4}"/>
              </a:ext>
            </a:extLst>
          </p:cNvPr>
          <p:cNvSpPr txBox="1"/>
          <p:nvPr/>
        </p:nvSpPr>
        <p:spPr>
          <a:xfrm>
            <a:off x="457200" y="3306756"/>
            <a:ext cx="11277295" cy="555797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altLang="ko-KR" sz="1800" b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lang="en-US" altLang="ko-KR"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800" b="0" dirty="0">
                <a:solidFill>
                  <a:srgbClr val="000000"/>
                </a:solidFill>
                <a:latin typeface="Calibri"/>
              </a:rPr>
              <a:t>프로젝트 생성</a:t>
            </a: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2D53A735-90E3-83FD-66B6-0AB64D7D0525}"/>
              </a:ext>
            </a:extLst>
          </p:cNvPr>
          <p:cNvSpPr/>
          <p:nvPr/>
        </p:nvSpPr>
        <p:spPr>
          <a:xfrm>
            <a:off x="457200" y="3808818"/>
            <a:ext cx="11277295" cy="81222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BE2CE8-DCE0-7990-C05E-677B22F4964E}"/>
              </a:ext>
            </a:extLst>
          </p:cNvPr>
          <p:cNvSpPr txBox="1"/>
          <p:nvPr/>
        </p:nvSpPr>
        <p:spPr>
          <a:xfrm>
            <a:off x="640080" y="3945979"/>
            <a:ext cx="10911535" cy="586984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&gt;&gt; source /tools/Xilinx/Vivado/2021.2/settings64.sh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vivado</a:t>
            </a:r>
            <a:r>
              <a:rPr lang="en-US" sz="1200" dirty="0">
                <a:solidFill>
                  <a:srgbClr val="D4D4D4"/>
                </a:solidFill>
                <a:latin typeface="Courier New"/>
              </a:rPr>
              <a:t> &amp;</a:t>
            </a:r>
            <a:endParaRPr sz="1200" b="0" dirty="0">
              <a:solidFill>
                <a:srgbClr val="D4D4D4"/>
              </a:solidFill>
              <a:latin typeface="Courier New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876898B6-4D33-C48D-3A8F-4FF762717CF5}"/>
              </a:ext>
            </a:extLst>
          </p:cNvPr>
          <p:cNvSpPr/>
          <p:nvPr/>
        </p:nvSpPr>
        <p:spPr>
          <a:xfrm>
            <a:off x="10682935" y="3881970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b="0" dirty="0">
                <a:solidFill>
                  <a:srgbClr val="888888"/>
                </a:solidFill>
                <a:latin typeface="Calibri"/>
              </a:rPr>
              <a:t>shell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84A919-0EBB-ACAC-2893-BECFADD1F007}"/>
              </a:ext>
            </a:extLst>
          </p:cNvPr>
          <p:cNvSpPr txBox="1"/>
          <p:nvPr/>
        </p:nvSpPr>
        <p:spPr>
          <a:xfrm>
            <a:off x="457200" y="4685056"/>
            <a:ext cx="11277295" cy="1048690"/>
          </a:xfrm>
          <a:prstGeom prst="rect">
            <a:avLst/>
          </a:prstGeom>
          <a:noFill/>
        </p:spPr>
        <p:txBody>
          <a:bodyPr wrap="square"/>
          <a:lstStyle/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Create Project </a:t>
            </a:r>
            <a:r>
              <a:rPr lang="en-US" altLang="ko-KR" sz="1600" b="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 RTL Project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프로젝트 이름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: kv260_ipi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보드 선택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: Kria KV260 Vision AI Starter Kit</a:t>
            </a:r>
            <a:endParaRPr sz="16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675D6E6B-30BB-97E6-2A6C-B5CA11B5EF64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58141FC-7D59-BAA5-3705-8854E2EF85D6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30035-FCE6-E9CF-7F9F-B22165CB2B6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Zynq 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UltraScale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+ 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MPSoC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56453-25D7-FE14-8E8A-49C74A90929D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3BC401D4-D38D-AAEF-2834-A94D9FBEF249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8A2FB-CAD3-E7CA-9327-F1FF2FC900A3}"/>
              </a:ext>
            </a:extLst>
          </p:cNvPr>
          <p:cNvSpPr txBox="1"/>
          <p:nvPr/>
        </p:nvSpPr>
        <p:spPr>
          <a:xfrm>
            <a:off x="457200" y="6492240"/>
            <a:ext cx="3602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 err="1">
                <a:solidFill>
                  <a:srgbClr val="666666"/>
                </a:solidFill>
                <a:latin typeface="Calibri"/>
              </a:rPr>
              <a:t>vivado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IP Integrator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PS/PL 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인터페이스와 블록 자동화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31CA88-0A67-13B9-39CA-F4B99A2A6F08}"/>
              </a:ext>
            </a:extLst>
          </p:cNvPr>
          <p:cNvSpPr/>
          <p:nvPr/>
        </p:nvSpPr>
        <p:spPr>
          <a:xfrm>
            <a:off x="2749641" y="1325880"/>
            <a:ext cx="5029198" cy="273096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Processing System (PS)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0F9611-B17D-8D0F-15AD-03B8B3638C29}"/>
              </a:ext>
            </a:extLst>
          </p:cNvPr>
          <p:cNvSpPr/>
          <p:nvPr/>
        </p:nvSpPr>
        <p:spPr>
          <a:xfrm>
            <a:off x="3153026" y="1937627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ARM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Cortex-A53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753963-2A0C-0ECE-937F-6CB1F04393FE}"/>
              </a:ext>
            </a:extLst>
          </p:cNvPr>
          <p:cNvSpPr/>
          <p:nvPr/>
        </p:nvSpPr>
        <p:spPr>
          <a:xfrm>
            <a:off x="4582580" y="1937627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ARM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Cortex-R5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490FBA-97B1-51F2-1365-6ED7948ED71A}"/>
              </a:ext>
            </a:extLst>
          </p:cNvPr>
          <p:cNvSpPr/>
          <p:nvPr/>
        </p:nvSpPr>
        <p:spPr>
          <a:xfrm>
            <a:off x="6066871" y="1944066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RPU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863943-0514-1CB1-D8B3-D55ED246E01B}"/>
              </a:ext>
            </a:extLst>
          </p:cNvPr>
          <p:cNvSpPr/>
          <p:nvPr/>
        </p:nvSpPr>
        <p:spPr>
          <a:xfrm>
            <a:off x="3153026" y="2803731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DDR4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Controller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121C48-7867-F819-38B1-52D12FD9603C}"/>
              </a:ext>
            </a:extLst>
          </p:cNvPr>
          <p:cNvSpPr/>
          <p:nvPr/>
        </p:nvSpPr>
        <p:spPr>
          <a:xfrm>
            <a:off x="4582580" y="2798902"/>
            <a:ext cx="2716522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GGUS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(GPU / VDMA)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5773FC-67ED-D867-DD8A-389EB42196A1}"/>
              </a:ext>
            </a:extLst>
          </p:cNvPr>
          <p:cNvSpPr/>
          <p:nvPr/>
        </p:nvSpPr>
        <p:spPr>
          <a:xfrm>
            <a:off x="2749641" y="3643254"/>
            <a:ext cx="5029198" cy="40811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 (PL)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47B291DB-74BC-2AB1-8238-98292AF0D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36204"/>
              </p:ext>
            </p:extLst>
          </p:nvPr>
        </p:nvGraphicFramePr>
        <p:xfrm>
          <a:off x="531893" y="4471807"/>
          <a:ext cx="6474495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165">
                  <a:extLst>
                    <a:ext uri="{9D8B030D-6E8A-4147-A177-3AD203B41FA5}">
                      <a16:colId xmlns:a16="http://schemas.microsoft.com/office/drawing/2014/main" val="1291236916"/>
                    </a:ext>
                  </a:extLst>
                </a:gridCol>
                <a:gridCol w="2158165">
                  <a:extLst>
                    <a:ext uri="{9D8B030D-6E8A-4147-A177-3AD203B41FA5}">
                      <a16:colId xmlns:a16="http://schemas.microsoft.com/office/drawing/2014/main" val="1889192746"/>
                    </a:ext>
                  </a:extLst>
                </a:gridCol>
                <a:gridCol w="2158165">
                  <a:extLst>
                    <a:ext uri="{9D8B030D-6E8A-4147-A177-3AD203B41FA5}">
                      <a16:colId xmlns:a16="http://schemas.microsoft.com/office/drawing/2014/main" val="1534510440"/>
                    </a:ext>
                  </a:extLst>
                </a:gridCol>
              </a:tblGrid>
              <a:tr h="2227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기본 주파수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용도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351164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100 MHz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035954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가능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선택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Additional 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025720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가능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선택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Additional 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747833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가능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선택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Additional 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02492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pl_resetn0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 Reset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9437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595D303-DDD4-1B95-5594-B582C885E2D5}"/>
              </a:ext>
            </a:extLst>
          </p:cNvPr>
          <p:cNvSpPr txBox="1"/>
          <p:nvPr/>
        </p:nvSpPr>
        <p:spPr>
          <a:xfrm>
            <a:off x="428223" y="4056845"/>
            <a:ext cx="6578165" cy="447684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PS</a:t>
            </a:r>
            <a:r>
              <a:rPr lang="ko-KR" altLang="en-US" sz="1600" b="0" dirty="0">
                <a:solidFill>
                  <a:srgbClr val="000000"/>
                </a:solidFill>
                <a:latin typeface="Calibri"/>
              </a:rPr>
              <a:t>는 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다음의 클럭을 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PL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에 공급한다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.</a:t>
            </a:r>
            <a:endParaRPr sz="16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2BE6EA-BD80-FD40-71FF-5929C783FDBA}"/>
              </a:ext>
            </a:extLst>
          </p:cNvPr>
          <p:cNvSpPr txBox="1"/>
          <p:nvPr/>
        </p:nvSpPr>
        <p:spPr>
          <a:xfrm>
            <a:off x="7482287" y="4438025"/>
            <a:ext cx="4281490" cy="1809668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KV260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의 기본 구성</a:t>
            </a:r>
            <a:endParaRPr lang="en-US" altLang="ko-KR" sz="1600" dirty="0">
              <a:solidFill>
                <a:srgbClr val="000000"/>
              </a:solidFill>
              <a:latin typeface="Calibri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DDR4: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2GB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(PS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용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QSPI: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 부트 플래시</a:t>
            </a:r>
            <a:endParaRPr lang="en-US" altLang="ko-KR" sz="1600" dirty="0">
              <a:solidFill>
                <a:srgbClr val="000000"/>
              </a:solidFill>
              <a:latin typeface="Calibri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Calibri"/>
              </a:rPr>
              <a:t>eMMC: </a:t>
            </a:r>
            <a:r>
              <a:rPr lang="ko-KR" altLang="en-US" sz="1600" b="0" dirty="0">
                <a:solidFill>
                  <a:srgbClr val="000000"/>
                </a:solidFill>
                <a:latin typeface="Calibri"/>
              </a:rPr>
              <a:t>추가 스토리지</a:t>
            </a: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(</a:t>
            </a:r>
            <a:r>
              <a:rPr lang="ko-KR" altLang="en-US" sz="1600" b="0" dirty="0">
                <a:solidFill>
                  <a:srgbClr val="000000"/>
                </a:solidFill>
                <a:latin typeface="Calibri"/>
              </a:rPr>
              <a:t>일부 모델</a:t>
            </a: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)</a:t>
            </a:r>
            <a:endParaRPr sz="16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E56ECE-186B-2205-AEEB-B35B1024408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EF434-E001-0A73-AACE-2DA4B231DBE7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D131D-0E2F-A02C-8A7E-7B8BF01ECB86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0D256-1E2B-4C51-6C93-C7693CD36777}"/>
              </a:ext>
            </a:extLst>
          </p:cNvPr>
          <p:cNvSpPr txBox="1"/>
          <p:nvPr/>
        </p:nvSpPr>
        <p:spPr>
          <a:xfrm>
            <a:off x="349624" y="1407170"/>
            <a:ext cx="69185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1: </a:t>
            </a:r>
            <a:r>
              <a:rPr lang="ko-KR" altLang="en-US" b="1" dirty="0">
                <a:solidFill>
                  <a:srgbClr val="00B050"/>
                </a:solidFill>
              </a:rPr>
              <a:t>프로젝트 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1.1 </a:t>
            </a:r>
            <a:r>
              <a:rPr lang="ko-KR" altLang="en-US" dirty="0"/>
              <a:t>새 프로젝트 생성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 err="1"/>
              <a:t>Vivado</a:t>
            </a:r>
            <a:r>
              <a:rPr lang="ko-KR" altLang="en-US" dirty="0"/>
              <a:t>가 실행되면 </a:t>
            </a:r>
            <a:r>
              <a:rPr lang="en-US" altLang="ko-KR" b="1" dirty="0">
                <a:solidFill>
                  <a:srgbClr val="0070C0"/>
                </a:solidFill>
              </a:rPr>
              <a:t>Create Project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Next</a:t>
            </a:r>
            <a:r>
              <a:rPr lang="en-US" altLang="ko-KR" dirty="0"/>
              <a:t>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프로젝트 이름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rgbClr val="0070C0"/>
                </a:solidFill>
              </a:rPr>
              <a:t>kv260_ipi</a:t>
            </a:r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프로젝트 위치</a:t>
            </a:r>
            <a:r>
              <a:rPr lang="en-US" altLang="ko-KR" dirty="0"/>
              <a:t>: </a:t>
            </a:r>
            <a:r>
              <a:rPr lang="ko-KR" altLang="en-US" dirty="0"/>
              <a:t>원하는 경로 선택 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Create project subdirectory: </a:t>
            </a:r>
            <a:r>
              <a:rPr lang="ko-KR" altLang="en-US" b="1" dirty="0">
                <a:solidFill>
                  <a:srgbClr val="0070C0"/>
                </a:solidFill>
              </a:rPr>
              <a:t>√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0070C0"/>
                </a:solidFill>
                <a:sym typeface="Wingdings" panose="05000000000000000000" pitchFamily="2" charset="2"/>
              </a:rPr>
              <a:t>Next</a:t>
            </a:r>
            <a:endParaRPr lang="ko-KR" altLang="en-US" b="1" dirty="0">
              <a:solidFill>
                <a:srgbClr val="0070C0"/>
              </a:solidFill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RTL Project</a:t>
            </a:r>
            <a:r>
              <a:rPr lang="en-US" altLang="ko-KR" dirty="0"/>
              <a:t> </a:t>
            </a:r>
            <a:r>
              <a:rPr lang="ko-KR" altLang="en-US" dirty="0"/>
              <a:t>선택 → </a:t>
            </a:r>
            <a:r>
              <a:rPr lang="en-US" altLang="ko-KR" b="1" dirty="0">
                <a:solidFill>
                  <a:srgbClr val="0070C0"/>
                </a:solidFill>
              </a:rPr>
              <a:t>Next</a:t>
            </a:r>
          </a:p>
          <a:p>
            <a:pPr marL="342900" indent="-342900">
              <a:buAutoNum type="alphaUcPeriod"/>
            </a:pPr>
            <a:endParaRPr lang="en-US" altLang="ko-KR" dirty="0"/>
          </a:p>
          <a:p>
            <a:pPr lvl="1"/>
            <a:r>
              <a:rPr lang="en-US" altLang="ko-KR" dirty="0"/>
              <a:t>1.2 </a:t>
            </a:r>
            <a:r>
              <a:rPr lang="ko-KR" altLang="en-US" dirty="0"/>
              <a:t>보드 선택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Boards</a:t>
            </a:r>
            <a:r>
              <a:rPr lang="en-US" altLang="ko-KR" dirty="0"/>
              <a:t> </a:t>
            </a:r>
            <a:r>
              <a:rPr lang="ko-KR" altLang="en-US" dirty="0"/>
              <a:t>탭 선택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ko-KR" altLang="en-US" dirty="0"/>
              <a:t>검색창에 </a:t>
            </a:r>
            <a:r>
              <a:rPr lang="en-US" altLang="ko-KR" dirty="0"/>
              <a:t>`</a:t>
            </a:r>
            <a:r>
              <a:rPr lang="en-US" altLang="ko-KR" b="1" dirty="0">
                <a:solidFill>
                  <a:srgbClr val="0070C0"/>
                </a:solidFill>
              </a:rPr>
              <a:t>Kria KV260</a:t>
            </a:r>
            <a:r>
              <a:rPr lang="en-US" altLang="ko-KR" dirty="0"/>
              <a:t>`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Kria KV260 Vision AI Starter Kit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Next</a:t>
            </a:r>
            <a:r>
              <a:rPr lang="en-US" altLang="ko-KR" dirty="0"/>
              <a:t> → </a:t>
            </a:r>
            <a:r>
              <a:rPr lang="en-US" altLang="ko-KR" b="1" dirty="0">
                <a:solidFill>
                  <a:srgbClr val="0070C0"/>
                </a:solidFill>
              </a:rPr>
              <a:t>Finish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380E0-3AE5-5CC3-AFD1-20CA148356C1}"/>
              </a:ext>
            </a:extLst>
          </p:cNvPr>
          <p:cNvSpPr txBox="1"/>
          <p:nvPr/>
        </p:nvSpPr>
        <p:spPr>
          <a:xfrm>
            <a:off x="5871318" y="1409122"/>
            <a:ext cx="60359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2: Block Design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2.1 Block Diagram </a:t>
            </a:r>
            <a:r>
              <a:rPr lang="ko-KR" altLang="en-US" dirty="0"/>
              <a:t>열기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왼쪽 </a:t>
            </a:r>
            <a:r>
              <a:rPr lang="en-US" altLang="ko-KR" b="1" dirty="0">
                <a:solidFill>
                  <a:srgbClr val="0070C0"/>
                </a:solidFill>
              </a:rPr>
              <a:t>IP Integrator </a:t>
            </a:r>
            <a:r>
              <a:rPr lang="en-US" altLang="ko-KR" dirty="0"/>
              <a:t>→ </a:t>
            </a:r>
            <a:r>
              <a:rPr lang="en-US" altLang="ko-KR" b="1" dirty="0">
                <a:solidFill>
                  <a:srgbClr val="0070C0"/>
                </a:solidFill>
              </a:rPr>
              <a:t>Create Block Diagram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이름</a:t>
            </a:r>
            <a:r>
              <a:rPr lang="en-US" altLang="ko-KR" dirty="0"/>
              <a:t>: design_1 → </a:t>
            </a:r>
            <a:r>
              <a:rPr lang="en-US" altLang="ko-KR" b="1" dirty="0">
                <a:solidFill>
                  <a:srgbClr val="0070C0"/>
                </a:solidFill>
              </a:rPr>
              <a:t>OK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51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D9DAD3F-7090-65E9-4D33-BA5846A4D51D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232DAD1-1B90-6904-1206-A5E3E46CF89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06A2E-3B78-151C-EEA8-01842CE03CBD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BF8E0-12A8-F28D-3759-DF94C844AC9D}"/>
              </a:ext>
            </a:extLst>
          </p:cNvPr>
          <p:cNvSpPr txBox="1"/>
          <p:nvPr/>
        </p:nvSpPr>
        <p:spPr>
          <a:xfrm>
            <a:off x="1203512" y="1310650"/>
            <a:ext cx="6665607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3: Zynq </a:t>
            </a:r>
            <a:r>
              <a:rPr lang="en-US" altLang="ko-KR" b="1" dirty="0" err="1">
                <a:solidFill>
                  <a:srgbClr val="00B050"/>
                </a:solidFill>
              </a:rPr>
              <a:t>UltraScale</a:t>
            </a:r>
            <a:r>
              <a:rPr lang="en-US" altLang="ko-KR" b="1" dirty="0">
                <a:solidFill>
                  <a:srgbClr val="00B050"/>
                </a:solidFill>
              </a:rPr>
              <a:t>+ </a:t>
            </a:r>
            <a:r>
              <a:rPr lang="en-US" altLang="ko-KR" b="1" dirty="0" err="1">
                <a:solidFill>
                  <a:srgbClr val="00B050"/>
                </a:solidFill>
              </a:rPr>
              <a:t>MPSoC</a:t>
            </a:r>
            <a:r>
              <a:rPr lang="en-US" altLang="ko-KR" b="1" dirty="0">
                <a:solidFill>
                  <a:srgbClr val="00B050"/>
                </a:solidFill>
              </a:rPr>
              <a:t> </a:t>
            </a:r>
            <a:r>
              <a:rPr lang="ko-KR" altLang="en-US" b="1" dirty="0">
                <a:solidFill>
                  <a:srgbClr val="00B050"/>
                </a:solidFill>
              </a:rPr>
              <a:t>추가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3.1 PS IP </a:t>
            </a:r>
            <a:r>
              <a:rPr lang="ko-KR" altLang="en-US" dirty="0"/>
              <a:t>추가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Block Diagram </a:t>
            </a:r>
            <a:r>
              <a:rPr lang="ko-KR" altLang="en-US" dirty="0"/>
              <a:t>창에서 </a:t>
            </a:r>
            <a:r>
              <a:rPr lang="en-US" altLang="ko-KR" dirty="0"/>
              <a:t>Add IP </a:t>
            </a:r>
            <a:r>
              <a:rPr lang="ko-KR" altLang="en-US" dirty="0"/>
              <a:t>버튼 </a:t>
            </a:r>
            <a:r>
              <a:rPr lang="en-US" altLang="ko-KR" dirty="0"/>
              <a:t>(+)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검색창에 </a:t>
            </a:r>
            <a:r>
              <a:rPr lang="en-US" altLang="ko-KR" dirty="0"/>
              <a:t>Zynq </a:t>
            </a:r>
            <a:r>
              <a:rPr lang="en-US" altLang="ko-KR" dirty="0" err="1"/>
              <a:t>UltraScale</a:t>
            </a:r>
            <a:r>
              <a:rPr lang="en-US" altLang="ko-KR" dirty="0"/>
              <a:t>+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Zynq </a:t>
            </a:r>
            <a:r>
              <a:rPr lang="en-US" altLang="ko-KR" b="1" dirty="0" err="1">
                <a:solidFill>
                  <a:srgbClr val="0070C0"/>
                </a:solidFill>
              </a:rPr>
              <a:t>UltraScale</a:t>
            </a:r>
            <a:r>
              <a:rPr lang="en-US" altLang="ko-KR" b="1" dirty="0">
                <a:solidFill>
                  <a:srgbClr val="0070C0"/>
                </a:solidFill>
              </a:rPr>
              <a:t>+ </a:t>
            </a:r>
            <a:r>
              <a:rPr lang="en-US" altLang="ko-KR" b="1" dirty="0" err="1">
                <a:solidFill>
                  <a:srgbClr val="0070C0"/>
                </a:solidFill>
              </a:rPr>
              <a:t>MPSoC</a:t>
            </a:r>
            <a:r>
              <a:rPr lang="en-US" altLang="ko-KR" dirty="0"/>
              <a:t> </a:t>
            </a:r>
            <a:r>
              <a:rPr lang="ko-KR" altLang="en-US" dirty="0"/>
              <a:t>더블 클릭하여 추가</a:t>
            </a:r>
            <a:endParaRPr lang="en-US" altLang="ko-KR" dirty="0"/>
          </a:p>
          <a:p>
            <a:pPr marL="1257300" lvl="2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3.2 Block Automation </a:t>
            </a:r>
            <a:r>
              <a:rPr lang="ko-KR" altLang="en-US" dirty="0"/>
              <a:t>실행 </a:t>
            </a:r>
            <a:r>
              <a:rPr lang="en-US" altLang="ko-KR" dirty="0"/>
              <a:t>(</a:t>
            </a:r>
            <a:r>
              <a:rPr lang="ko-KR" altLang="en-US" dirty="0"/>
              <a:t>중요</a:t>
            </a:r>
            <a:r>
              <a:rPr lang="en-US" altLang="ko-KR" dirty="0"/>
              <a:t>!)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IP </a:t>
            </a:r>
            <a:r>
              <a:rPr lang="ko-KR" altLang="en-US" dirty="0"/>
              <a:t>추가 후 </a:t>
            </a:r>
            <a:r>
              <a:rPr lang="en-US" altLang="ko-KR" dirty="0"/>
              <a:t>Run Block Automation </a:t>
            </a:r>
            <a:r>
              <a:rPr lang="ko-KR" altLang="en-US" dirty="0"/>
              <a:t>링크가 나타남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Run Block Automation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Options: Apply Board Preset </a:t>
            </a:r>
            <a:r>
              <a:rPr lang="ko-KR" altLang="en-US" dirty="0"/>
              <a:t>체크 </a:t>
            </a:r>
            <a:r>
              <a:rPr lang="en-US" altLang="ko-KR" dirty="0">
                <a:sym typeface="Wingdings" panose="05000000000000000000" pitchFamily="2" charset="2"/>
              </a:rPr>
              <a:t> OK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설정 확인</a:t>
            </a:r>
            <a:r>
              <a:rPr lang="en-US" altLang="ko-KR" dirty="0"/>
              <a:t>:  </a:t>
            </a:r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en-US" altLang="ko-KR" dirty="0"/>
              <a:t>Master Interface: M_AXI_HPM0_FPD   </a:t>
            </a:r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en-US" altLang="ko-KR" dirty="0"/>
              <a:t>Clock: pl_clk0 (100MHz)   </a:t>
            </a:r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en-US" altLang="ko-KR" dirty="0"/>
              <a:t>Reset: pl_resetn0</a:t>
            </a:r>
          </a:p>
          <a:p>
            <a:pPr lvl="2"/>
            <a:r>
              <a:rPr lang="en-US" altLang="ko-KR" dirty="0"/>
              <a:t>4. OK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en-US" altLang="ko-KR" dirty="0"/>
              <a:t>⚠️ Block Automation</a:t>
            </a:r>
            <a:r>
              <a:rPr lang="ko-KR" altLang="en-US" dirty="0"/>
              <a:t>이 자동으로 연결해 줍니다</a:t>
            </a:r>
            <a:r>
              <a:rPr lang="en-US" altLang="ko-KR" dirty="0"/>
              <a:t>:</a:t>
            </a:r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en-US" altLang="ko-KR" dirty="0"/>
              <a:t>AXI </a:t>
            </a:r>
            <a:r>
              <a:rPr lang="ko-KR" altLang="en-US" dirty="0"/>
              <a:t>버스 연결</a:t>
            </a:r>
            <a:endParaRPr lang="en-US" altLang="ko-KR" dirty="0"/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ko-KR" altLang="en-US" dirty="0"/>
              <a:t>클럭 </a:t>
            </a:r>
            <a:r>
              <a:rPr lang="en-US" altLang="ko-KR" dirty="0"/>
              <a:t>(pl_clk0) </a:t>
            </a:r>
            <a:r>
              <a:rPr lang="ko-KR" altLang="en-US" dirty="0"/>
              <a:t>연결</a:t>
            </a:r>
            <a:endParaRPr lang="en-US" altLang="ko-KR" dirty="0"/>
          </a:p>
          <a:p>
            <a:pPr marL="1657350" lvl="3" indent="-285750">
              <a:buFont typeface="Calibri" panose="020F0502020204030204" pitchFamily="34" charset="0"/>
              <a:buChar char="−"/>
            </a:pPr>
            <a:r>
              <a:rPr lang="ko-KR" altLang="en-US" dirty="0"/>
              <a:t>리셋 </a:t>
            </a:r>
            <a:r>
              <a:rPr lang="en-US" altLang="ko-KR" dirty="0"/>
              <a:t>(pl_resetn0) </a:t>
            </a:r>
            <a:r>
              <a:rPr lang="ko-KR" altLang="en-US" dirty="0"/>
              <a:t>연결</a:t>
            </a:r>
          </a:p>
        </p:txBody>
      </p:sp>
    </p:spTree>
    <p:extLst>
      <p:ext uri="{BB962C8B-B14F-4D97-AF65-F5344CB8AC3E}">
        <p14:creationId xmlns:p14="http://schemas.microsoft.com/office/powerpoint/2010/main" val="369185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0F47E3A-BDC1-4CCE-82CB-8149B3AE235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D01799-2042-EE80-3466-75B0F359D432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9CD48-3468-CF5B-05F2-512AABB11F71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62BD9-3A40-092A-CE51-41BEE2BB0B7B}"/>
              </a:ext>
            </a:extLst>
          </p:cNvPr>
          <p:cNvSpPr txBox="1"/>
          <p:nvPr/>
        </p:nvSpPr>
        <p:spPr>
          <a:xfrm>
            <a:off x="457200" y="1230460"/>
            <a:ext cx="443685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4: Clocking Wizard </a:t>
            </a:r>
            <a:r>
              <a:rPr lang="ko-KR" altLang="en-US" b="1" dirty="0">
                <a:solidFill>
                  <a:srgbClr val="00B050"/>
                </a:solidFill>
              </a:rPr>
              <a:t>추가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4.1 IP </a:t>
            </a:r>
            <a:r>
              <a:rPr lang="ko-KR" altLang="en-US" dirty="0"/>
              <a:t>추가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Add IP (+)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검색창에 </a:t>
            </a:r>
            <a:r>
              <a:rPr lang="en-US" altLang="ko-KR" b="1" dirty="0">
                <a:solidFill>
                  <a:srgbClr val="0070C0"/>
                </a:solidFill>
              </a:rPr>
              <a:t>Clocking Wizard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Clocking Wizard </a:t>
            </a:r>
            <a:r>
              <a:rPr lang="ko-KR" altLang="en-US" dirty="0"/>
              <a:t>더블 클릭</a:t>
            </a:r>
            <a:endParaRPr lang="en-US" altLang="ko-KR" dirty="0"/>
          </a:p>
          <a:p>
            <a:pPr marL="1257300" lvl="2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4.2 </a:t>
            </a:r>
            <a:r>
              <a:rPr lang="ko-KR" altLang="en-US" dirty="0"/>
              <a:t>클럭 주파수 설정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추가된 </a:t>
            </a:r>
            <a:r>
              <a:rPr lang="en-US" altLang="ko-KR" dirty="0" err="1"/>
              <a:t>clk_wiz</a:t>
            </a:r>
            <a:r>
              <a:rPr lang="en-US" altLang="ko-KR" dirty="0"/>
              <a:t> </a:t>
            </a:r>
            <a:r>
              <a:rPr lang="ko-KR" altLang="en-US" dirty="0"/>
              <a:t>블록 더블 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Output Clocks </a:t>
            </a:r>
            <a:r>
              <a:rPr lang="ko-KR" altLang="en-US" dirty="0"/>
              <a:t>탭 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다음과 같이 설정</a:t>
            </a:r>
            <a:r>
              <a:rPr lang="en-US" altLang="ko-KR" dirty="0"/>
              <a:t>: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679531E-D0ED-E9BC-6B8D-461D9D7CB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493190"/>
              </p:ext>
            </p:extLst>
          </p:nvPr>
        </p:nvGraphicFramePr>
        <p:xfrm>
          <a:off x="880783" y="4222964"/>
          <a:ext cx="452344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814">
                  <a:extLst>
                    <a:ext uri="{9D8B030D-6E8A-4147-A177-3AD203B41FA5}">
                      <a16:colId xmlns:a16="http://schemas.microsoft.com/office/drawing/2014/main" val="3807756138"/>
                    </a:ext>
                  </a:extLst>
                </a:gridCol>
                <a:gridCol w="1507814">
                  <a:extLst>
                    <a:ext uri="{9D8B030D-6E8A-4147-A177-3AD203B41FA5}">
                      <a16:colId xmlns:a16="http://schemas.microsoft.com/office/drawing/2014/main" val="1977304835"/>
                    </a:ext>
                  </a:extLst>
                </a:gridCol>
                <a:gridCol w="1507814">
                  <a:extLst>
                    <a:ext uri="{9D8B030D-6E8A-4147-A177-3AD203B41FA5}">
                      <a16:colId xmlns:a16="http://schemas.microsoft.com/office/drawing/2014/main" val="3074401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출력 주파수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53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Clk_out1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860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Clk_out2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27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Clk_out3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52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Clk_out4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50MHz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1611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72F3FF-802D-C247-0B5E-53C288CEBC19}"/>
              </a:ext>
            </a:extLst>
          </p:cNvPr>
          <p:cNvSpPr txBox="1"/>
          <p:nvPr/>
        </p:nvSpPr>
        <p:spPr>
          <a:xfrm>
            <a:off x="5721723" y="4414398"/>
            <a:ext cx="50337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57300" lvl="2" indent="-342900">
              <a:buFont typeface="+mj-lt"/>
              <a:buAutoNum type="arabicPeriod" startAt="4"/>
            </a:pPr>
            <a:r>
              <a:rPr lang="en-US" altLang="ko-KR" dirty="0"/>
              <a:t>OK </a:t>
            </a:r>
            <a:r>
              <a:rPr lang="ko-KR" altLang="en-US" dirty="0"/>
              <a:t>클릭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4.3 </a:t>
            </a:r>
            <a:r>
              <a:rPr lang="ko-KR" altLang="en-US" dirty="0"/>
              <a:t>클럭 연결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Run Connection Automation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 err="1"/>
              <a:t>clk_wiz</a:t>
            </a:r>
            <a:r>
              <a:rPr lang="ko-KR" altLang="en-US" dirty="0"/>
              <a:t>의 </a:t>
            </a:r>
            <a:r>
              <a:rPr lang="en-US" altLang="ko-KR" dirty="0"/>
              <a:t>clk_in1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PS</a:t>
            </a:r>
            <a:r>
              <a:rPr lang="ko-KR" altLang="en-US" dirty="0"/>
              <a:t>의 </a:t>
            </a:r>
            <a:r>
              <a:rPr lang="en-US" altLang="ko-KR" dirty="0"/>
              <a:t>pl_clk0</a:t>
            </a:r>
            <a:r>
              <a:rPr lang="ko-KR" altLang="en-US" dirty="0"/>
              <a:t>에서 클럭이 자동 연결됨</a:t>
            </a:r>
          </a:p>
        </p:txBody>
      </p:sp>
    </p:spTree>
    <p:extLst>
      <p:ext uri="{BB962C8B-B14F-4D97-AF65-F5344CB8AC3E}">
        <p14:creationId xmlns:p14="http://schemas.microsoft.com/office/powerpoint/2010/main" val="4264492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46BF01D-94A0-96ED-A373-D4503112C4F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884AAF5-CEB3-8911-2BEE-EEEA12AF2809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8AD3B-7E32-0B8C-2969-496690753E7B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55B2D-B5FB-1669-5541-38321537954F}"/>
              </a:ext>
            </a:extLst>
          </p:cNvPr>
          <p:cNvSpPr txBox="1"/>
          <p:nvPr/>
        </p:nvSpPr>
        <p:spPr>
          <a:xfrm>
            <a:off x="168089" y="1407170"/>
            <a:ext cx="543187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5: Processor System Reset </a:t>
            </a:r>
            <a:r>
              <a:rPr lang="ko-KR" altLang="en-US" b="1" dirty="0">
                <a:solidFill>
                  <a:srgbClr val="00B050"/>
                </a:solidFill>
              </a:rPr>
              <a:t>추가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5.1 IP </a:t>
            </a:r>
            <a:r>
              <a:rPr lang="ko-KR" altLang="en-US" dirty="0"/>
              <a:t>추가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Add IP (+)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검색창에 </a:t>
            </a:r>
            <a:r>
              <a:rPr lang="en-US" altLang="ko-KR" dirty="0"/>
              <a:t>Processor System Reset </a:t>
            </a:r>
            <a:r>
              <a:rPr lang="ko-KR" altLang="en-US" dirty="0"/>
              <a:t>입력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Processor System Reset </a:t>
            </a:r>
            <a:r>
              <a:rPr lang="ko-KR" altLang="en-US" dirty="0"/>
              <a:t>더블 클릭</a:t>
            </a:r>
            <a:endParaRPr lang="en-US" altLang="ko-KR" dirty="0"/>
          </a:p>
          <a:p>
            <a:pPr marL="1257300" lvl="2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5.2 </a:t>
            </a:r>
            <a:r>
              <a:rPr lang="ko-KR" altLang="en-US" dirty="0"/>
              <a:t>연결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Run Connection Automation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proc_sys_reset_0</a:t>
            </a:r>
            <a:r>
              <a:rPr lang="ko-KR" altLang="en-US" dirty="0"/>
              <a:t>의 모든 신호 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PS</a:t>
            </a:r>
            <a:r>
              <a:rPr lang="ko-KR" altLang="en-US" dirty="0"/>
              <a:t>의 </a:t>
            </a:r>
            <a:r>
              <a:rPr lang="en-US" altLang="ko-KR" dirty="0"/>
              <a:t>pl_resetn0</a:t>
            </a:r>
            <a:r>
              <a:rPr lang="ko-KR" altLang="en-US" dirty="0"/>
              <a:t>에서 리셋이 자동 연결됨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15848-A4E5-97AE-D17F-0B71D2BC8DE7}"/>
              </a:ext>
            </a:extLst>
          </p:cNvPr>
          <p:cNvSpPr txBox="1"/>
          <p:nvPr/>
        </p:nvSpPr>
        <p:spPr>
          <a:xfrm>
            <a:off x="5856582" y="1407170"/>
            <a:ext cx="616732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6: Block Design </a:t>
            </a:r>
            <a:r>
              <a:rPr lang="ko-KR" altLang="en-US" b="1" dirty="0">
                <a:solidFill>
                  <a:srgbClr val="00B050"/>
                </a:solidFill>
              </a:rPr>
              <a:t>검증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6.1 </a:t>
            </a:r>
            <a:r>
              <a:rPr lang="ko-KR" altLang="en-US" dirty="0"/>
              <a:t>검증 실행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Block Diagram </a:t>
            </a:r>
            <a:r>
              <a:rPr lang="ko-KR" altLang="en-US" dirty="0"/>
              <a:t>창 상단 </a:t>
            </a:r>
            <a:r>
              <a:rPr lang="en-US" altLang="ko-KR" dirty="0"/>
              <a:t>Validate Design </a:t>
            </a:r>
            <a:r>
              <a:rPr lang="ko-KR" altLang="en-US" dirty="0"/>
              <a:t>버튼 클릭 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오류가 있으면 수정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성공 메시지 확인</a:t>
            </a:r>
            <a:endParaRPr lang="en-US" altLang="ko-KR" dirty="0"/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6.2 Designer Overview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PS </a:t>
            </a:r>
            <a:r>
              <a:rPr lang="ko-KR" altLang="en-US" dirty="0"/>
              <a:t>블록 더블 클릭 → 설정 확인 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DDR4 </a:t>
            </a:r>
            <a:r>
              <a:rPr lang="ko-KR" altLang="en-US" dirty="0"/>
              <a:t>구성  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ko-KR" altLang="en-US" dirty="0"/>
              <a:t>클럭 설정  </a:t>
            </a:r>
            <a:endParaRPr lang="en-US" altLang="ko-KR" dirty="0"/>
          </a:p>
          <a:p>
            <a:pPr marL="1200150" lvl="2" indent="-285750">
              <a:buFontTx/>
              <a:buChar char="-"/>
            </a:pPr>
            <a:r>
              <a:rPr lang="ko-KR" altLang="en-US" dirty="0"/>
              <a:t>인터럽트 설정</a:t>
            </a:r>
          </a:p>
        </p:txBody>
      </p:sp>
    </p:spTree>
    <p:extLst>
      <p:ext uri="{BB962C8B-B14F-4D97-AF65-F5344CB8AC3E}">
        <p14:creationId xmlns:p14="http://schemas.microsoft.com/office/powerpoint/2010/main" val="87216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F1BF314-2AEA-B263-5A87-AE64B726F87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9CA0228-3A2B-9528-403D-4AE2D059399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6F49B-2BCC-95A0-C9DC-A13B3D18C8C8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46DAC8-5253-05DE-9508-B1F72C990B77}"/>
              </a:ext>
            </a:extLst>
          </p:cNvPr>
          <p:cNvSpPr txBox="1"/>
          <p:nvPr/>
        </p:nvSpPr>
        <p:spPr>
          <a:xfrm>
            <a:off x="673846" y="1242786"/>
            <a:ext cx="424789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7: HDL Wrapper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7.1 Wrapper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Sources </a:t>
            </a:r>
            <a:r>
              <a:rPr lang="ko-KR" altLang="en-US" dirty="0"/>
              <a:t>창 → </a:t>
            </a:r>
            <a:r>
              <a:rPr lang="en-US" altLang="ko-KR" dirty="0"/>
              <a:t>Design Sources</a:t>
            </a:r>
            <a:r>
              <a:rPr lang="ko-KR" altLang="en-US" dirty="0"/>
              <a:t> 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design_1.bd </a:t>
            </a:r>
            <a:r>
              <a:rPr lang="ko-KR" altLang="en-US" dirty="0" err="1"/>
              <a:t>우클릭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Create HDL Wrapper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257300" lvl="2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7.2 </a:t>
            </a:r>
            <a:r>
              <a:rPr lang="ko-KR" altLang="en-US" dirty="0"/>
              <a:t>모드 선택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52AF74F-48C9-7B82-8D99-17DAE13F8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044722"/>
              </p:ext>
            </p:extLst>
          </p:nvPr>
        </p:nvGraphicFramePr>
        <p:xfrm>
          <a:off x="1426880" y="3314588"/>
          <a:ext cx="68027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360">
                  <a:extLst>
                    <a:ext uri="{9D8B030D-6E8A-4147-A177-3AD203B41FA5}">
                      <a16:colId xmlns:a16="http://schemas.microsoft.com/office/drawing/2014/main" val="4264287107"/>
                    </a:ext>
                  </a:extLst>
                </a:gridCol>
                <a:gridCol w="3401360">
                  <a:extLst>
                    <a:ext uri="{9D8B030D-6E8A-4147-A177-3AD203B41FA5}">
                      <a16:colId xmlns:a16="http://schemas.microsoft.com/office/drawing/2014/main" val="1552512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61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Vivado</a:t>
                      </a:r>
                      <a:r>
                        <a:rPr lang="en-US" altLang="ko-KR" dirty="0"/>
                        <a:t> Managed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BD </a:t>
                      </a:r>
                      <a:r>
                        <a:rPr lang="ko-KR" altLang="en-US" dirty="0"/>
                        <a:t>변경 시 자동 재생성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권장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305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User Managed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사용자가 직접 편집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2234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8F94368-1134-EFF4-19B4-3F7CCF8096D5}"/>
              </a:ext>
            </a:extLst>
          </p:cNvPr>
          <p:cNvSpPr txBox="1"/>
          <p:nvPr/>
        </p:nvSpPr>
        <p:spPr>
          <a:xfrm>
            <a:off x="1494117" y="4501203"/>
            <a:ext cx="2862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Vivado</a:t>
            </a:r>
            <a:r>
              <a:rPr lang="en-US" altLang="ko-KR" dirty="0"/>
              <a:t> Managed </a:t>
            </a:r>
            <a:r>
              <a:rPr lang="ko-KR" altLang="en-US" dirty="0"/>
              <a:t>선택 → </a:t>
            </a:r>
            <a:r>
              <a:rPr lang="en-US" altLang="ko-KR" b="1" dirty="0">
                <a:solidFill>
                  <a:srgbClr val="0070C0"/>
                </a:solidFill>
              </a:rPr>
              <a:t>OK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8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10DDB05-CD0D-BF29-4CDE-E0D2BB23B39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098D33-2E26-EABB-D375-B5CA6D498185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5D1B2-214A-E37C-AB91-179E90C75DB1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62AFE-7CBA-BD3B-8D31-28260CDBF9EF}"/>
              </a:ext>
            </a:extLst>
          </p:cNvPr>
          <p:cNvSpPr txBox="1"/>
          <p:nvPr/>
        </p:nvSpPr>
        <p:spPr>
          <a:xfrm>
            <a:off x="571500" y="1546412"/>
            <a:ext cx="66808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8: Synthesis </a:t>
            </a:r>
            <a:r>
              <a:rPr lang="ko-KR" altLang="en-US" b="1" dirty="0">
                <a:solidFill>
                  <a:srgbClr val="00B050"/>
                </a:solidFill>
              </a:rPr>
              <a:t>및 </a:t>
            </a:r>
            <a:r>
              <a:rPr lang="en-US" altLang="ko-KR" b="1" dirty="0">
                <a:solidFill>
                  <a:srgbClr val="00B050"/>
                </a:solidFill>
              </a:rPr>
              <a:t>Implementation</a:t>
            </a:r>
          </a:p>
          <a:p>
            <a:pPr lvl="1"/>
            <a:r>
              <a:rPr lang="en-US" altLang="ko-KR" dirty="0"/>
              <a:t>8.1 Run Synthesis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왼쪽 </a:t>
            </a:r>
            <a:r>
              <a:rPr lang="en-US" altLang="ko-KR" dirty="0"/>
              <a:t>Flow Navigator → Synthesis → Run Synthesis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완료 후 </a:t>
            </a:r>
            <a:r>
              <a:rPr lang="en-US" altLang="ko-KR" dirty="0"/>
              <a:t>Open Synthesized Design </a:t>
            </a:r>
            <a:r>
              <a:rPr lang="ko-KR" altLang="en-US" dirty="0"/>
              <a:t>선택</a:t>
            </a:r>
            <a:endParaRPr lang="en-US" altLang="ko-KR" dirty="0"/>
          </a:p>
          <a:p>
            <a:pPr marL="1257300" lvl="2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8.2 Run Implementation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Implementation → Run Implementation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완료 후 </a:t>
            </a:r>
            <a:r>
              <a:rPr lang="en-US" altLang="ko-KR" dirty="0"/>
              <a:t>Open Implemented Design </a:t>
            </a:r>
            <a:r>
              <a:rPr lang="ko-KR" altLang="en-US" dirty="0"/>
              <a:t>선택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9DD04-779D-BE52-6E36-3701BE4045A0}"/>
              </a:ext>
            </a:extLst>
          </p:cNvPr>
          <p:cNvSpPr txBox="1"/>
          <p:nvPr/>
        </p:nvSpPr>
        <p:spPr>
          <a:xfrm>
            <a:off x="638735" y="4444253"/>
            <a:ext cx="59817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9: Bitstream </a:t>
            </a:r>
            <a:r>
              <a:rPr lang="ko-KR" altLang="en-US" b="1" dirty="0">
                <a:solidFill>
                  <a:srgbClr val="00B050"/>
                </a:solidFill>
              </a:rPr>
              <a:t>생성</a:t>
            </a:r>
            <a:endParaRPr lang="en-US" altLang="ko-KR" b="1" dirty="0">
              <a:solidFill>
                <a:srgbClr val="00B050"/>
              </a:solidFill>
            </a:endParaRPr>
          </a:p>
          <a:p>
            <a:pPr lvl="1"/>
            <a:r>
              <a:rPr lang="en-US" altLang="ko-KR" dirty="0"/>
              <a:t>9.1 Bitstream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Program and Debug → Generate Bitstream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확인 메시지 → </a:t>
            </a:r>
            <a:r>
              <a:rPr lang="en-US" altLang="ko-KR" dirty="0"/>
              <a:t>Yes</a:t>
            </a:r>
          </a:p>
          <a:p>
            <a:pPr marL="1257300" lvl="2" indent="-342900">
              <a:buAutoNum type="arabicPeriod"/>
            </a:pPr>
            <a:r>
              <a:rPr lang="ko-KR" altLang="en-US" dirty="0"/>
              <a:t>생성 완료 후 </a:t>
            </a:r>
            <a:r>
              <a:rPr lang="en-US" altLang="ko-KR" dirty="0"/>
              <a:t>OK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507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632A9D4-9F5D-3828-8556-50B4DE6E5E0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3772A4-B89D-DE03-506F-46E05F06A19A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38187-1DE9-2203-9E78-322D7883E689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GUI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20296-1C24-BABC-FDB0-9D7759E8FB2B}"/>
              </a:ext>
            </a:extLst>
          </p:cNvPr>
          <p:cNvSpPr txBox="1"/>
          <p:nvPr/>
        </p:nvSpPr>
        <p:spPr>
          <a:xfrm>
            <a:off x="820270" y="1310650"/>
            <a:ext cx="605819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Step 10: Hardware Export (XSA)</a:t>
            </a:r>
          </a:p>
          <a:p>
            <a:pPr lvl="1"/>
            <a:r>
              <a:rPr lang="en-US" altLang="ko-KR" dirty="0"/>
              <a:t>10.1 Export Hardware</a:t>
            </a:r>
          </a:p>
          <a:p>
            <a:pPr marL="1257300" lvl="2" indent="-342900">
              <a:buAutoNum type="arabicPeriod"/>
            </a:pPr>
            <a:r>
              <a:rPr lang="en-US" altLang="ko-KR" dirty="0"/>
              <a:t>File → Export → Export Hardware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Include bitstream </a:t>
            </a:r>
            <a:r>
              <a:rPr lang="ko-KR" altLang="en-US" dirty="0"/>
              <a:t>체크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en-US" altLang="ko-KR" dirty="0"/>
              <a:t>Next → </a:t>
            </a:r>
            <a:r>
              <a:rPr lang="ko-KR" altLang="en-US" dirty="0"/>
              <a:t>출력 위치 선택</a:t>
            </a:r>
            <a:endParaRPr lang="en-US" altLang="ko-KR" dirty="0"/>
          </a:p>
          <a:p>
            <a:pPr marL="1257300" lvl="2" indent="-342900">
              <a:buAutoNum type="arabicPeriod"/>
            </a:pPr>
            <a:r>
              <a:rPr lang="ko-KR" altLang="en-US" dirty="0"/>
              <a:t>파일 이름</a:t>
            </a:r>
            <a:r>
              <a:rPr lang="en-US" altLang="ko-KR" dirty="0"/>
              <a:t>: kv260_ipi_demo → Export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  <a:p>
            <a:pPr lvl="1"/>
            <a:r>
              <a:rPr lang="en-US" altLang="ko-KR" dirty="0"/>
              <a:t>10.2 TCL </a:t>
            </a:r>
            <a:r>
              <a:rPr lang="ko-KR" altLang="en-US" dirty="0"/>
              <a:t>명령으로 </a:t>
            </a:r>
            <a:r>
              <a:rPr lang="en-US" altLang="ko-KR" dirty="0"/>
              <a:t>Export</a:t>
            </a:r>
            <a:r>
              <a:rPr lang="ko-KR" altLang="en-US" dirty="0"/>
              <a:t>또는 </a:t>
            </a:r>
            <a:r>
              <a:rPr lang="en-US" altLang="ko-KR" dirty="0"/>
              <a:t>TCL Console</a:t>
            </a:r>
            <a:r>
              <a:rPr lang="ko-KR" altLang="en-US" dirty="0"/>
              <a:t>에서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 err="1"/>
              <a:t>write_hw_platform</a:t>
            </a:r>
            <a:r>
              <a:rPr lang="en-US" altLang="ko-KR" dirty="0"/>
              <a:t> -force -file ./kv260_ipi_demo.xsa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7E5BA-E74D-E136-BDBD-835FA2F48D89}"/>
              </a:ext>
            </a:extLst>
          </p:cNvPr>
          <p:cNvSpPr txBox="1"/>
          <p:nvPr/>
        </p:nvSpPr>
        <p:spPr>
          <a:xfrm>
            <a:off x="820270" y="4444253"/>
            <a:ext cx="437716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B050"/>
                </a:solidFill>
              </a:rPr>
              <a:t>검증 체크리스트 </a:t>
            </a:r>
            <a:r>
              <a:rPr lang="en-US" altLang="ko-KR" b="1" dirty="0">
                <a:solidFill>
                  <a:srgbClr val="00B050"/>
                </a:solidFill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Zynq PS</a:t>
            </a:r>
            <a:r>
              <a:rPr lang="ko-KR" altLang="en-US" dirty="0"/>
              <a:t>가 블록 디자인에 추가됨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Block Automation</a:t>
            </a:r>
            <a:r>
              <a:rPr lang="ko-KR" altLang="en-US" dirty="0"/>
              <a:t>이 정상 동작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Clocking Wizard</a:t>
            </a:r>
            <a:r>
              <a:rPr lang="ko-KR" altLang="en-US" dirty="0"/>
              <a:t>가 클럭 생성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Processor System Reset</a:t>
            </a:r>
            <a:r>
              <a:rPr lang="ko-KR" altLang="en-US" dirty="0"/>
              <a:t>이 연결됨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HDL Wrapper</a:t>
            </a:r>
            <a:r>
              <a:rPr lang="ko-KR" altLang="en-US" dirty="0"/>
              <a:t>가 생성됨</a:t>
            </a:r>
            <a:r>
              <a:rPr lang="en-US" altLang="ko-KR" dirty="0"/>
              <a:t>-</a:t>
            </a:r>
          </a:p>
          <a:p>
            <a:pPr marL="742950" lvl="1" indent="-285750">
              <a:buFontTx/>
              <a:buChar char="-"/>
            </a:pPr>
            <a:r>
              <a:rPr lang="en-US" altLang="ko-KR" dirty="0"/>
              <a:t>[ ] XSA </a:t>
            </a:r>
            <a:r>
              <a:rPr lang="ko-KR" altLang="en-US" dirty="0"/>
              <a:t>파일이 </a:t>
            </a:r>
            <a:r>
              <a:rPr lang="ko-KR" altLang="en-US" dirty="0" err="1"/>
              <a:t>익스포트됨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2292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Step 02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t>다음 단계: AXI GPIO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CEE"/>
                </a:solidFill>
              </a:defRPr>
            </a:pPr>
            <a:r>
              <a:t>KV260 FPGA Training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902</Words>
  <Application>Microsoft Office PowerPoint</Application>
  <PresentationFormat>와이드스크린</PresentationFormat>
  <Paragraphs>217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8</cp:revision>
  <dcterms:created xsi:type="dcterms:W3CDTF">2013-01-27T09:14:16Z</dcterms:created>
  <dcterms:modified xsi:type="dcterms:W3CDTF">2026-03-31T10:24:23Z</dcterms:modified>
  <cp:category/>
</cp:coreProperties>
</file>