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228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8B4D9F4B-507C-AA69-2252-E30C75D7FF3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7125055-7CB6-A3B5-0632-D79AAF8CEA9B}"/>
              </a:ext>
            </a:extLst>
          </p:cNvPr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gradFill rotWithShape="1">
            <a:gsLst>
              <a:gs pos="0">
                <a:srgbClr val="001A40"/>
              </a:gs>
              <a:gs pos="100000">
                <a:srgbClr val="00336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35BF3A-4531-51CD-E55E-02A4D69F5645}"/>
              </a:ext>
            </a:extLst>
          </p:cNvPr>
          <p:cNvSpPr txBox="1"/>
          <p:nvPr/>
        </p:nvSpPr>
        <p:spPr>
          <a:xfrm>
            <a:off x="1745088" y="1249250"/>
            <a:ext cx="66970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lang="en-US" dirty="0"/>
              <a:t>Vitis HLS + PMOD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699685-1EC4-8430-7F57-2D1167CDE33D}"/>
              </a:ext>
            </a:extLst>
          </p:cNvPr>
          <p:cNvSpPr txBox="1"/>
          <p:nvPr/>
        </p:nvSpPr>
        <p:spPr>
          <a:xfrm>
            <a:off x="2524258" y="3821720"/>
            <a:ext cx="60917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AACCEE"/>
                </a:solidFill>
              </a:defRPr>
            </a:pPr>
            <a:r>
              <a:rPr lang="en-US" dirty="0"/>
              <a:t>C/C++</a:t>
            </a:r>
            <a:r>
              <a:rPr lang="ko-KR" altLang="en-US" dirty="0"/>
              <a:t>에서 </a:t>
            </a:r>
            <a:r>
              <a:rPr lang="en-US" altLang="ko-KR" dirty="0"/>
              <a:t>RTL </a:t>
            </a:r>
            <a:r>
              <a:rPr lang="ko-KR" altLang="en-US" dirty="0"/>
              <a:t>생성 및 커스텀 </a:t>
            </a:r>
            <a:r>
              <a:rPr lang="en-US" altLang="ko-KR" dirty="0"/>
              <a:t>IP </a:t>
            </a:r>
            <a:r>
              <a:rPr lang="ko-KR" altLang="en-US" dirty="0"/>
              <a:t>개발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486638-A149-D312-2314-3EAA9FD924F0}"/>
              </a:ext>
            </a:extLst>
          </p:cNvPr>
          <p:cNvSpPr txBox="1"/>
          <p:nvPr/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dirty="0">
                <a:solidFill>
                  <a:srgbClr val="5588BB"/>
                </a:solidFill>
                <a:latin typeface="Calibri"/>
              </a:rPr>
              <a:t>KV260 FPGA Training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E3A8DD2-7F3F-F484-A7E1-4B33F68BDF58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F253A50-B661-9626-F70C-99A589227DDA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C280F0-319E-F3E4-A311-3A9C85E6E458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학습 목표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4972FE-1199-945D-6560-E61A35A1501B}"/>
              </a:ext>
            </a:extLst>
          </p:cNvPr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DD6AB0CA-0772-4DAE-197C-892E925C240B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264F4C-2220-3E33-2D95-342EEA9A6A8D}"/>
              </a:ext>
            </a:extLst>
          </p:cNvPr>
          <p:cNvSpPr txBox="1"/>
          <p:nvPr/>
        </p:nvSpPr>
        <p:spPr>
          <a:xfrm>
            <a:off x="457200" y="6492240"/>
            <a:ext cx="37465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4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Vitis HLS + PMOD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C/C++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에서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RTL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생성 및 커스텀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IP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개발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D78F76-A41B-1197-24DF-D43198266A58}"/>
              </a:ext>
            </a:extLst>
          </p:cNvPr>
          <p:cNvSpPr txBox="1"/>
          <p:nvPr/>
        </p:nvSpPr>
        <p:spPr>
          <a:xfrm>
            <a:off x="457200" y="1473663"/>
            <a:ext cx="11277295" cy="2377119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/>
              </a:rPr>
              <a:t>Vitis HLS </a:t>
            </a:r>
            <a:r>
              <a:rPr lang="ko-KR" altLang="en-US" sz="1800" b="0" dirty="0">
                <a:solidFill>
                  <a:srgbClr val="000000"/>
                </a:solidFill>
                <a:latin typeface="Calibri"/>
              </a:rPr>
              <a:t>이해</a:t>
            </a:r>
            <a:endParaRPr lang="en-US" sz="1800" b="0" dirty="0">
              <a:solidFill>
                <a:srgbClr val="000000"/>
              </a:solidFill>
              <a:latin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C/C++</a:t>
            </a:r>
            <a:r>
              <a:rPr lang="ko-KR" altLang="en-US" dirty="0">
                <a:solidFill>
                  <a:srgbClr val="000000"/>
                </a:solidFill>
              </a:rPr>
              <a:t>에서 </a:t>
            </a:r>
            <a:r>
              <a:rPr lang="en-US" altLang="ko-KR" dirty="0">
                <a:solidFill>
                  <a:srgbClr val="000000"/>
                </a:solidFill>
              </a:rPr>
              <a:t>RTL </a:t>
            </a:r>
            <a:r>
              <a:rPr lang="ko-KR" altLang="en-US" dirty="0">
                <a:solidFill>
                  <a:srgbClr val="000000"/>
                </a:solidFill>
              </a:rPr>
              <a:t>생성</a:t>
            </a:r>
            <a:endParaRPr lang="en-US" altLang="ko-KR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PMOD IP </a:t>
            </a:r>
            <a:r>
              <a:rPr lang="ko-KR" altLang="en-US" dirty="0">
                <a:solidFill>
                  <a:srgbClr val="000000"/>
                </a:solidFill>
              </a:rPr>
              <a:t>개발</a:t>
            </a:r>
            <a:endParaRPr lang="en-US" altLang="ko-KR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rgbClr val="000000"/>
                </a:solidFill>
              </a:rPr>
              <a:t>PetaLinux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연동</a:t>
            </a:r>
            <a:endParaRPr lang="en-US" altLang="ko-KR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ko-KR" altLang="en-US" dirty="0">
                <a:solidFill>
                  <a:srgbClr val="000000"/>
                </a:solidFill>
              </a:rPr>
              <a:t>난이도</a:t>
            </a:r>
            <a:r>
              <a:rPr lang="en-US" altLang="ko-KR" dirty="0">
                <a:solidFill>
                  <a:srgbClr val="000000"/>
                </a:solidFill>
              </a:rPr>
              <a:t>: ★★★☆☆ (</a:t>
            </a:r>
            <a:r>
              <a:rPr lang="ko-KR" altLang="en-US" dirty="0">
                <a:solidFill>
                  <a:srgbClr val="000000"/>
                </a:solidFill>
              </a:rPr>
              <a:t>중급</a:t>
            </a:r>
            <a:r>
              <a:rPr lang="en-US" altLang="ko-KR" dirty="0">
                <a:solidFill>
                  <a:srgbClr val="000000"/>
                </a:solidFill>
              </a:rPr>
              <a:t>) | </a:t>
            </a:r>
            <a:r>
              <a:rPr lang="ko-KR" altLang="en-US" b="1" dirty="0">
                <a:solidFill>
                  <a:srgbClr val="003366"/>
                </a:solidFill>
              </a:rPr>
              <a:t>소요 시간</a:t>
            </a: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약 </a:t>
            </a:r>
            <a:r>
              <a:rPr lang="en-US" altLang="ko-KR" dirty="0">
                <a:solidFill>
                  <a:srgbClr val="000000"/>
                </a:solidFill>
              </a:rPr>
              <a:t>3~4</a:t>
            </a:r>
            <a:r>
              <a:rPr lang="ko-KR" altLang="en-US" dirty="0">
                <a:solidFill>
                  <a:srgbClr val="000000"/>
                </a:solidFill>
              </a:rPr>
              <a:t>시간</a:t>
            </a:r>
            <a:endParaRPr lang="en-US" altLang="ko-KR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endParaRPr sz="1800" b="0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1026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BDD7DC5-99FD-F87B-0B9E-2D567874467B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D7D743-B391-7E05-208E-523132207018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C1EEB0-51AD-09E9-4C70-95A3868162BF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Vitis HLS 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이해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DD4846-6BCD-E73E-E8B2-07C357493488}"/>
              </a:ext>
            </a:extLst>
          </p:cNvPr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AF8D4793-FBD3-F407-D001-AE45E45CC343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7F26A-C2F0-9301-A263-65D73F2A88AD}"/>
              </a:ext>
            </a:extLst>
          </p:cNvPr>
          <p:cNvSpPr txBox="1"/>
          <p:nvPr/>
        </p:nvSpPr>
        <p:spPr>
          <a:xfrm>
            <a:off x="457200" y="6492240"/>
            <a:ext cx="37465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4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Vitis HLS + PMOD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C/C++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에서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RTL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생성 및 커스텀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IP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개발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068F01-CC63-7EA6-5FB3-9FD1C4724AD9}"/>
              </a:ext>
            </a:extLst>
          </p:cNvPr>
          <p:cNvSpPr txBox="1"/>
          <p:nvPr/>
        </p:nvSpPr>
        <p:spPr>
          <a:xfrm>
            <a:off x="457200" y="1473663"/>
            <a:ext cx="11277295" cy="1507495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High-Level Synthesis</a:t>
            </a: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C/C++ </a:t>
            </a:r>
            <a:r>
              <a:rPr lang="en-US" altLang="ko-KR" dirty="0">
                <a:solidFill>
                  <a:srgbClr val="000000"/>
                </a:solidFill>
                <a:sym typeface="Wingdings" panose="05000000000000000000" pitchFamily="2" charset="2"/>
              </a:rPr>
              <a:t> Verilog/VHDL</a:t>
            </a:r>
            <a:endParaRPr lang="en-US" altLang="ko-KR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성능 최적화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BBB0DD5-6A4C-4B48-C3E5-D22E4090989A}"/>
              </a:ext>
            </a:extLst>
          </p:cNvPr>
          <p:cNvSpPr/>
          <p:nvPr/>
        </p:nvSpPr>
        <p:spPr>
          <a:xfrm>
            <a:off x="1238170" y="4050586"/>
            <a:ext cx="1548814" cy="145942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Vitis HLS</a:t>
            </a:r>
            <a:r>
              <a:rPr lang="ko-KR" altLang="en-US" dirty="0">
                <a:solidFill>
                  <a:schemeClr val="tx1"/>
                </a:solidFill>
              </a:rPr>
              <a:t>에서 </a:t>
            </a:r>
            <a:r>
              <a:rPr lang="en-US" altLang="ko-KR" dirty="0">
                <a:solidFill>
                  <a:schemeClr val="tx1"/>
                </a:solidFill>
              </a:rPr>
              <a:t>C++ </a:t>
            </a:r>
            <a:r>
              <a:rPr lang="ko-KR" altLang="en-US" dirty="0">
                <a:solidFill>
                  <a:schemeClr val="tx1"/>
                </a:solidFill>
              </a:rPr>
              <a:t>코드작성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2449CA-FACB-20BF-E097-592A30CB49F2}"/>
              </a:ext>
            </a:extLst>
          </p:cNvPr>
          <p:cNvSpPr/>
          <p:nvPr/>
        </p:nvSpPr>
        <p:spPr>
          <a:xfrm>
            <a:off x="3278199" y="4040158"/>
            <a:ext cx="1246777" cy="145942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 Synthesis </a:t>
            </a:r>
            <a:r>
              <a:rPr lang="ko-KR" altLang="en-US" dirty="0">
                <a:solidFill>
                  <a:schemeClr val="tx1"/>
                </a:solidFill>
              </a:rPr>
              <a:t>실행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0993B5A-C4C7-A039-5719-BF8181594685}"/>
              </a:ext>
            </a:extLst>
          </p:cNvPr>
          <p:cNvSpPr/>
          <p:nvPr/>
        </p:nvSpPr>
        <p:spPr>
          <a:xfrm>
            <a:off x="5016191" y="4050585"/>
            <a:ext cx="1720786" cy="145942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Export RTL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(IP Catalog </a:t>
            </a:r>
            <a:r>
              <a:rPr lang="ko-KR" altLang="en-US" dirty="0">
                <a:solidFill>
                  <a:schemeClr val="tx1"/>
                </a:solidFill>
              </a:rPr>
              <a:t>형식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285A3E0-3078-F9B4-D9B9-A07F6D04EA07}"/>
              </a:ext>
            </a:extLst>
          </p:cNvPr>
          <p:cNvSpPr/>
          <p:nvPr/>
        </p:nvSpPr>
        <p:spPr>
          <a:xfrm>
            <a:off x="7228192" y="4040159"/>
            <a:ext cx="1653791" cy="145942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Vivado</a:t>
            </a:r>
            <a:r>
              <a:rPr lang="ko-KR" altLang="en-US" dirty="0">
                <a:solidFill>
                  <a:schemeClr val="tx1"/>
                </a:solidFill>
              </a:rPr>
              <a:t>에서 커스텀 </a:t>
            </a:r>
            <a:r>
              <a:rPr lang="en-US" altLang="ko-KR" dirty="0">
                <a:solidFill>
                  <a:schemeClr val="tx1"/>
                </a:solidFill>
              </a:rPr>
              <a:t>IP</a:t>
            </a:r>
            <a:r>
              <a:rPr lang="ko-KR" altLang="en-US" dirty="0">
                <a:solidFill>
                  <a:schemeClr val="tx1"/>
                </a:solidFill>
              </a:rPr>
              <a:t>추가</a:t>
            </a:r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DFA1B73-546A-0BC0-8583-E31DF4EB567E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2786984" y="4769871"/>
            <a:ext cx="491215" cy="1042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44BD314-D3C1-4612-8CFD-7431EE81F981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4524976" y="4769871"/>
            <a:ext cx="491215" cy="10427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91A2B1B-F7CB-15CB-1258-6B8173765946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736977" y="4769872"/>
            <a:ext cx="491215" cy="1042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978E65B-5DD1-B1B3-6C40-044C95DB779E}"/>
              </a:ext>
            </a:extLst>
          </p:cNvPr>
          <p:cNvSpPr/>
          <p:nvPr/>
        </p:nvSpPr>
        <p:spPr>
          <a:xfrm>
            <a:off x="9373198" y="4050586"/>
            <a:ext cx="1246777" cy="145942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Bitstream </a:t>
            </a:r>
            <a:r>
              <a:rPr lang="ko-KR" altLang="en-US" dirty="0">
                <a:solidFill>
                  <a:schemeClr val="tx1"/>
                </a:solidFill>
              </a:rPr>
              <a:t>생성</a:t>
            </a:r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B650B8F-8FFE-8EB5-9F4A-00B88A5A3595}"/>
              </a:ext>
            </a:extLst>
          </p:cNvPr>
          <p:cNvCxnSpPr>
            <a:cxnSpLocks/>
            <a:stCxn id="17" idx="3"/>
            <a:endCxn id="21" idx="1"/>
          </p:cNvCxnSpPr>
          <p:nvPr/>
        </p:nvCxnSpPr>
        <p:spPr>
          <a:xfrm>
            <a:off x="8881983" y="4769872"/>
            <a:ext cx="491215" cy="10427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3761151-CC33-11D9-D47B-8DCA94464797}"/>
              </a:ext>
            </a:extLst>
          </p:cNvPr>
          <p:cNvSpPr txBox="1"/>
          <p:nvPr/>
        </p:nvSpPr>
        <p:spPr>
          <a:xfrm>
            <a:off x="915441" y="3548335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 </a:t>
            </a:r>
            <a:r>
              <a:rPr lang="ko-KR" altLang="en-US" dirty="0"/>
              <a:t>전체 흐름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4124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C5FDF6B-49FA-4599-3E78-0FACDD0EF26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090C71-0753-7904-CC55-C435EF0887E9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20A3D7-BF56-53B5-09BF-D42F8BE2C51D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Vitis HLS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D31298-D106-1613-EF87-1A03DCDBFF78}"/>
              </a:ext>
            </a:extLst>
          </p:cNvPr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4ADA54E8-E081-8ECB-045C-AC666D3E600C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0FE5B6-FBC4-8DE0-CBA3-7E2E90AC0281}"/>
              </a:ext>
            </a:extLst>
          </p:cNvPr>
          <p:cNvSpPr txBox="1"/>
          <p:nvPr/>
        </p:nvSpPr>
        <p:spPr>
          <a:xfrm>
            <a:off x="457200" y="6492240"/>
            <a:ext cx="37465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4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Vitis HLS + PMOD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C/C++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에서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RTL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생성 및 커스텀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IP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개발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F45C7C-8310-8506-2F12-B0736EBDE391}"/>
              </a:ext>
            </a:extLst>
          </p:cNvPr>
          <p:cNvSpPr txBox="1"/>
          <p:nvPr/>
        </p:nvSpPr>
        <p:spPr>
          <a:xfrm>
            <a:off x="842801" y="1407170"/>
            <a:ext cx="61361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1: </a:t>
            </a:r>
            <a:r>
              <a:rPr lang="ko-KR" altLang="en-US" b="1" dirty="0">
                <a:solidFill>
                  <a:srgbClr val="00B050"/>
                </a:solidFill>
              </a:rPr>
              <a:t>프로젝트 생성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en-US" altLang="ko-KR" dirty="0"/>
              <a:t>1.1 </a:t>
            </a:r>
            <a:r>
              <a:rPr lang="en-US" altLang="ko-KR" dirty="0" err="1"/>
              <a:t>Vivado</a:t>
            </a:r>
            <a:r>
              <a:rPr lang="en-US" altLang="ko-KR" dirty="0"/>
              <a:t>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2"/>
            <a:r>
              <a:rPr lang="en-US" altLang="ko-KR" dirty="0"/>
              <a:t>source /tools/Xilinx/</a:t>
            </a:r>
            <a:r>
              <a:rPr lang="en-US" altLang="ko-KR" dirty="0">
                <a:solidFill>
                  <a:srgbClr val="FF0000"/>
                </a:solidFill>
              </a:rPr>
              <a:t>Vivado</a:t>
            </a:r>
            <a:r>
              <a:rPr lang="en-US" altLang="ko-KR" dirty="0"/>
              <a:t>/2021.2/settings64.sh</a:t>
            </a:r>
          </a:p>
          <a:p>
            <a:pPr lvl="2"/>
            <a:r>
              <a:rPr lang="en-US" altLang="ko-KR" dirty="0" err="1"/>
              <a:t>Vitis_hls</a:t>
            </a:r>
            <a:r>
              <a:rPr lang="en-US" altLang="ko-KR" dirty="0"/>
              <a:t> &amp;</a:t>
            </a:r>
          </a:p>
          <a:p>
            <a:pPr lvl="2"/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Project Name: </a:t>
            </a:r>
            <a:r>
              <a:rPr lang="en-US" altLang="ko-KR" dirty="0" err="1"/>
              <a:t>pmod_io_ip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Top Function: </a:t>
            </a:r>
            <a:r>
              <a:rPr lang="en-US" altLang="ko-KR" dirty="0" err="1"/>
              <a:t>pmod_io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Part: xck26-sfvc784-2LV-c (KV260)</a:t>
            </a:r>
          </a:p>
        </p:txBody>
      </p:sp>
    </p:spTree>
    <p:extLst>
      <p:ext uri="{BB962C8B-B14F-4D97-AF65-F5344CB8AC3E}">
        <p14:creationId xmlns:p14="http://schemas.microsoft.com/office/powerpoint/2010/main" val="2983069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56CDE04B-F285-7830-086C-5F269B281AF4}"/>
              </a:ext>
            </a:extLst>
          </p:cNvPr>
          <p:cNvSpPr/>
          <p:nvPr/>
        </p:nvSpPr>
        <p:spPr>
          <a:xfrm>
            <a:off x="706443" y="1820030"/>
            <a:ext cx="11028052" cy="4530318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Rounded Rectangle 12">
            <a:extLst>
              <a:ext uri="{FF2B5EF4-FFF2-40B4-BE49-F238E27FC236}">
                <a16:creationId xmlns:a16="http://schemas.microsoft.com/office/drawing/2014/main" id="{56BDE9ED-FA19-15A1-F392-AE75A577AAEF}"/>
              </a:ext>
            </a:extLst>
          </p:cNvPr>
          <p:cNvSpPr/>
          <p:nvPr/>
        </p:nvSpPr>
        <p:spPr>
          <a:xfrm>
            <a:off x="10703143" y="1951427"/>
            <a:ext cx="894191" cy="141323"/>
          </a:xfrm>
          <a:prstGeom prst="roundRect">
            <a:avLst>
              <a:gd name="adj" fmla="val 15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rgbClr val="888888"/>
                </a:solidFill>
                <a:latin typeface="Calibri"/>
              </a:rPr>
              <a:t>code</a:t>
            </a:r>
            <a:endParaRPr sz="900" b="0" dirty="0">
              <a:solidFill>
                <a:srgbClr val="888888"/>
              </a:solidFill>
              <a:latin typeface="Calibri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5F4B62-A001-CA87-F8C6-942B973A8FF8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3642D2A-E243-5111-EE75-B5EFDEDE53D9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3AA813-D66C-C6A8-A42B-30A6A82FA038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Vitis HLS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BF735-2E5C-EED8-D4C4-D7466411A6C6}"/>
              </a:ext>
            </a:extLst>
          </p:cNvPr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87D78D59-E070-1CF0-09B8-790E0873ADF8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8DEF85-B259-80B1-0A32-197B5BEBD330}"/>
              </a:ext>
            </a:extLst>
          </p:cNvPr>
          <p:cNvSpPr txBox="1"/>
          <p:nvPr/>
        </p:nvSpPr>
        <p:spPr>
          <a:xfrm>
            <a:off x="457200" y="6492240"/>
            <a:ext cx="37465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4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Vitis HLS + PMOD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C/C++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에서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RTL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생성 및 커스텀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IP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개발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DCA9AA-CF4A-1421-E656-D75BA0DB2888}"/>
              </a:ext>
            </a:extLst>
          </p:cNvPr>
          <p:cNvSpPr txBox="1"/>
          <p:nvPr/>
        </p:nvSpPr>
        <p:spPr>
          <a:xfrm>
            <a:off x="706443" y="1310650"/>
            <a:ext cx="6136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2: C++ </a:t>
            </a:r>
            <a:r>
              <a:rPr lang="ko-KR" altLang="en-US" b="1" dirty="0">
                <a:solidFill>
                  <a:srgbClr val="00B050"/>
                </a:solidFill>
              </a:rPr>
              <a:t>코드 작성</a:t>
            </a:r>
            <a:endParaRPr lang="en-US" altLang="ko-KR" b="1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87E613-549F-388C-28A3-9F947AB2A6D3}"/>
              </a:ext>
            </a:extLst>
          </p:cNvPr>
          <p:cNvSpPr txBox="1"/>
          <p:nvPr/>
        </p:nvSpPr>
        <p:spPr>
          <a:xfrm>
            <a:off x="242047" y="2129701"/>
            <a:ext cx="5802999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2"/>
            <a:r>
              <a:rPr lang="en-US" altLang="ko-KR" sz="1600" dirty="0">
                <a:solidFill>
                  <a:schemeClr val="bg1"/>
                </a:solidFill>
              </a:rPr>
              <a:t>#include &lt;</a:t>
            </a:r>
            <a:r>
              <a:rPr lang="en-US" altLang="ko-KR" sz="1600" dirty="0" err="1">
                <a:solidFill>
                  <a:schemeClr val="bg1"/>
                </a:solidFill>
              </a:rPr>
              <a:t>stdio.h</a:t>
            </a:r>
            <a:r>
              <a:rPr lang="en-US" altLang="ko-KR" sz="1600" dirty="0">
                <a:solidFill>
                  <a:schemeClr val="bg1"/>
                </a:solidFill>
              </a:rPr>
              <a:t>&gt;</a:t>
            </a:r>
          </a:p>
          <a:p>
            <a:pPr lvl="2"/>
            <a:r>
              <a:rPr lang="en-US" altLang="ko-KR" sz="1600" dirty="0">
                <a:solidFill>
                  <a:schemeClr val="bg1"/>
                </a:solidFill>
              </a:rPr>
              <a:t>#include &lt;</a:t>
            </a:r>
            <a:r>
              <a:rPr lang="en-US" altLang="ko-KR" sz="1600" dirty="0" err="1">
                <a:solidFill>
                  <a:schemeClr val="bg1"/>
                </a:solidFill>
              </a:rPr>
              <a:t>stdint.h</a:t>
            </a:r>
            <a:r>
              <a:rPr lang="en-US" altLang="ko-KR" sz="1600" dirty="0">
                <a:solidFill>
                  <a:schemeClr val="bg1"/>
                </a:solidFill>
              </a:rPr>
              <a:t>&gt;</a:t>
            </a:r>
          </a:p>
          <a:p>
            <a:pPr lvl="2"/>
            <a:endParaRPr lang="en-US" altLang="ko-KR" sz="1600" dirty="0">
              <a:solidFill>
                <a:schemeClr val="bg1"/>
              </a:solidFill>
            </a:endParaRPr>
          </a:p>
          <a:p>
            <a:pPr lvl="2"/>
            <a:r>
              <a:rPr lang="en-US" altLang="ko-KR" sz="1600" dirty="0">
                <a:solidFill>
                  <a:schemeClr val="bg1"/>
                </a:solidFill>
              </a:rPr>
              <a:t>Typedef unsigned short int u16;</a:t>
            </a:r>
          </a:p>
          <a:p>
            <a:pPr lvl="2"/>
            <a:endParaRPr lang="en-US" altLang="ko-KR" sz="1600" dirty="0">
              <a:solidFill>
                <a:schemeClr val="bg1"/>
              </a:solidFill>
            </a:endParaRPr>
          </a:p>
          <a:p>
            <a:pPr lvl="2"/>
            <a:r>
              <a:rPr lang="en-US" altLang="ko-KR" sz="1600" dirty="0">
                <a:solidFill>
                  <a:schemeClr val="bg1"/>
                </a:solidFill>
              </a:rPr>
              <a:t>U16 </a:t>
            </a:r>
            <a:r>
              <a:rPr lang="en-US" altLang="ko-KR" sz="1600" dirty="0" err="1">
                <a:solidFill>
                  <a:schemeClr val="bg1"/>
                </a:solidFill>
              </a:rPr>
              <a:t>pmod_io</a:t>
            </a:r>
            <a:r>
              <a:rPr lang="en-US" altLang="ko-KR" sz="1600" dirty="0">
                <a:solidFill>
                  <a:schemeClr val="bg1"/>
                </a:solidFill>
              </a:rPr>
              <a:t>(u16 </a:t>
            </a:r>
            <a:r>
              <a:rPr lang="en-US" altLang="ko-KR" sz="1600" dirty="0" err="1">
                <a:solidFill>
                  <a:schemeClr val="bg1"/>
                </a:solidFill>
              </a:rPr>
              <a:t>io_ctrl</a:t>
            </a:r>
            <a:r>
              <a:rPr lang="en-US" altLang="ko-KR" sz="1600" dirty="0">
                <a:solidFill>
                  <a:schemeClr val="bg1"/>
                </a:solidFill>
              </a:rPr>
              <a:t>, u16 </a:t>
            </a:r>
            <a:r>
              <a:rPr lang="en-US" altLang="ko-KR" sz="1600" dirty="0" err="1">
                <a:solidFill>
                  <a:schemeClr val="bg1"/>
                </a:solidFill>
              </a:rPr>
              <a:t>io_num</a:t>
            </a:r>
            <a:r>
              <a:rPr lang="en-US" altLang="ko-KR" sz="1600" dirty="0">
                <a:solidFill>
                  <a:schemeClr val="bg1"/>
                </a:solidFill>
              </a:rPr>
              <a:t>, u16&amp; </a:t>
            </a:r>
            <a:r>
              <a:rPr lang="en-US" altLang="ko-KR" sz="1600" dirty="0" err="1">
                <a:solidFill>
                  <a:schemeClr val="bg1"/>
                </a:solidFill>
              </a:rPr>
              <a:t>pmod</a:t>
            </a:r>
            <a:r>
              <a:rPr lang="en-US" altLang="ko-KR" sz="1600" dirty="0">
                <a:solidFill>
                  <a:schemeClr val="bg1"/>
                </a:solidFill>
              </a:rPr>
              <a:t>) {</a:t>
            </a:r>
          </a:p>
          <a:p>
            <a:pPr lvl="3"/>
            <a:r>
              <a:rPr lang="en-US" altLang="ko-KR" sz="1600" dirty="0">
                <a:solidFill>
                  <a:schemeClr val="bg1"/>
                </a:solidFill>
              </a:rPr>
              <a:t>#pragma HLS INTERFACE </a:t>
            </a:r>
            <a:r>
              <a:rPr lang="en-US" altLang="ko-KR" sz="1600" dirty="0" err="1">
                <a:solidFill>
                  <a:schemeClr val="bg1"/>
                </a:solidFill>
              </a:rPr>
              <a:t>ap_ctrl_none</a:t>
            </a:r>
            <a:r>
              <a:rPr lang="en-US" altLang="ko-KR" sz="1600" dirty="0">
                <a:solidFill>
                  <a:schemeClr val="bg1"/>
                </a:solidFill>
              </a:rPr>
              <a:t> port=return</a:t>
            </a:r>
          </a:p>
          <a:p>
            <a:pPr lvl="3"/>
            <a:r>
              <a:rPr lang="en-US" altLang="ko-KR" sz="1600" dirty="0">
                <a:solidFill>
                  <a:schemeClr val="bg1"/>
                </a:solidFill>
              </a:rPr>
              <a:t>#pragma HLS INTERFACE </a:t>
            </a:r>
            <a:r>
              <a:rPr lang="en-US" altLang="ko-KR" sz="1600" dirty="0" err="1">
                <a:solidFill>
                  <a:schemeClr val="bg1"/>
                </a:solidFill>
              </a:rPr>
              <a:t>s_axilite</a:t>
            </a:r>
            <a:r>
              <a:rPr lang="en-US" altLang="ko-KR" sz="1600" dirty="0">
                <a:solidFill>
                  <a:schemeClr val="bg1"/>
                </a:solidFill>
              </a:rPr>
              <a:t> port=</a:t>
            </a:r>
            <a:r>
              <a:rPr lang="en-US" altLang="ko-KR" sz="1600" dirty="0" err="1">
                <a:solidFill>
                  <a:schemeClr val="bg1"/>
                </a:solidFill>
              </a:rPr>
              <a:t>io_ctrl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3"/>
            <a:r>
              <a:rPr lang="pt-BR" altLang="ko-KR" sz="1600" dirty="0">
                <a:solidFill>
                  <a:schemeClr val="bg1"/>
                </a:solidFill>
              </a:rPr>
              <a:t>#pragma HLS INTERFACE s_axilite port=io_num</a:t>
            </a:r>
          </a:p>
          <a:p>
            <a:pPr lvl="3"/>
            <a:r>
              <a:rPr lang="en-US" altLang="ko-KR" sz="1600" dirty="0">
                <a:solidFill>
                  <a:schemeClr val="bg1"/>
                </a:solidFill>
              </a:rPr>
              <a:t>#pragma HLS INTERFACE </a:t>
            </a:r>
            <a:r>
              <a:rPr lang="en-US" altLang="ko-KR" sz="1600" dirty="0" err="1">
                <a:solidFill>
                  <a:schemeClr val="bg1"/>
                </a:solidFill>
              </a:rPr>
              <a:t>s_axilite</a:t>
            </a:r>
            <a:r>
              <a:rPr lang="en-US" altLang="ko-KR" sz="1600" dirty="0">
                <a:solidFill>
                  <a:schemeClr val="bg1"/>
                </a:solidFill>
              </a:rPr>
              <a:t> port=</a:t>
            </a:r>
            <a:r>
              <a:rPr lang="en-US" altLang="ko-KR" sz="1600" dirty="0" err="1">
                <a:solidFill>
                  <a:schemeClr val="bg1"/>
                </a:solidFill>
              </a:rPr>
              <a:t>pmod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3"/>
            <a:endParaRPr lang="en-US" altLang="ko-KR" sz="1600" dirty="0">
              <a:solidFill>
                <a:schemeClr val="bg1"/>
              </a:solidFill>
            </a:endParaRPr>
          </a:p>
          <a:p>
            <a:pPr lvl="3"/>
            <a:r>
              <a:rPr lang="en-US" altLang="ko-KR" sz="1600" dirty="0">
                <a:solidFill>
                  <a:schemeClr val="bg1"/>
                </a:solidFill>
              </a:rPr>
              <a:t>static u16 </a:t>
            </a:r>
            <a:r>
              <a:rPr lang="en-US" altLang="ko-KR" sz="1600" dirty="0" err="1">
                <a:solidFill>
                  <a:schemeClr val="bg1"/>
                </a:solidFill>
              </a:rPr>
              <a:t>pmod_mask</a:t>
            </a:r>
            <a:r>
              <a:rPr lang="en-US" altLang="ko-KR" sz="1600" dirty="0">
                <a:solidFill>
                  <a:schemeClr val="bg1"/>
                </a:solidFill>
              </a:rPr>
              <a:t> = 0;</a:t>
            </a:r>
          </a:p>
          <a:p>
            <a:pPr lvl="3"/>
            <a:endParaRPr lang="en-US" altLang="ko-KR" sz="1600" dirty="0">
              <a:solidFill>
                <a:schemeClr val="bg1"/>
              </a:solidFill>
            </a:endParaRPr>
          </a:p>
          <a:p>
            <a:pPr lvl="3"/>
            <a:r>
              <a:rPr lang="en-US" altLang="ko-KR" sz="1600" dirty="0">
                <a:solidFill>
                  <a:schemeClr val="bg1"/>
                </a:solidFill>
              </a:rPr>
              <a:t>If (</a:t>
            </a:r>
            <a:r>
              <a:rPr lang="en-US" altLang="ko-KR" sz="1600" dirty="0" err="1">
                <a:solidFill>
                  <a:schemeClr val="bg1"/>
                </a:solidFill>
              </a:rPr>
              <a:t>io_ctrl</a:t>
            </a:r>
            <a:r>
              <a:rPr lang="en-US" altLang="ko-KR" sz="1600" dirty="0">
                <a:solidFill>
                  <a:schemeClr val="bg1"/>
                </a:solidFill>
              </a:rPr>
              <a:t> == 0xf) {</a:t>
            </a:r>
          </a:p>
          <a:p>
            <a:pPr lvl="4"/>
            <a:r>
              <a:rPr lang="en-US" altLang="ko-KR" sz="1600" dirty="0" err="1">
                <a:solidFill>
                  <a:schemeClr val="bg1"/>
                </a:solidFill>
              </a:rPr>
              <a:t>pmod_mask</a:t>
            </a:r>
            <a:r>
              <a:rPr lang="en-US" altLang="ko-KR" sz="1600" dirty="0">
                <a:solidFill>
                  <a:schemeClr val="bg1"/>
                </a:solidFill>
              </a:rPr>
              <a:t> = 0;	               //</a:t>
            </a:r>
            <a:r>
              <a:rPr lang="ko-KR" altLang="en-US" sz="1600" dirty="0">
                <a:solidFill>
                  <a:schemeClr val="bg1"/>
                </a:solidFill>
              </a:rPr>
              <a:t>초기화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3"/>
            <a:r>
              <a:rPr lang="en-US" altLang="ko-KR" sz="1600" dirty="0">
                <a:solidFill>
                  <a:schemeClr val="bg1"/>
                </a:solidFill>
              </a:rPr>
              <a:t>} else if (</a:t>
            </a:r>
            <a:r>
              <a:rPr lang="en-US" altLang="ko-KR" sz="1600" dirty="0" err="1">
                <a:solidFill>
                  <a:schemeClr val="bg1"/>
                </a:solidFill>
              </a:rPr>
              <a:t>io_ctrl</a:t>
            </a:r>
            <a:r>
              <a:rPr lang="en-US" altLang="ko-KR" sz="1600" dirty="0">
                <a:solidFill>
                  <a:schemeClr val="bg1"/>
                </a:solidFill>
              </a:rPr>
              <a:t> == 0xa) {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91D2D0-A669-1F80-99AE-7FAD4A00B472}"/>
              </a:ext>
            </a:extLst>
          </p:cNvPr>
          <p:cNvSpPr txBox="1"/>
          <p:nvPr/>
        </p:nvSpPr>
        <p:spPr>
          <a:xfrm>
            <a:off x="5972528" y="3423483"/>
            <a:ext cx="539224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4"/>
            <a:r>
              <a:rPr lang="en-US" altLang="ko-KR" sz="1600" dirty="0" err="1">
                <a:solidFill>
                  <a:schemeClr val="bg1"/>
                </a:solidFill>
              </a:rPr>
              <a:t>pmod_mask</a:t>
            </a:r>
            <a:r>
              <a:rPr lang="en-US" altLang="ko-KR" sz="1600" dirty="0">
                <a:solidFill>
                  <a:schemeClr val="bg1"/>
                </a:solidFill>
              </a:rPr>
              <a:t> = (1 &lt;&lt; </a:t>
            </a:r>
            <a:r>
              <a:rPr lang="en-US" altLang="ko-KR" sz="1600" dirty="0" err="1">
                <a:solidFill>
                  <a:schemeClr val="bg1"/>
                </a:solidFill>
              </a:rPr>
              <a:t>io_num</a:t>
            </a:r>
            <a:r>
              <a:rPr lang="en-US" altLang="ko-KR" sz="1600" dirty="0">
                <a:solidFill>
                  <a:schemeClr val="bg1"/>
                </a:solidFill>
              </a:rPr>
              <a:t>);     // SET</a:t>
            </a:r>
          </a:p>
          <a:p>
            <a:pPr lvl="3"/>
            <a:r>
              <a:rPr lang="en-US" altLang="ko-KR" sz="1600" dirty="0">
                <a:solidFill>
                  <a:schemeClr val="bg1"/>
                </a:solidFill>
              </a:rPr>
              <a:t>} else if (</a:t>
            </a:r>
            <a:r>
              <a:rPr lang="en-US" altLang="ko-KR" sz="1600" dirty="0" err="1">
                <a:solidFill>
                  <a:schemeClr val="bg1"/>
                </a:solidFill>
              </a:rPr>
              <a:t>io_ctrl</a:t>
            </a:r>
            <a:r>
              <a:rPr lang="en-US" altLang="ko-KR" sz="1600" dirty="0">
                <a:solidFill>
                  <a:schemeClr val="bg1"/>
                </a:solidFill>
              </a:rPr>
              <a:t> == 0x5) {</a:t>
            </a:r>
          </a:p>
          <a:p>
            <a:pPr lvl="4"/>
            <a:r>
              <a:rPr lang="en-US" altLang="ko-KR" sz="1600" dirty="0" err="1">
                <a:solidFill>
                  <a:schemeClr val="bg1"/>
                </a:solidFill>
              </a:rPr>
              <a:t>pmod_mask</a:t>
            </a:r>
            <a:r>
              <a:rPr lang="en-US" altLang="ko-KR" sz="1600" dirty="0">
                <a:solidFill>
                  <a:schemeClr val="bg1"/>
                </a:solidFill>
              </a:rPr>
              <a:t> = ~(1 &lt;&lt; </a:t>
            </a:r>
            <a:r>
              <a:rPr lang="en-US" altLang="ko-KR" sz="1600" dirty="0" err="1">
                <a:solidFill>
                  <a:schemeClr val="bg1"/>
                </a:solidFill>
              </a:rPr>
              <a:t>io_num</a:t>
            </a:r>
            <a:r>
              <a:rPr lang="en-US" altLang="ko-KR" sz="1600" dirty="0">
                <a:solidFill>
                  <a:schemeClr val="bg1"/>
                </a:solidFill>
              </a:rPr>
              <a:t>);  // CLEAR</a:t>
            </a:r>
          </a:p>
          <a:p>
            <a:pPr lvl="1"/>
            <a:r>
              <a:rPr lang="en-US" altLang="ko-KR" sz="1600" dirty="0">
                <a:solidFill>
                  <a:schemeClr val="bg1"/>
                </a:solidFill>
              </a:rPr>
              <a:t>		} else if (</a:t>
            </a:r>
            <a:r>
              <a:rPr lang="en-US" altLang="ko-KR" sz="1600" dirty="0" err="1">
                <a:solidFill>
                  <a:schemeClr val="bg1"/>
                </a:solidFill>
              </a:rPr>
              <a:t>io_ctrl</a:t>
            </a:r>
            <a:r>
              <a:rPr lang="en-US" altLang="ko-KR" sz="1600" dirty="0">
                <a:solidFill>
                  <a:schemeClr val="bg1"/>
                </a:solidFill>
              </a:rPr>
              <a:t> == 0x1) {</a:t>
            </a:r>
          </a:p>
          <a:p>
            <a:pPr lvl="4"/>
            <a:r>
              <a:rPr lang="en-US" altLang="ko-KR" sz="1600" dirty="0" err="1">
                <a:solidFill>
                  <a:schemeClr val="bg1"/>
                </a:solidFill>
              </a:rPr>
              <a:t>pmod_mask</a:t>
            </a:r>
            <a:r>
              <a:rPr lang="en-US" altLang="ko-KR" sz="1600" dirty="0">
                <a:solidFill>
                  <a:schemeClr val="bg1"/>
                </a:solidFill>
              </a:rPr>
              <a:t> = </a:t>
            </a:r>
            <a:r>
              <a:rPr lang="en-US" altLang="ko-KR" sz="1600" dirty="0" err="1">
                <a:solidFill>
                  <a:schemeClr val="bg1"/>
                </a:solidFill>
              </a:rPr>
              <a:t>io_num</a:t>
            </a:r>
            <a:r>
              <a:rPr lang="en-US" altLang="ko-KR" sz="1600" dirty="0">
                <a:solidFill>
                  <a:schemeClr val="bg1"/>
                </a:solidFill>
              </a:rPr>
              <a:t>;               // WRITE</a:t>
            </a:r>
          </a:p>
          <a:p>
            <a:pPr lvl="3"/>
            <a:r>
              <a:rPr lang="en-US" altLang="ko-KR" sz="1600" dirty="0">
                <a:solidFill>
                  <a:schemeClr val="bg1"/>
                </a:solidFill>
              </a:rPr>
              <a:t>}</a:t>
            </a:r>
          </a:p>
          <a:p>
            <a:pPr lvl="3"/>
            <a:endParaRPr lang="en-US" altLang="ko-KR" sz="1600" dirty="0">
              <a:solidFill>
                <a:schemeClr val="bg1"/>
              </a:solidFill>
            </a:endParaRPr>
          </a:p>
          <a:p>
            <a:pPr lvl="3"/>
            <a:r>
              <a:rPr lang="en-US" altLang="ko-KR" sz="1600" dirty="0" err="1">
                <a:solidFill>
                  <a:schemeClr val="bg1"/>
                </a:solidFill>
              </a:rPr>
              <a:t>pmod</a:t>
            </a:r>
            <a:r>
              <a:rPr lang="en-US" altLang="ko-KR" sz="1600" dirty="0">
                <a:solidFill>
                  <a:schemeClr val="bg1"/>
                </a:solidFill>
              </a:rPr>
              <a:t> = </a:t>
            </a:r>
            <a:r>
              <a:rPr lang="en-US" altLang="ko-KR" sz="1600" dirty="0" err="1">
                <a:solidFill>
                  <a:schemeClr val="bg1"/>
                </a:solidFill>
              </a:rPr>
              <a:t>pmod_mask</a:t>
            </a:r>
            <a:r>
              <a:rPr lang="en-US" altLang="ko-KR" sz="1600" dirty="0">
                <a:solidFill>
                  <a:schemeClr val="bg1"/>
                </a:solidFill>
              </a:rPr>
              <a:t>;</a:t>
            </a:r>
          </a:p>
          <a:p>
            <a:pPr lvl="3"/>
            <a:r>
              <a:rPr lang="en-US" altLang="ko-KR" sz="1600" dirty="0">
                <a:solidFill>
                  <a:schemeClr val="bg1"/>
                </a:solidFill>
              </a:rPr>
              <a:t>return </a:t>
            </a:r>
            <a:r>
              <a:rPr lang="en-US" altLang="ko-KR" sz="1600" dirty="0" err="1">
                <a:solidFill>
                  <a:schemeClr val="bg1"/>
                </a:solidFill>
              </a:rPr>
              <a:t>pmod_mask</a:t>
            </a:r>
            <a:r>
              <a:rPr lang="en-US" altLang="ko-KR" sz="1600" dirty="0">
                <a:solidFill>
                  <a:schemeClr val="bg1"/>
                </a:solidFill>
              </a:rPr>
              <a:t>;</a:t>
            </a:r>
          </a:p>
          <a:p>
            <a:pPr lvl="2"/>
            <a:r>
              <a:rPr lang="en-US" altLang="ko-KR" sz="16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0860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52491206-DB0B-A5A9-B5E0-9C58E4F3B7A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8935EBE-DAC2-59E8-BF61-7889439D3556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DAA978-EDCF-1255-09D6-DFB3A3098C63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Vitis HLS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141A97-7B19-8C27-AAFB-4ADF58627768}"/>
              </a:ext>
            </a:extLst>
          </p:cNvPr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A20278A9-20DA-2CEF-2DAE-5CD194890C80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F854B3-0B0A-5EF2-3CB3-8E7552CE0B20}"/>
              </a:ext>
            </a:extLst>
          </p:cNvPr>
          <p:cNvSpPr txBox="1"/>
          <p:nvPr/>
        </p:nvSpPr>
        <p:spPr>
          <a:xfrm>
            <a:off x="457200" y="6492240"/>
            <a:ext cx="37465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4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Vitis HLS + PMOD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C/C++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에서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RTL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생성 및 커스텀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IP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개발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014305-C6BC-C001-A7CC-8B9B436C0D1F}"/>
              </a:ext>
            </a:extLst>
          </p:cNvPr>
          <p:cNvSpPr txBox="1"/>
          <p:nvPr/>
        </p:nvSpPr>
        <p:spPr>
          <a:xfrm>
            <a:off x="706443" y="1310650"/>
            <a:ext cx="6136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dirty="0"/>
              <a:t>2.1 C++</a:t>
            </a:r>
            <a:r>
              <a:rPr lang="ko-KR" altLang="en-US" dirty="0"/>
              <a:t>코드 동작 설명</a:t>
            </a:r>
            <a:endParaRPr lang="en-US" altLang="ko-KR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F8EA921-B6B4-D4F3-B9F0-6E2FED0E4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567687"/>
              </p:ext>
            </p:extLst>
          </p:nvPr>
        </p:nvGraphicFramePr>
        <p:xfrm>
          <a:off x="1803400" y="1838211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3092137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53435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Io_ctrl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동작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244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0xf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초기화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7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0xa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비트 </a:t>
                      </a:r>
                      <a:r>
                        <a:rPr lang="en-US" altLang="ko-KR" dirty="0"/>
                        <a:t>SET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84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0x5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비트 </a:t>
                      </a:r>
                      <a:r>
                        <a:rPr lang="en-US" altLang="ko-KR" dirty="0"/>
                        <a:t>CLEAR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0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0x1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직접 쓰기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217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0x0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읽기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53114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CA38591-8F6D-F624-2A5B-B882070CC827}"/>
              </a:ext>
            </a:extLst>
          </p:cNvPr>
          <p:cNvSpPr txBox="1"/>
          <p:nvPr/>
        </p:nvSpPr>
        <p:spPr>
          <a:xfrm>
            <a:off x="858843" y="4434850"/>
            <a:ext cx="6136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3: C Synthesis</a:t>
            </a:r>
          </a:p>
          <a:p>
            <a:pPr lvl="1"/>
            <a:r>
              <a:rPr lang="en-US" altLang="ko-KR" b="1" dirty="0"/>
              <a:t>Run C </a:t>
            </a:r>
            <a:r>
              <a:rPr lang="en-US" altLang="ko-KR" b="1" dirty="0" err="1"/>
              <a:t>Syntheis</a:t>
            </a:r>
            <a:r>
              <a:rPr lang="en-US" altLang="ko-KR" b="1" dirty="0"/>
              <a:t> </a:t>
            </a:r>
            <a:r>
              <a:rPr lang="ko-KR" altLang="en-US" dirty="0"/>
              <a:t>버튼 클릭 후 리포트 확인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30992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BE77CD0-47DC-CA84-0F30-25F2428C04DD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8BDBCC6-28FC-73AA-BBA2-60A45536BC73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3156D8-B71F-01C4-2CE5-B14E38869B39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Vitis HLS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D37680-E404-4227-6016-D3CC4210531C}"/>
              </a:ext>
            </a:extLst>
          </p:cNvPr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8BDECB84-E077-2391-1CF9-1DECAB211EA4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8E1B44-FEC5-1A18-633A-84428A52FB9A}"/>
              </a:ext>
            </a:extLst>
          </p:cNvPr>
          <p:cNvSpPr txBox="1"/>
          <p:nvPr/>
        </p:nvSpPr>
        <p:spPr>
          <a:xfrm>
            <a:off x="457200" y="6492240"/>
            <a:ext cx="37465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4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Vitis HLS + PMOD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C/C++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에서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RTL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생성 및 커스텀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IP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개발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824200-6AEE-2976-3775-B0A450BA0FA7}"/>
              </a:ext>
            </a:extLst>
          </p:cNvPr>
          <p:cNvSpPr txBox="1"/>
          <p:nvPr/>
        </p:nvSpPr>
        <p:spPr>
          <a:xfrm>
            <a:off x="762590" y="1310650"/>
            <a:ext cx="61361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4: RTL Export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 </a:t>
            </a:r>
            <a:r>
              <a:rPr lang="en-US" altLang="ko-KR" b="1" dirty="0"/>
              <a:t>Export RTL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 </a:t>
            </a:r>
            <a:r>
              <a:rPr lang="en-US" altLang="ko-KR" b="1" dirty="0"/>
              <a:t>Format</a:t>
            </a:r>
            <a:r>
              <a:rPr lang="en-US" altLang="ko-KR" dirty="0"/>
              <a:t>: IP Catalog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export.zip </a:t>
            </a:r>
            <a:r>
              <a:rPr lang="ko-KR" altLang="en-US" dirty="0"/>
              <a:t>생성 확인</a:t>
            </a:r>
            <a:endParaRPr lang="en-US" altLang="ko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5D8DAF-DE23-8710-3656-1B04B2E301B7}"/>
              </a:ext>
            </a:extLst>
          </p:cNvPr>
          <p:cNvSpPr txBox="1"/>
          <p:nvPr/>
        </p:nvSpPr>
        <p:spPr>
          <a:xfrm>
            <a:off x="762590" y="2875870"/>
            <a:ext cx="61361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5: </a:t>
            </a:r>
            <a:r>
              <a:rPr lang="en-US" altLang="ko-KR" b="1" dirty="0" err="1">
                <a:solidFill>
                  <a:srgbClr val="00B050"/>
                </a:solidFill>
              </a:rPr>
              <a:t>Vivado</a:t>
            </a:r>
            <a:r>
              <a:rPr lang="ko-KR" altLang="en-US" b="1" dirty="0">
                <a:solidFill>
                  <a:srgbClr val="00B050"/>
                </a:solidFill>
              </a:rPr>
              <a:t>에서 프로젝트 생성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en-US" altLang="ko-KR" dirty="0"/>
              <a:t>source /tools/Xilinx/Vivado/2021.2/settings64.sh</a:t>
            </a:r>
          </a:p>
          <a:p>
            <a:pPr lvl="1"/>
            <a:r>
              <a:rPr lang="en-US" altLang="ko-KR" dirty="0" err="1"/>
              <a:t>vivado</a:t>
            </a:r>
            <a:r>
              <a:rPr lang="en-US" altLang="ko-KR" dirty="0"/>
              <a:t> &amp;</a:t>
            </a:r>
          </a:p>
          <a:p>
            <a:pPr lvl="1"/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Create Project: RTL Project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Name: kv260_pmod_demo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Board: Kria KV260 Vision AI Starter Kit</a:t>
            </a:r>
          </a:p>
        </p:txBody>
      </p:sp>
    </p:spTree>
    <p:extLst>
      <p:ext uri="{BB962C8B-B14F-4D97-AF65-F5344CB8AC3E}">
        <p14:creationId xmlns:p14="http://schemas.microsoft.com/office/powerpoint/2010/main" val="1115715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887588B-6BCF-9F20-F788-FAD66AF99DBB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A95236D-DCEA-2298-F833-38AFF6FCBFAC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223491-2312-FA10-47B4-C2D2A115DC36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Vitis HLS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180A2-05A7-113C-3087-FB6D893DE54A}"/>
              </a:ext>
            </a:extLst>
          </p:cNvPr>
          <p:cNvSpPr txBox="1"/>
          <p:nvPr/>
        </p:nvSpPr>
        <p:spPr>
          <a:xfrm>
            <a:off x="762590" y="1310650"/>
            <a:ext cx="6136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6: IP Repository </a:t>
            </a:r>
            <a:r>
              <a:rPr lang="ko-KR" altLang="en-US" b="1" dirty="0">
                <a:solidFill>
                  <a:srgbClr val="00B050"/>
                </a:solidFill>
              </a:rPr>
              <a:t>추가</a:t>
            </a:r>
            <a:endParaRPr lang="en-US" altLang="ko-KR" b="1" dirty="0">
              <a:solidFill>
                <a:srgbClr val="00B050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 </a:t>
            </a:r>
            <a:r>
              <a:rPr lang="en-US" altLang="ko-KR" b="1" dirty="0"/>
              <a:t>Setting </a:t>
            </a:r>
            <a:r>
              <a:rPr lang="en-US" altLang="ko-KR" b="1" dirty="0">
                <a:sym typeface="Wingdings" panose="05000000000000000000" pitchFamily="2" charset="2"/>
              </a:rPr>
              <a:t> IP  Repository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 err="1"/>
              <a:t>Pmod_io_ip</a:t>
            </a:r>
            <a:r>
              <a:rPr lang="en-US" altLang="ko-KR" dirty="0"/>
              <a:t>/export.zip </a:t>
            </a:r>
            <a:r>
              <a:rPr lang="ko-KR" altLang="en-US" dirty="0"/>
              <a:t>추가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821488-2390-DC6A-3966-0F0981738ECF}"/>
              </a:ext>
            </a:extLst>
          </p:cNvPr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B849A106-5CFF-D124-CA3D-749C8EA6D736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9C4CD3-4235-39D7-2E81-A4EE489C1D98}"/>
              </a:ext>
            </a:extLst>
          </p:cNvPr>
          <p:cNvSpPr txBox="1"/>
          <p:nvPr/>
        </p:nvSpPr>
        <p:spPr>
          <a:xfrm>
            <a:off x="457200" y="6492240"/>
            <a:ext cx="37465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4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Vitis HLS + PMOD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C/C++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에서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RTL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생성 및 커스텀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IP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개발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6D165B-AD75-5063-F0DF-1BB7D3070BD1}"/>
              </a:ext>
            </a:extLst>
          </p:cNvPr>
          <p:cNvSpPr txBox="1"/>
          <p:nvPr/>
        </p:nvSpPr>
        <p:spPr>
          <a:xfrm>
            <a:off x="762590" y="2471579"/>
            <a:ext cx="6136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7: Block Diagram </a:t>
            </a:r>
            <a:r>
              <a:rPr lang="ko-KR" altLang="en-US" b="1" dirty="0">
                <a:solidFill>
                  <a:srgbClr val="00B050"/>
                </a:solidFill>
              </a:rPr>
              <a:t>구성</a:t>
            </a:r>
            <a:endParaRPr lang="en-US" altLang="ko-KR" b="1" dirty="0">
              <a:solidFill>
                <a:srgbClr val="00B050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 </a:t>
            </a:r>
            <a:r>
              <a:rPr lang="en-US" altLang="ko-KR" b="1" dirty="0" err="1"/>
              <a:t>pmod_io</a:t>
            </a:r>
            <a:r>
              <a:rPr lang="ko-KR" altLang="en-US" b="1" dirty="0"/>
              <a:t> </a:t>
            </a:r>
            <a:r>
              <a:rPr lang="en-US" altLang="ko-KR" b="1" dirty="0"/>
              <a:t>IP</a:t>
            </a:r>
            <a:r>
              <a:rPr lang="ko-KR" altLang="en-US" dirty="0"/>
              <a:t> 추가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 </a:t>
            </a:r>
            <a:r>
              <a:rPr lang="en-US" altLang="ko-KR" b="1" dirty="0" err="1"/>
              <a:t>axi_gpio</a:t>
            </a:r>
            <a:r>
              <a:rPr lang="en-US" altLang="ko-KR" b="1" dirty="0"/>
              <a:t>  </a:t>
            </a:r>
            <a:r>
              <a:rPr lang="ko-KR" altLang="en-US" dirty="0"/>
              <a:t>추가</a:t>
            </a:r>
            <a:r>
              <a:rPr lang="en-US" altLang="ko-KR" dirty="0"/>
              <a:t> (GPIO Width: 4)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 </a:t>
            </a:r>
            <a:r>
              <a:rPr lang="en-US" altLang="ko-KR" b="1" dirty="0"/>
              <a:t>slice</a:t>
            </a:r>
            <a:r>
              <a:rPr lang="en-US" altLang="ko-KR" dirty="0"/>
              <a:t> IP </a:t>
            </a:r>
            <a:r>
              <a:rPr lang="ko-KR" altLang="en-US" dirty="0"/>
              <a:t>추가 </a:t>
            </a:r>
            <a:r>
              <a:rPr lang="en-US" altLang="ko-KR" dirty="0"/>
              <a:t>(16bit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8bit)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b="1" dirty="0">
                <a:sym typeface="Wingdings" panose="05000000000000000000" pitchFamily="2" charset="2"/>
              </a:rPr>
              <a:t>Run Connection Automation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789961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7114CD9-0E7B-2D69-1B88-1C28C391B5D1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1CE0A68-1B50-A7DF-84B9-38543AC5A7CE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1039FA-86FF-1FCD-7B15-AA96D31B7562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Vitis HLS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AF758F-AB13-1C45-2CB4-550EB7D87F81}"/>
              </a:ext>
            </a:extLst>
          </p:cNvPr>
          <p:cNvSpPr txBox="1"/>
          <p:nvPr/>
        </p:nvSpPr>
        <p:spPr>
          <a:xfrm>
            <a:off x="762590" y="1310650"/>
            <a:ext cx="6136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8: Pin Constraints (XDC)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8D9F5-92F6-BD2A-01F7-B7AB88690829}"/>
              </a:ext>
            </a:extLst>
          </p:cNvPr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146883D5-7F6B-92E8-6DD3-41C18BF808CB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BEE21A-7DF4-C35F-0CF0-480D62F04BDE}"/>
              </a:ext>
            </a:extLst>
          </p:cNvPr>
          <p:cNvSpPr txBox="1"/>
          <p:nvPr/>
        </p:nvSpPr>
        <p:spPr>
          <a:xfrm>
            <a:off x="457200" y="6492240"/>
            <a:ext cx="37465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4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Vitis HLS + PMOD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C/C++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에서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RTL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생성 및 커스텀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IP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개발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5E3E68-63C8-65E6-35BC-DC00ED4650ED}"/>
              </a:ext>
            </a:extLst>
          </p:cNvPr>
          <p:cNvSpPr txBox="1"/>
          <p:nvPr/>
        </p:nvSpPr>
        <p:spPr>
          <a:xfrm>
            <a:off x="762590" y="4468711"/>
            <a:ext cx="6136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9: Block Diagram </a:t>
            </a:r>
            <a:r>
              <a:rPr lang="ko-KR" altLang="en-US" b="1" dirty="0">
                <a:solidFill>
                  <a:srgbClr val="00B050"/>
                </a:solidFill>
              </a:rPr>
              <a:t>구성</a:t>
            </a:r>
            <a:endParaRPr lang="en-US" altLang="ko-KR" b="1" dirty="0">
              <a:solidFill>
                <a:srgbClr val="00B050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 </a:t>
            </a:r>
            <a:r>
              <a:rPr lang="en-US" altLang="ko-KR" b="1" dirty="0" err="1"/>
              <a:t>pmod_io</a:t>
            </a:r>
            <a:r>
              <a:rPr lang="ko-KR" altLang="en-US" b="1" dirty="0"/>
              <a:t> </a:t>
            </a:r>
            <a:r>
              <a:rPr lang="en-US" altLang="ko-KR" b="1" dirty="0"/>
              <a:t>IP</a:t>
            </a:r>
            <a:r>
              <a:rPr lang="ko-KR" altLang="en-US" dirty="0"/>
              <a:t> 추가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 </a:t>
            </a:r>
            <a:r>
              <a:rPr lang="en-US" altLang="ko-KR" b="1" dirty="0" err="1"/>
              <a:t>axi_gpio</a:t>
            </a:r>
            <a:r>
              <a:rPr lang="en-US" altLang="ko-KR" b="1" dirty="0"/>
              <a:t>  </a:t>
            </a:r>
            <a:r>
              <a:rPr lang="ko-KR" altLang="en-US" dirty="0"/>
              <a:t>추가</a:t>
            </a:r>
            <a:r>
              <a:rPr lang="en-US" altLang="ko-KR" dirty="0"/>
              <a:t> (GPIO Width: 4)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 </a:t>
            </a:r>
            <a:r>
              <a:rPr lang="en-US" altLang="ko-KR" b="1" dirty="0"/>
              <a:t>slice</a:t>
            </a:r>
            <a:r>
              <a:rPr lang="en-US" altLang="ko-KR" dirty="0"/>
              <a:t> IP </a:t>
            </a:r>
            <a:r>
              <a:rPr lang="ko-KR" altLang="en-US" dirty="0"/>
              <a:t>추가 </a:t>
            </a:r>
            <a:r>
              <a:rPr lang="en-US" altLang="ko-KR" dirty="0"/>
              <a:t>(16bit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8bit)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b="1" dirty="0">
                <a:sym typeface="Wingdings" panose="05000000000000000000" pitchFamily="2" charset="2"/>
              </a:rPr>
              <a:t>Run Connection Automation</a:t>
            </a:r>
            <a:endParaRPr lang="en-US" altLang="ko-KR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18558B-BA9F-54F5-2337-00CC9B2FD4B4}"/>
              </a:ext>
            </a:extLst>
          </p:cNvPr>
          <p:cNvSpPr txBox="1"/>
          <p:nvPr/>
        </p:nvSpPr>
        <p:spPr>
          <a:xfrm>
            <a:off x="1017612" y="1597761"/>
            <a:ext cx="69564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# PMOD J1</a:t>
            </a:r>
          </a:p>
          <a:p>
            <a:r>
              <a:rPr lang="en-US" altLang="ko-KR" dirty="0" err="1"/>
              <a:t>set_property</a:t>
            </a:r>
            <a:r>
              <a:rPr lang="en-US" altLang="ko-KR" dirty="0"/>
              <a:t> PACKAGE_PIN H12 [</a:t>
            </a:r>
            <a:r>
              <a:rPr lang="en-US" altLang="ko-KR" dirty="0" err="1"/>
              <a:t>get_ports</a:t>
            </a:r>
            <a:r>
              <a:rPr lang="en-US" altLang="ko-KR" dirty="0"/>
              <a:t> </a:t>
            </a:r>
            <a:r>
              <a:rPr lang="en-US" altLang="ko-KR" dirty="0" err="1"/>
              <a:t>pmod</a:t>
            </a:r>
            <a:r>
              <a:rPr lang="en-US" altLang="ko-KR" dirty="0"/>
              <a:t>[0]]</a:t>
            </a:r>
          </a:p>
          <a:p>
            <a:r>
              <a:rPr lang="en-US" altLang="ko-KR" dirty="0" err="1"/>
              <a:t>set_property</a:t>
            </a:r>
            <a:r>
              <a:rPr lang="en-US" altLang="ko-KR" dirty="0"/>
              <a:t> PACKAGE_PIN E10 [</a:t>
            </a:r>
            <a:r>
              <a:rPr lang="en-US" altLang="ko-KR" dirty="0" err="1"/>
              <a:t>get_ports</a:t>
            </a:r>
            <a:r>
              <a:rPr lang="en-US" altLang="ko-KR" dirty="0"/>
              <a:t> </a:t>
            </a:r>
            <a:r>
              <a:rPr lang="en-US" altLang="ko-KR" dirty="0" err="1"/>
              <a:t>pmod</a:t>
            </a:r>
            <a:r>
              <a:rPr lang="en-US" altLang="ko-KR" dirty="0"/>
              <a:t>[1]]</a:t>
            </a:r>
          </a:p>
          <a:p>
            <a:r>
              <a:rPr lang="en-US" altLang="ko-KR" dirty="0" err="1"/>
              <a:t>set_property</a:t>
            </a:r>
            <a:r>
              <a:rPr lang="en-US" altLang="ko-KR" dirty="0"/>
              <a:t> PACKAGE_PIN D10 [</a:t>
            </a:r>
            <a:r>
              <a:rPr lang="en-US" altLang="ko-KR" dirty="0" err="1"/>
              <a:t>get_ports</a:t>
            </a:r>
            <a:r>
              <a:rPr lang="en-US" altLang="ko-KR" dirty="0"/>
              <a:t> </a:t>
            </a:r>
            <a:r>
              <a:rPr lang="en-US" altLang="ko-KR" dirty="0" err="1"/>
              <a:t>pmod</a:t>
            </a:r>
            <a:r>
              <a:rPr lang="en-US" altLang="ko-KR" dirty="0"/>
              <a:t>[2]]</a:t>
            </a:r>
          </a:p>
          <a:p>
            <a:r>
              <a:rPr lang="en-US" altLang="ko-KR" dirty="0" err="1"/>
              <a:t>set_property</a:t>
            </a:r>
            <a:r>
              <a:rPr lang="en-US" altLang="ko-KR" dirty="0"/>
              <a:t> PACKAGE_PIN C11 [</a:t>
            </a:r>
            <a:r>
              <a:rPr lang="en-US" altLang="ko-KR" dirty="0" err="1"/>
              <a:t>get_ports</a:t>
            </a:r>
            <a:r>
              <a:rPr lang="en-US" altLang="ko-KR" dirty="0"/>
              <a:t> </a:t>
            </a:r>
            <a:r>
              <a:rPr lang="en-US" altLang="ko-KR" dirty="0" err="1"/>
              <a:t>pmod</a:t>
            </a:r>
            <a:r>
              <a:rPr lang="en-US" altLang="ko-KR" dirty="0"/>
              <a:t>[3]]</a:t>
            </a:r>
          </a:p>
          <a:p>
            <a:endParaRPr lang="en-US" altLang="ko-KR" dirty="0"/>
          </a:p>
          <a:p>
            <a:r>
              <a:rPr lang="en-US" altLang="ko-KR" dirty="0" err="1"/>
              <a:t>set_property</a:t>
            </a:r>
            <a:r>
              <a:rPr lang="en-US" altLang="ko-KR" dirty="0"/>
              <a:t> IOSTANDARD LVCMOS33 [</a:t>
            </a:r>
            <a:r>
              <a:rPr lang="en-US" altLang="ko-KR" dirty="0" err="1"/>
              <a:t>get_ports</a:t>
            </a:r>
            <a:r>
              <a:rPr lang="en-US" altLang="ko-KR" dirty="0"/>
              <a:t> </a:t>
            </a:r>
            <a:r>
              <a:rPr lang="en-US" altLang="ko-KR" dirty="0" err="1"/>
              <a:t>pmod</a:t>
            </a:r>
            <a:r>
              <a:rPr lang="en-US" altLang="ko-KR" dirty="0"/>
              <a:t>[*]]</a:t>
            </a:r>
          </a:p>
          <a:p>
            <a:r>
              <a:rPr lang="en-US" altLang="ko-KR" dirty="0" err="1"/>
              <a:t>set_property</a:t>
            </a:r>
            <a:r>
              <a:rPr lang="en-US" altLang="ko-KR" dirty="0"/>
              <a:t> SLEW SLOW [</a:t>
            </a:r>
            <a:r>
              <a:rPr lang="en-US" altLang="ko-KR" dirty="0" err="1"/>
              <a:t>get_ports</a:t>
            </a:r>
            <a:r>
              <a:rPr lang="en-US" altLang="ko-KR" dirty="0"/>
              <a:t> </a:t>
            </a:r>
            <a:r>
              <a:rPr lang="en-US" altLang="ko-KR" dirty="0" err="1"/>
              <a:t>pmod</a:t>
            </a:r>
            <a:r>
              <a:rPr lang="en-US" altLang="ko-KR" dirty="0"/>
              <a:t>[*]]</a:t>
            </a:r>
          </a:p>
          <a:p>
            <a:r>
              <a:rPr lang="en-US" altLang="ko-KR" dirty="0" err="1"/>
              <a:t>set_property</a:t>
            </a:r>
            <a:r>
              <a:rPr lang="en-US" altLang="ko-KR" dirty="0"/>
              <a:t> DRIVE 4 [</a:t>
            </a:r>
            <a:r>
              <a:rPr lang="en-US" altLang="ko-KR" dirty="0" err="1"/>
              <a:t>get_ports</a:t>
            </a:r>
            <a:r>
              <a:rPr lang="en-US" altLang="ko-KR" dirty="0"/>
              <a:t> </a:t>
            </a:r>
            <a:r>
              <a:rPr lang="en-US" altLang="ko-KR" dirty="0" err="1"/>
              <a:t>pmod</a:t>
            </a:r>
            <a:r>
              <a:rPr lang="en-US" altLang="ko-KR" dirty="0"/>
              <a:t>[*]]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6675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47F0A8C-396C-4D71-083D-4C95DA3E66F6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8C0B2A1-E5B5-A9FB-4F72-81E6E548E43A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55D495-7C57-EA71-3E06-9640B23959AB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Vitis HLS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E7C20E-962B-26BB-870A-237CFBF607DE}"/>
              </a:ext>
            </a:extLst>
          </p:cNvPr>
          <p:cNvSpPr txBox="1"/>
          <p:nvPr/>
        </p:nvSpPr>
        <p:spPr>
          <a:xfrm>
            <a:off x="762590" y="1310650"/>
            <a:ext cx="6136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8: Pin Constraints (XDC)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7D33EC-7348-7D7A-81A3-EC56863B959E}"/>
              </a:ext>
            </a:extLst>
          </p:cNvPr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FB85028A-29FB-EF99-CC3C-5E4FDCA26F85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DE1ACE-E0B8-DB8F-A0D9-CE2ADE4F86AA}"/>
              </a:ext>
            </a:extLst>
          </p:cNvPr>
          <p:cNvSpPr txBox="1"/>
          <p:nvPr/>
        </p:nvSpPr>
        <p:spPr>
          <a:xfrm>
            <a:off x="457200" y="6492240"/>
            <a:ext cx="37465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4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Vitis HLS + PMOD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C/C++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에서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RTL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생성 및 커스텀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IP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개발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B1EC6F-3758-6676-F7CF-C2E10A1A81FA}"/>
              </a:ext>
            </a:extLst>
          </p:cNvPr>
          <p:cNvSpPr txBox="1"/>
          <p:nvPr/>
        </p:nvSpPr>
        <p:spPr>
          <a:xfrm>
            <a:off x="1017612" y="1597761"/>
            <a:ext cx="6956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Reference to .md file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9304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1895</TotalTime>
  <Words>852</Words>
  <Application>Microsoft Office PowerPoint</Application>
  <PresentationFormat>와이드스크린</PresentationFormat>
  <Paragraphs>133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JAEUK NAM</cp:lastModifiedBy>
  <cp:revision>9</cp:revision>
  <dcterms:created xsi:type="dcterms:W3CDTF">2013-01-27T09:14:16Z</dcterms:created>
  <dcterms:modified xsi:type="dcterms:W3CDTF">2026-04-07T06:17:30Z</dcterms:modified>
  <cp:category/>
</cp:coreProperties>
</file>